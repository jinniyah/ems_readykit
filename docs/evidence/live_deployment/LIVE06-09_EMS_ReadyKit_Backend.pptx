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8" r:id="rId5"/>
    <p:sldId id="260" r:id="rId6"/>
    <p:sldId id="269" r:id="rId7"/>
    <p:sldId id="261" r:id="rId8"/>
    <p:sldId id="270" r:id="rId9"/>
    <p:sldId id="262" r:id="rId10"/>
    <p:sldId id="271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14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196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D15BC-5792-C9B0-E9DA-F31CC421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57D83-2BCD-F4BC-8031-45B9820D8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79C51-A808-2417-5544-840FEC468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892EB-3850-ABE6-F0BB-E7560B13A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576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97B1C-C6EB-4D05-4DE0-EF2F3A779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B6B41-9987-3011-1E2C-7EA6A3B60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8AFAA-11AA-FB66-2E5E-529E5D756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F9321-1B36-F0AD-2CC5-CFCCFCFE76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867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3EB87-0B57-3A79-EC8B-3702237E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254FC-7C06-3045-0005-D6BA7D393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59165-A637-85F1-5772-C9D18E6F3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7F07-A004-8900-18D5-E66DF2AD5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6863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EE463-ED9D-FADA-69B0-9C0682FF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0EA1E-BA40-7973-D59C-EFE615AAA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3C391-F190-8176-32E2-04885DF1E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BEB34-FE3B-408D-21BC-870C9D2B3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2870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svg"/><Relationship Id="rId18" Type="http://schemas.openxmlformats.org/officeDocument/2006/relationships/image" Target="../media/image3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17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000500" cy="5143500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320105"/>
            <a:ext cx="352044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TECHNICAL EVIDENCE</a:t>
            </a:r>
            <a:endParaRPr lang="en-US" sz="730" dirty="0"/>
          </a:p>
        </p:txBody>
      </p:sp>
      <p:sp>
        <p:nvSpPr>
          <p:cNvPr id="4" name="Text 2"/>
          <p:cNvSpPr/>
          <p:nvPr/>
        </p:nvSpPr>
        <p:spPr>
          <a:xfrm>
            <a:off x="400050" y="1602581"/>
            <a:ext cx="3264408" cy="1141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80"/>
              </a:lnSpc>
              <a:spcAft>
                <a:spcPts val="340"/>
              </a:spcAft>
              <a:buNone/>
            </a:pPr>
            <a:r>
              <a:rPr lang="en-US" sz="4280" kern="0" spc="-6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EMS</a:t>
            </a:r>
            <a:br/>
            <a:r>
              <a:rPr lang="en-US" sz="4280" b="1" kern="0" spc="-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ReadyKit</a:t>
            </a:r>
            <a:endParaRPr lang="en-US" sz="4280" dirty="0"/>
          </a:p>
        </p:txBody>
      </p:sp>
      <p:sp>
        <p:nvSpPr>
          <p:cNvPr id="5" name="Text 3"/>
          <p:cNvSpPr/>
          <p:nvPr/>
        </p:nvSpPr>
        <p:spPr>
          <a:xfrm>
            <a:off x="400050" y="2833092"/>
            <a:ext cx="2769525" cy="39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8"/>
              </a:lnSpc>
              <a:spcBef>
                <a:spcPts val="790"/>
              </a:spcBef>
              <a:spcAft>
                <a:spcPts val="1580"/>
              </a:spcAft>
              <a:buNone/>
            </a:pPr>
            <a:r>
              <a:rPr lang="en-US" sz="1070" dirty="0">
                <a:solidFill>
                  <a:srgbClr val="FFFFFF">
                    <a:alpha val="8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Engineering &amp; Deployment Evidence</a:t>
            </a:r>
            <a:endParaRPr lang="en-US" sz="1070" dirty="0"/>
          </a:p>
        </p:txBody>
      </p:sp>
      <p:sp>
        <p:nvSpPr>
          <p:cNvPr id="6" name="Text 4"/>
          <p:cNvSpPr/>
          <p:nvPr/>
        </p:nvSpPr>
        <p:spPr>
          <a:xfrm>
            <a:off x="532358" y="3581102"/>
            <a:ext cx="605093" cy="254407"/>
          </a:xfrm>
          <a:prstGeom prst="rect">
            <a:avLst/>
          </a:prstGeom>
          <a:noFill/>
          <a:ln/>
        </p:spPr>
        <p:txBody>
          <a:bodyPr wrap="square" lIns="0" tIns="35560" rIns="100330" bIns="3556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3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79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335" y="3635880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7635" y="3581102"/>
            <a:ext cx="489267" cy="254407"/>
          </a:xfrm>
          <a:prstGeom prst="rect">
            <a:avLst/>
          </a:prstGeom>
          <a:noFill/>
          <a:ln/>
        </p:spPr>
        <p:txBody>
          <a:bodyPr wrap="square" lIns="0" tIns="35560" rIns="100330" bIns="3556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3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79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6612" y="3635880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69356" y="3591520"/>
            <a:ext cx="642238" cy="221307"/>
          </a:xfrm>
          <a:prstGeom prst="rect">
            <a:avLst/>
          </a:prstGeom>
          <a:noFill/>
          <a:ln/>
        </p:spPr>
        <p:txBody>
          <a:bodyPr wrap="none" lIns="0" tIns="35560" rIns="100330" bIns="3556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3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9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08333" y="3635880"/>
            <a:ext cx="132588" cy="132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0" y="5108079"/>
            <a:ext cx="4000500" cy="35421"/>
          </a:xfrm>
          <a:prstGeom prst="rect">
            <a:avLst/>
          </a:prstGeom>
          <a:solidFill>
            <a:srgbClr val="A5151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000500" y="0"/>
            <a:ext cx="5143500" cy="51435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000500" y="0"/>
            <a:ext cx="5143500" cy="5143500"/>
          </a:xfrm>
          <a:prstGeom prst="rect">
            <a:avLst/>
          </a:prstGeom>
          <a:gradFill rotWithShape="1">
            <a:gsLst>
              <a:gs pos="0">
                <a:srgbClr val="CC1B1B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000500" y="0"/>
            <a:ext cx="5143500" cy="5143500"/>
          </a:xfrm>
          <a:prstGeom prst="rect">
            <a:avLst/>
          </a:prstGeom>
          <a:gradFill rotWithShape="1">
            <a:gsLst>
              <a:gs pos="0">
                <a:srgbClr val="CC1B1B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2286000" y="0"/>
            <a:ext cx="2286000" cy="1714500"/>
          </a:xfrm>
          <a:prstGeom prst="ellips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0" y="3858216"/>
            <a:ext cx="1285240" cy="1285284"/>
          </a:xfrm>
          <a:prstGeom prst="ellipse">
            <a:avLst/>
          </a:prstGeom>
          <a:noFill/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Picture 22" descr="EMS Star of Life symbol. Six-pointed star (asterisk/cross shape with 6 bars) in deep red color #CC1B1B with a crisp white outline/stroke. In the center of the star, a white Rod of Asclepius (a single serpent coiled around a staff). The background is light grey #F0F0F0. The star has a subtle drop shadow. Clean, sharp, professional vector-style graphic. No text. Centered composition with generous padding around the symbol.">
            <a:extLst>
              <a:ext uri="{FF2B5EF4-FFF2-40B4-BE49-F238E27FC236}">
                <a16:creationId xmlns:a16="http://schemas.microsoft.com/office/drawing/2014/main" id="{D8EB35A4-0106-17E2-0281-03AF42D34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194" y="742694"/>
            <a:ext cx="3658111" cy="36581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2" name="Text 16"/>
          <p:cNvSpPr/>
          <p:nvPr/>
        </p:nvSpPr>
        <p:spPr>
          <a:xfrm>
            <a:off x="5848295" y="3770769"/>
            <a:ext cx="203050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70" dirty="0">
                <a:solidFill>
                  <a:srgbClr val="CC1B1B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 ARCHITECTURE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C1B1B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8882" y="36909"/>
            <a:ext cx="9144000" cy="5143500"/>
          </a:xfrm>
          <a:prstGeom prst="rect">
            <a:avLst/>
          </a:prstGeom>
          <a:gradFill rotWithShape="1">
            <a:gsLst>
              <a:gs pos="0">
                <a:srgbClr val="CC1B1B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CC1B1B"/>
              </a:gs>
              <a:gs pos="100000">
                <a:srgbClr val="8B0000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02556"/>
            <a:ext cx="1161307" cy="7590"/>
          </a:xfrm>
          <a:prstGeom prst="rect">
            <a:avLst/>
          </a:prstGeom>
          <a:gradFill rotWithShape="1">
            <a:gsLst>
              <a:gs pos="0">
                <a:srgbClr val="CC1B1B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78359" y="3516811"/>
            <a:ext cx="571500" cy="571500"/>
          </a:xfrm>
          <a:prstGeom prst="ellipse">
            <a:avLst/>
          </a:prstGeom>
          <a:gradFill rotWithShape="1">
            <a:gsLst>
              <a:gs pos="0">
                <a:srgbClr val="CC1B1B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93330" y="1402556"/>
            <a:ext cx="1161307" cy="7590"/>
          </a:xfrm>
          <a:prstGeom prst="rect">
            <a:avLst/>
          </a:prstGeom>
          <a:gradFill rotWithShape="1">
            <a:gsLst>
              <a:gs pos="0">
                <a:srgbClr val="CC1B1B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57339" y="3516811"/>
            <a:ext cx="571500" cy="571500"/>
          </a:xfrm>
          <a:prstGeom prst="ellipse">
            <a:avLst/>
          </a:prstGeom>
          <a:gradFill rotWithShape="1">
            <a:gsLst>
              <a:gs pos="0">
                <a:srgbClr val="CC1B1B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72310" y="1402556"/>
            <a:ext cx="1161307" cy="7590"/>
          </a:xfrm>
          <a:prstGeom prst="rect">
            <a:avLst/>
          </a:prstGeom>
          <a:gradFill rotWithShape="1">
            <a:gsLst>
              <a:gs pos="0">
                <a:srgbClr val="CC1B1B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36319" y="3516811"/>
            <a:ext cx="571500" cy="571500"/>
          </a:xfrm>
          <a:prstGeom prst="ellipse">
            <a:avLst/>
          </a:prstGeom>
          <a:gradFill rotWithShape="1">
            <a:gsLst>
              <a:gs pos="0">
                <a:srgbClr val="CC1B1B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51290" y="1402556"/>
            <a:ext cx="1161307" cy="7590"/>
          </a:xfrm>
          <a:prstGeom prst="rect">
            <a:avLst/>
          </a:prstGeom>
          <a:gradFill rotWithShape="1">
            <a:gsLst>
              <a:gs pos="0">
                <a:srgbClr val="CC1B1B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15299" y="3516811"/>
            <a:ext cx="571500" cy="571500"/>
          </a:xfrm>
          <a:prstGeom prst="ellipse">
            <a:avLst/>
          </a:prstGeom>
          <a:gradFill rotWithShape="1">
            <a:gsLst>
              <a:gs pos="0">
                <a:srgbClr val="CC1B1B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511076"/>
            <a:ext cx="874452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340"/>
              </a:spcAft>
              <a:buNone/>
            </a:pPr>
            <a:r>
              <a:rPr lang="en-US" sz="2360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</a:t>
            </a:r>
            <a:r>
              <a:rPr lang="en-US" sz="236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</a:t>
            </a:r>
            <a:r>
              <a:rPr lang="en-US" sz="2360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Overview</a:t>
            </a:r>
            <a:endParaRPr lang="en-US" sz="2360" dirty="0"/>
          </a:p>
        </p:txBody>
      </p:sp>
      <p:sp>
        <p:nvSpPr>
          <p:cNvPr id="15" name="Text 13"/>
          <p:cNvSpPr/>
          <p:nvPr/>
        </p:nvSpPr>
        <p:spPr>
          <a:xfrm>
            <a:off x="514350" y="883890"/>
            <a:ext cx="898969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Azure services powering EMS ReadyKit in production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514350" y="1204466"/>
            <a:ext cx="8172450" cy="7590"/>
          </a:xfrm>
          <a:prstGeom prst="rect">
            <a:avLst/>
          </a:prstGeom>
          <a:gradFill rotWithShape="1">
            <a:gsLst>
              <a:gs pos="0">
                <a:srgbClr val="CC1B1B"/>
              </a:gs>
              <a:gs pos="60000">
                <a:srgbClr val="FFFFFF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50" y="1383506"/>
            <a:ext cx="1935510" cy="2704802"/>
          </a:xfrm>
          <a:prstGeom prst="roundRect">
            <a:avLst>
              <a:gd name="adj" fmla="val 3674"/>
            </a:avLst>
          </a:prstGeom>
          <a:solidFill>
            <a:srgbClr val="2A2A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14350" y="1383506"/>
            <a:ext cx="1935510" cy="19050"/>
          </a:xfrm>
          <a:custGeom>
            <a:avLst/>
            <a:gdLst/>
            <a:ahLst/>
            <a:cxnLst/>
            <a:rect l="l" t="t" r="r" b="b"/>
            <a:pathLst>
              <a:path w="193551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12833" y="19050"/>
                </a:lnTo>
                <a:lnTo>
                  <a:pt x="1910140" y="16669"/>
                </a:lnTo>
                <a:lnTo>
                  <a:pt x="1907146" y="14288"/>
                </a:lnTo>
                <a:lnTo>
                  <a:pt x="1903782" y="11906"/>
                </a:lnTo>
                <a:lnTo>
                  <a:pt x="1899944" y="9525"/>
                </a:lnTo>
                <a:lnTo>
                  <a:pt x="1895456" y="7144"/>
                </a:lnTo>
                <a:lnTo>
                  <a:pt x="1889978" y="4763"/>
                </a:lnTo>
                <a:lnTo>
                  <a:pt x="1882639" y="2381"/>
                </a:lnTo>
                <a:lnTo>
                  <a:pt x="1864390" y="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800" y="160317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CC1B1B">
              <a:alpha val="12000"/>
            </a:srgbClr>
          </a:solidFill>
          <a:ln w="9525">
            <a:solidFill>
              <a:srgbClr val="CC1B1B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332" y="1719709"/>
            <a:ext cx="139005" cy="13900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5800" y="2089547"/>
            <a:ext cx="17518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7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FEATURE-01</a:t>
            </a:r>
            <a:endParaRPr lang="en-US" sz="620" dirty="0"/>
          </a:p>
        </p:txBody>
      </p:sp>
      <p:sp>
        <p:nvSpPr>
          <p:cNvPr id="22" name="Text 19"/>
          <p:cNvSpPr/>
          <p:nvPr/>
        </p:nvSpPr>
        <p:spPr>
          <a:xfrm>
            <a:off x="685800" y="2221409"/>
            <a:ext cx="1751871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34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App Service</a:t>
            </a:r>
            <a:endParaRPr lang="en-US" sz="1130" dirty="0"/>
          </a:p>
        </p:txBody>
      </p:sp>
      <p:sp>
        <p:nvSpPr>
          <p:cNvPr id="23" name="Text 20"/>
          <p:cNvSpPr/>
          <p:nvPr/>
        </p:nvSpPr>
        <p:spPr>
          <a:xfrm>
            <a:off x="685800" y="2436614"/>
            <a:ext cx="1624462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Node.js/Python REST API hosted on PaaS with auto-scaling enabled. Standard B1 plan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685800" y="3530352"/>
            <a:ext cx="828824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20 LTS</a:t>
            </a:r>
            <a:endParaRPr lang="en-US" sz="620" dirty="0"/>
          </a:p>
        </p:txBody>
      </p:sp>
      <p:sp>
        <p:nvSpPr>
          <p:cNvPr id="25" name="Text 22"/>
          <p:cNvSpPr/>
          <p:nvPr/>
        </p:nvSpPr>
        <p:spPr>
          <a:xfrm>
            <a:off x="1557784" y="3530352"/>
            <a:ext cx="679847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</a:t>
            </a:r>
            <a:endParaRPr lang="en-US" sz="620" dirty="0"/>
          </a:p>
        </p:txBody>
      </p:sp>
      <p:sp>
        <p:nvSpPr>
          <p:cNvPr id="26" name="Text 23"/>
          <p:cNvSpPr/>
          <p:nvPr/>
        </p:nvSpPr>
        <p:spPr>
          <a:xfrm>
            <a:off x="685800" y="3766840"/>
            <a:ext cx="332184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PaaS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2593330" y="1383506"/>
            <a:ext cx="1935510" cy="2704802"/>
          </a:xfrm>
          <a:prstGeom prst="roundRect">
            <a:avLst>
              <a:gd name="adj" fmla="val 3674"/>
            </a:avLst>
          </a:prstGeom>
          <a:solidFill>
            <a:srgbClr val="2A2A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593330" y="1383506"/>
            <a:ext cx="1935510" cy="19050"/>
          </a:xfrm>
          <a:custGeom>
            <a:avLst/>
            <a:gdLst/>
            <a:ahLst/>
            <a:cxnLst/>
            <a:rect l="l" t="t" r="r" b="b"/>
            <a:pathLst>
              <a:path w="193551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12833" y="19050"/>
                </a:lnTo>
                <a:lnTo>
                  <a:pt x="1910140" y="16669"/>
                </a:lnTo>
                <a:lnTo>
                  <a:pt x="1907146" y="14288"/>
                </a:lnTo>
                <a:lnTo>
                  <a:pt x="1903782" y="11906"/>
                </a:lnTo>
                <a:lnTo>
                  <a:pt x="1899944" y="9525"/>
                </a:lnTo>
                <a:lnTo>
                  <a:pt x="1895456" y="7144"/>
                </a:lnTo>
                <a:lnTo>
                  <a:pt x="1889978" y="4763"/>
                </a:lnTo>
                <a:lnTo>
                  <a:pt x="1882639" y="2381"/>
                </a:lnTo>
                <a:lnTo>
                  <a:pt x="1864390" y="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764780" y="160317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CC1B1B">
              <a:alpha val="12000"/>
            </a:srgbClr>
          </a:solidFill>
          <a:ln w="9525">
            <a:solidFill>
              <a:srgbClr val="CC1B1B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1313" y="1719709"/>
            <a:ext cx="139005" cy="13900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764780" y="2089547"/>
            <a:ext cx="17518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7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FEATURE-02</a:t>
            </a:r>
            <a:endParaRPr lang="en-US" sz="620" dirty="0"/>
          </a:p>
        </p:txBody>
      </p:sp>
      <p:sp>
        <p:nvSpPr>
          <p:cNvPr id="32" name="Text 28"/>
          <p:cNvSpPr/>
          <p:nvPr/>
        </p:nvSpPr>
        <p:spPr>
          <a:xfrm>
            <a:off x="2764780" y="2221409"/>
            <a:ext cx="1624462" cy="361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34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Flexible Server</a:t>
            </a:r>
            <a:endParaRPr lang="en-US" sz="1130" dirty="0"/>
          </a:p>
        </p:txBody>
      </p:sp>
      <p:sp>
        <p:nvSpPr>
          <p:cNvPr id="33" name="Text 29"/>
          <p:cNvSpPr/>
          <p:nvPr/>
        </p:nvSpPr>
        <p:spPr>
          <a:xfrm>
            <a:off x="2764780" y="2608659"/>
            <a:ext cx="1624462" cy="847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DB with private VNet integration. Automated backups, SSL enforcement, geo-redundant retention</a:t>
            </a:r>
            <a:endParaRPr lang="en-US" sz="820" dirty="0"/>
          </a:p>
        </p:txBody>
      </p:sp>
      <p:sp>
        <p:nvSpPr>
          <p:cNvPr id="34" name="Text 30"/>
          <p:cNvSpPr/>
          <p:nvPr/>
        </p:nvSpPr>
        <p:spPr>
          <a:xfrm>
            <a:off x="2764780" y="3530352"/>
            <a:ext cx="779115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16</a:t>
            </a:r>
            <a:endParaRPr lang="en-US" sz="620" dirty="0"/>
          </a:p>
        </p:txBody>
      </p:sp>
      <p:sp>
        <p:nvSpPr>
          <p:cNvPr id="35" name="Text 31"/>
          <p:cNvSpPr/>
          <p:nvPr/>
        </p:nvSpPr>
        <p:spPr>
          <a:xfrm>
            <a:off x="3587055" y="3530352"/>
            <a:ext cx="729555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VNet Private</a:t>
            </a:r>
            <a:endParaRPr lang="en-US" sz="620" dirty="0"/>
          </a:p>
        </p:txBody>
      </p:sp>
      <p:sp>
        <p:nvSpPr>
          <p:cNvPr id="36" name="Text 32"/>
          <p:cNvSpPr/>
          <p:nvPr/>
        </p:nvSpPr>
        <p:spPr>
          <a:xfrm>
            <a:off x="2764780" y="3766840"/>
            <a:ext cx="431453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GB</a:t>
            </a:r>
            <a:endParaRPr lang="en-US" sz="620" dirty="0"/>
          </a:p>
        </p:txBody>
      </p:sp>
      <p:sp>
        <p:nvSpPr>
          <p:cNvPr id="37" name="Text 33"/>
          <p:cNvSpPr/>
          <p:nvPr/>
        </p:nvSpPr>
        <p:spPr>
          <a:xfrm>
            <a:off x="4672310" y="1383506"/>
            <a:ext cx="1935510" cy="2704802"/>
          </a:xfrm>
          <a:prstGeom prst="roundRect">
            <a:avLst>
              <a:gd name="adj" fmla="val 3674"/>
            </a:avLst>
          </a:prstGeom>
          <a:solidFill>
            <a:srgbClr val="2A2A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4672310" y="1383506"/>
            <a:ext cx="1935510" cy="19050"/>
          </a:xfrm>
          <a:custGeom>
            <a:avLst/>
            <a:gdLst/>
            <a:ahLst/>
            <a:cxnLst/>
            <a:rect l="l" t="t" r="r" b="b"/>
            <a:pathLst>
              <a:path w="193551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12833" y="19050"/>
                </a:lnTo>
                <a:lnTo>
                  <a:pt x="1910140" y="16669"/>
                </a:lnTo>
                <a:lnTo>
                  <a:pt x="1907146" y="14288"/>
                </a:lnTo>
                <a:lnTo>
                  <a:pt x="1903782" y="11906"/>
                </a:lnTo>
                <a:lnTo>
                  <a:pt x="1899944" y="9525"/>
                </a:lnTo>
                <a:lnTo>
                  <a:pt x="1895456" y="7144"/>
                </a:lnTo>
                <a:lnTo>
                  <a:pt x="1889978" y="4763"/>
                </a:lnTo>
                <a:lnTo>
                  <a:pt x="1882639" y="2381"/>
                </a:lnTo>
                <a:lnTo>
                  <a:pt x="1864390" y="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4843760" y="160317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CC1B1B">
              <a:alpha val="12000"/>
            </a:srgbClr>
          </a:solidFill>
          <a:ln w="9525">
            <a:solidFill>
              <a:srgbClr val="CC1B1B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0293" y="1719709"/>
            <a:ext cx="139005" cy="13900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843760" y="2089547"/>
            <a:ext cx="17518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7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FEATURE-03</a:t>
            </a:r>
            <a:endParaRPr lang="en-US" sz="620" dirty="0"/>
          </a:p>
        </p:txBody>
      </p:sp>
      <p:sp>
        <p:nvSpPr>
          <p:cNvPr id="42" name="Text 37"/>
          <p:cNvSpPr/>
          <p:nvPr/>
        </p:nvSpPr>
        <p:spPr>
          <a:xfrm>
            <a:off x="4843760" y="2221409"/>
            <a:ext cx="1751871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34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Static Web Apps</a:t>
            </a:r>
            <a:endParaRPr lang="en-US" sz="1130" dirty="0"/>
          </a:p>
        </p:txBody>
      </p:sp>
      <p:sp>
        <p:nvSpPr>
          <p:cNvPr id="43" name="Text 38"/>
          <p:cNvSpPr/>
          <p:nvPr/>
        </p:nvSpPr>
        <p:spPr>
          <a:xfrm>
            <a:off x="4843760" y="2436614"/>
            <a:ext cx="1624462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delivery across Azure PoPs worldwide. CI/CD via GitHub Actions, custom domain ready with managed TLS</a:t>
            </a:r>
            <a:endParaRPr lang="en-US" sz="820" dirty="0"/>
          </a:p>
        </p:txBody>
      </p:sp>
      <p:sp>
        <p:nvSpPr>
          <p:cNvPr id="44" name="Text 39"/>
          <p:cNvSpPr/>
          <p:nvPr/>
        </p:nvSpPr>
        <p:spPr>
          <a:xfrm>
            <a:off x="4843760" y="3530352"/>
            <a:ext cx="580430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 CDN</a:t>
            </a:r>
            <a:endParaRPr lang="en-US" sz="620" dirty="0"/>
          </a:p>
        </p:txBody>
      </p:sp>
      <p:sp>
        <p:nvSpPr>
          <p:cNvPr id="45" name="Text 40"/>
          <p:cNvSpPr/>
          <p:nvPr/>
        </p:nvSpPr>
        <p:spPr>
          <a:xfrm>
            <a:off x="5467350" y="3530352"/>
            <a:ext cx="828824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620" dirty="0"/>
          </a:p>
        </p:txBody>
      </p:sp>
      <p:sp>
        <p:nvSpPr>
          <p:cNvPr id="46" name="Text 41"/>
          <p:cNvSpPr/>
          <p:nvPr/>
        </p:nvSpPr>
        <p:spPr>
          <a:xfrm>
            <a:off x="4843760" y="3766840"/>
            <a:ext cx="381744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620" dirty="0"/>
          </a:p>
        </p:txBody>
      </p:sp>
      <p:sp>
        <p:nvSpPr>
          <p:cNvPr id="47" name="Text 42"/>
          <p:cNvSpPr/>
          <p:nvPr/>
        </p:nvSpPr>
        <p:spPr>
          <a:xfrm>
            <a:off x="6751290" y="1383506"/>
            <a:ext cx="1935510" cy="2704802"/>
          </a:xfrm>
          <a:prstGeom prst="roundRect">
            <a:avLst>
              <a:gd name="adj" fmla="val 3674"/>
            </a:avLst>
          </a:prstGeom>
          <a:solidFill>
            <a:srgbClr val="2A2A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6751290" y="1383506"/>
            <a:ext cx="1935510" cy="19050"/>
          </a:xfrm>
          <a:custGeom>
            <a:avLst/>
            <a:gdLst/>
            <a:ahLst/>
            <a:cxnLst/>
            <a:rect l="l" t="t" r="r" b="b"/>
            <a:pathLst>
              <a:path w="1935510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912833" y="19050"/>
                </a:lnTo>
                <a:lnTo>
                  <a:pt x="1910140" y="16669"/>
                </a:lnTo>
                <a:lnTo>
                  <a:pt x="1907146" y="14288"/>
                </a:lnTo>
                <a:lnTo>
                  <a:pt x="1903782" y="11906"/>
                </a:lnTo>
                <a:lnTo>
                  <a:pt x="1899944" y="9525"/>
                </a:lnTo>
                <a:lnTo>
                  <a:pt x="1895456" y="7144"/>
                </a:lnTo>
                <a:lnTo>
                  <a:pt x="1889978" y="4763"/>
                </a:lnTo>
                <a:lnTo>
                  <a:pt x="1882639" y="2381"/>
                </a:lnTo>
                <a:lnTo>
                  <a:pt x="1864390" y="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6922740" y="160317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CC1B1B">
              <a:alpha val="12000"/>
            </a:srgbClr>
          </a:solidFill>
          <a:ln w="9525">
            <a:solidFill>
              <a:srgbClr val="CC1B1B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9273" y="1719709"/>
            <a:ext cx="139005" cy="139005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6922740" y="2089547"/>
            <a:ext cx="17518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7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FEATURE-04</a:t>
            </a:r>
            <a:endParaRPr lang="en-US" sz="620" dirty="0"/>
          </a:p>
        </p:txBody>
      </p:sp>
      <p:sp>
        <p:nvSpPr>
          <p:cNvPr id="52" name="Text 46"/>
          <p:cNvSpPr/>
          <p:nvPr/>
        </p:nvSpPr>
        <p:spPr>
          <a:xfrm>
            <a:off x="6922740" y="2221409"/>
            <a:ext cx="1751871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340"/>
              </a:spcAft>
              <a:buNone/>
            </a:pPr>
            <a:r>
              <a:rPr lang="en-US" sz="11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AD</a:t>
            </a:r>
            <a:endParaRPr lang="en-US" sz="1130" dirty="0"/>
          </a:p>
        </p:txBody>
      </p:sp>
      <p:sp>
        <p:nvSpPr>
          <p:cNvPr id="53" name="Text 47"/>
          <p:cNvSpPr/>
          <p:nvPr/>
        </p:nvSpPr>
        <p:spPr>
          <a:xfrm>
            <a:off x="6922740" y="2436614"/>
            <a:ext cx="1624462" cy="67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 app registration with token-based auth enforced on all API routes. Role-based access control enabled</a:t>
            </a:r>
            <a:endParaRPr lang="en-US" sz="820" dirty="0"/>
          </a:p>
        </p:txBody>
      </p:sp>
      <p:sp>
        <p:nvSpPr>
          <p:cNvPr id="54" name="Text 48"/>
          <p:cNvSpPr/>
          <p:nvPr/>
        </p:nvSpPr>
        <p:spPr>
          <a:xfrm>
            <a:off x="6922740" y="3566815"/>
            <a:ext cx="431453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OAuth2</a:t>
            </a:r>
            <a:endParaRPr lang="en-US" sz="620" dirty="0"/>
          </a:p>
        </p:txBody>
      </p:sp>
      <p:sp>
        <p:nvSpPr>
          <p:cNvPr id="55" name="Text 49"/>
          <p:cNvSpPr/>
          <p:nvPr/>
        </p:nvSpPr>
        <p:spPr>
          <a:xfrm>
            <a:off x="7397353" y="3566815"/>
            <a:ext cx="332184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</a:t>
            </a:r>
            <a:endParaRPr lang="en-US" sz="620" dirty="0"/>
          </a:p>
        </p:txBody>
      </p:sp>
      <p:sp>
        <p:nvSpPr>
          <p:cNvPr id="56" name="Text 50"/>
          <p:cNvSpPr/>
          <p:nvPr/>
        </p:nvSpPr>
        <p:spPr>
          <a:xfrm>
            <a:off x="7772698" y="3566815"/>
            <a:ext cx="332184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</a:t>
            </a:r>
            <a:endParaRPr lang="en-US" sz="620" dirty="0"/>
          </a:p>
        </p:txBody>
      </p:sp>
      <p:sp>
        <p:nvSpPr>
          <p:cNvPr id="57" name="Text 51"/>
          <p:cNvSpPr/>
          <p:nvPr/>
        </p:nvSpPr>
        <p:spPr>
          <a:xfrm>
            <a:off x="-34677" y="4885730"/>
            <a:ext cx="9144000" cy="257770"/>
          </a:xfrm>
          <a:prstGeom prst="rect">
            <a:avLst/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CC1B1B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t"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36972"/>
            <a:ext cx="3993733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340"/>
              </a:spcAft>
              <a:buNone/>
            </a:pPr>
            <a:r>
              <a:rPr lang="en-US" sz="2360" b="1" kern="0" spc="-24">
                <a:solidFill>
                  <a:srgbClr val="CC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FEATURE-01</a:t>
            </a:r>
            <a:r>
              <a:rPr lang="en-US" sz="2360" kern="0" spc="-24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· Azure App Service</a:t>
            </a:r>
            <a:endParaRPr lang="en-US" sz="2360" dirty="0"/>
          </a:p>
        </p:txBody>
      </p:sp>
      <p:sp>
        <p:nvSpPr>
          <p:cNvPr id="6" name="Text 4"/>
          <p:cNvSpPr/>
          <p:nvPr/>
        </p:nvSpPr>
        <p:spPr>
          <a:xfrm>
            <a:off x="457200" y="909786"/>
            <a:ext cx="410570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1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host — Platform-as-a-Service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115300" y="31492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88685" y="488305"/>
            <a:ext cx="224730" cy="2247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236018"/>
            <a:ext cx="8229600" cy="7590"/>
          </a:xfrm>
          <a:prstGeom prst="rect">
            <a:avLst/>
          </a:prstGeom>
          <a:solidFill>
            <a:srgbClr val="D8D8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1371749"/>
            <a:ext cx="8210550" cy="533102"/>
          </a:xfrm>
          <a:prstGeom prst="roundRect">
            <a:avLst>
              <a:gd name="adj" fmla="val 13341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1371749"/>
            <a:ext cx="19050" cy="533102"/>
          </a:xfrm>
          <a:custGeom>
            <a:avLst/>
            <a:gdLst/>
            <a:ahLst/>
            <a:cxnLst/>
            <a:rect l="l" t="t" r="r" b="b"/>
            <a:pathLst>
              <a:path w="19050" h="5331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10426"/>
                </a:lnTo>
                <a:lnTo>
                  <a:pt x="16669" y="507733"/>
                </a:lnTo>
                <a:lnTo>
                  <a:pt x="14288" y="504739"/>
                </a:lnTo>
                <a:lnTo>
                  <a:pt x="11906" y="501375"/>
                </a:lnTo>
                <a:lnTo>
                  <a:pt x="9525" y="497537"/>
                </a:lnTo>
                <a:lnTo>
                  <a:pt x="7144" y="493048"/>
                </a:lnTo>
                <a:lnTo>
                  <a:pt x="4763" y="487570"/>
                </a:lnTo>
                <a:lnTo>
                  <a:pt x="2381" y="480232"/>
                </a:lnTo>
                <a:lnTo>
                  <a:pt x="0" y="46198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4391" y="1545580"/>
            <a:ext cx="185291" cy="203820"/>
          </a:xfrm>
          <a:prstGeom prst="ellipse">
            <a:avLst/>
          </a:prstGeom>
          <a:solidFill>
            <a:srgbClr val="F9E5E5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CC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933152" y="1473845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9E5E5"/>
          </a:solidFill>
          <a:ln w="9525">
            <a:solidFill>
              <a:srgbClr val="D8D8D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313" y="1572006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05533" y="1490811"/>
            <a:ext cx="782571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kern="0" spc="18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Runtime Environment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405533" y="1641723"/>
            <a:ext cx="782571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LTS / Python 3.11 on Linux App Service Plan</a:t>
            </a:r>
            <a:endParaRPr lang="en-US" sz="840" dirty="0"/>
          </a:p>
        </p:txBody>
      </p:sp>
      <p:sp>
        <p:nvSpPr>
          <p:cNvPr id="17" name="Text 13"/>
          <p:cNvSpPr/>
          <p:nvPr/>
        </p:nvSpPr>
        <p:spPr>
          <a:xfrm>
            <a:off x="457200" y="1975842"/>
            <a:ext cx="8210550" cy="533102"/>
          </a:xfrm>
          <a:prstGeom prst="roundRect">
            <a:avLst>
              <a:gd name="adj" fmla="val 13341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7200" y="1975842"/>
            <a:ext cx="19050" cy="533102"/>
          </a:xfrm>
          <a:custGeom>
            <a:avLst/>
            <a:gdLst/>
            <a:ahLst/>
            <a:cxnLst/>
            <a:rect l="l" t="t" r="r" b="b"/>
            <a:pathLst>
              <a:path w="19050" h="5331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10426"/>
                </a:lnTo>
                <a:lnTo>
                  <a:pt x="16669" y="507733"/>
                </a:lnTo>
                <a:lnTo>
                  <a:pt x="14288" y="504739"/>
                </a:lnTo>
                <a:lnTo>
                  <a:pt x="11906" y="501375"/>
                </a:lnTo>
                <a:lnTo>
                  <a:pt x="9525" y="497537"/>
                </a:lnTo>
                <a:lnTo>
                  <a:pt x="7144" y="493048"/>
                </a:lnTo>
                <a:lnTo>
                  <a:pt x="4763" y="487570"/>
                </a:lnTo>
                <a:lnTo>
                  <a:pt x="2381" y="480232"/>
                </a:lnTo>
                <a:lnTo>
                  <a:pt x="0" y="46198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04391" y="2149673"/>
            <a:ext cx="185291" cy="203820"/>
          </a:xfrm>
          <a:prstGeom prst="ellipse">
            <a:avLst/>
          </a:prstGeom>
          <a:solidFill>
            <a:srgbClr val="F9E5E5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CC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20" dirty="0"/>
          </a:p>
        </p:txBody>
      </p:sp>
      <p:sp>
        <p:nvSpPr>
          <p:cNvPr id="20" name="Text 16"/>
          <p:cNvSpPr/>
          <p:nvPr/>
        </p:nvSpPr>
        <p:spPr>
          <a:xfrm>
            <a:off x="933152" y="2077938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9E5E5"/>
          </a:solidFill>
          <a:ln w="9525">
            <a:solidFill>
              <a:srgbClr val="D8D8D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313" y="2176099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05533" y="2094905"/>
            <a:ext cx="782571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kern="0" spc="18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Tier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405533" y="2245816"/>
            <a:ext cx="782571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B1 with auto-scale rules</a:t>
            </a:r>
            <a:endParaRPr lang="en-US" sz="840" dirty="0"/>
          </a:p>
        </p:txBody>
      </p:sp>
      <p:sp>
        <p:nvSpPr>
          <p:cNvPr id="24" name="Text 19"/>
          <p:cNvSpPr/>
          <p:nvPr/>
        </p:nvSpPr>
        <p:spPr>
          <a:xfrm>
            <a:off x="457200" y="2579936"/>
            <a:ext cx="8210550" cy="533102"/>
          </a:xfrm>
          <a:prstGeom prst="roundRect">
            <a:avLst>
              <a:gd name="adj" fmla="val 13341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57200" y="2579936"/>
            <a:ext cx="19050" cy="533102"/>
          </a:xfrm>
          <a:custGeom>
            <a:avLst/>
            <a:gdLst/>
            <a:ahLst/>
            <a:cxnLst/>
            <a:rect l="l" t="t" r="r" b="b"/>
            <a:pathLst>
              <a:path w="19050" h="5331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10426"/>
                </a:lnTo>
                <a:lnTo>
                  <a:pt x="16669" y="507733"/>
                </a:lnTo>
                <a:lnTo>
                  <a:pt x="14288" y="504739"/>
                </a:lnTo>
                <a:lnTo>
                  <a:pt x="11906" y="501375"/>
                </a:lnTo>
                <a:lnTo>
                  <a:pt x="9525" y="497537"/>
                </a:lnTo>
                <a:lnTo>
                  <a:pt x="7144" y="493048"/>
                </a:lnTo>
                <a:lnTo>
                  <a:pt x="4763" y="487570"/>
                </a:lnTo>
                <a:lnTo>
                  <a:pt x="2381" y="480232"/>
                </a:lnTo>
                <a:lnTo>
                  <a:pt x="0" y="46198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04391" y="2753767"/>
            <a:ext cx="185291" cy="203820"/>
          </a:xfrm>
          <a:prstGeom prst="ellipse">
            <a:avLst/>
          </a:prstGeom>
          <a:solidFill>
            <a:srgbClr val="F9E5E5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CC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20" dirty="0"/>
          </a:p>
        </p:txBody>
      </p:sp>
      <p:sp>
        <p:nvSpPr>
          <p:cNvPr id="27" name="Text 22"/>
          <p:cNvSpPr/>
          <p:nvPr/>
        </p:nvSpPr>
        <p:spPr>
          <a:xfrm>
            <a:off x="933152" y="2682032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9E5E5"/>
          </a:solidFill>
          <a:ln w="9525">
            <a:solidFill>
              <a:srgbClr val="D8D8D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1313" y="2780193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05533" y="2698998"/>
            <a:ext cx="782571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kern="0" spc="18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Deployment Method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405533" y="2849910"/>
            <a:ext cx="782571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pipeline, ZIP deploy on push to main</a:t>
            </a:r>
            <a:endParaRPr lang="en-US" sz="840" dirty="0"/>
          </a:p>
        </p:txBody>
      </p:sp>
      <p:sp>
        <p:nvSpPr>
          <p:cNvPr id="31" name="Text 25"/>
          <p:cNvSpPr/>
          <p:nvPr/>
        </p:nvSpPr>
        <p:spPr>
          <a:xfrm>
            <a:off x="457200" y="3184029"/>
            <a:ext cx="8210550" cy="533102"/>
          </a:xfrm>
          <a:prstGeom prst="roundRect">
            <a:avLst>
              <a:gd name="adj" fmla="val 13341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57200" y="3184029"/>
            <a:ext cx="19050" cy="533102"/>
          </a:xfrm>
          <a:custGeom>
            <a:avLst/>
            <a:gdLst/>
            <a:ahLst/>
            <a:cxnLst/>
            <a:rect l="l" t="t" r="r" b="b"/>
            <a:pathLst>
              <a:path w="19050" h="5331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10426"/>
                </a:lnTo>
                <a:lnTo>
                  <a:pt x="16669" y="507733"/>
                </a:lnTo>
                <a:lnTo>
                  <a:pt x="14288" y="504739"/>
                </a:lnTo>
                <a:lnTo>
                  <a:pt x="11906" y="501375"/>
                </a:lnTo>
                <a:lnTo>
                  <a:pt x="9525" y="497537"/>
                </a:lnTo>
                <a:lnTo>
                  <a:pt x="7144" y="493048"/>
                </a:lnTo>
                <a:lnTo>
                  <a:pt x="4763" y="487570"/>
                </a:lnTo>
                <a:lnTo>
                  <a:pt x="2381" y="480232"/>
                </a:lnTo>
                <a:lnTo>
                  <a:pt x="0" y="46198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04391" y="3357860"/>
            <a:ext cx="185291" cy="203820"/>
          </a:xfrm>
          <a:prstGeom prst="ellipse">
            <a:avLst/>
          </a:prstGeom>
          <a:solidFill>
            <a:srgbClr val="F9E5E5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CC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20" dirty="0"/>
          </a:p>
        </p:txBody>
      </p:sp>
      <p:sp>
        <p:nvSpPr>
          <p:cNvPr id="34" name="Text 28"/>
          <p:cNvSpPr/>
          <p:nvPr/>
        </p:nvSpPr>
        <p:spPr>
          <a:xfrm>
            <a:off x="933152" y="3286125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9E5E5"/>
          </a:solidFill>
          <a:ln w="9525">
            <a:solidFill>
              <a:srgbClr val="D8D8D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1313" y="3384286"/>
            <a:ext cx="132588" cy="132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05533" y="3303091"/>
            <a:ext cx="782571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kern="0" spc="18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405533" y="3454003"/>
            <a:ext cx="7825710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enforced, TLS 1.2 minimum, outbound VNet integration</a:t>
            </a:r>
            <a:endParaRPr lang="en-US" sz="840" dirty="0"/>
          </a:p>
        </p:txBody>
      </p:sp>
      <p:sp>
        <p:nvSpPr>
          <p:cNvPr id="38" name="Text 31"/>
          <p:cNvSpPr/>
          <p:nvPr/>
        </p:nvSpPr>
        <p:spPr>
          <a:xfrm>
            <a:off x="457200" y="3788122"/>
            <a:ext cx="8210550" cy="533102"/>
          </a:xfrm>
          <a:prstGeom prst="roundRect">
            <a:avLst>
              <a:gd name="adj" fmla="val 13341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457200" y="3788122"/>
            <a:ext cx="19050" cy="533102"/>
          </a:xfrm>
          <a:custGeom>
            <a:avLst/>
            <a:gdLst/>
            <a:ahLst/>
            <a:cxnLst/>
            <a:rect l="l" t="t" r="r" b="b"/>
            <a:pathLst>
              <a:path w="19050" h="5331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10426"/>
                </a:lnTo>
                <a:lnTo>
                  <a:pt x="16669" y="507733"/>
                </a:lnTo>
                <a:lnTo>
                  <a:pt x="14288" y="504739"/>
                </a:lnTo>
                <a:lnTo>
                  <a:pt x="11906" y="501375"/>
                </a:lnTo>
                <a:lnTo>
                  <a:pt x="9525" y="497537"/>
                </a:lnTo>
                <a:lnTo>
                  <a:pt x="7144" y="493048"/>
                </a:lnTo>
                <a:lnTo>
                  <a:pt x="4763" y="487570"/>
                </a:lnTo>
                <a:lnTo>
                  <a:pt x="2381" y="480232"/>
                </a:lnTo>
                <a:lnTo>
                  <a:pt x="0" y="46198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604391" y="3961954"/>
            <a:ext cx="185291" cy="203820"/>
          </a:xfrm>
          <a:prstGeom prst="ellipse">
            <a:avLst/>
          </a:prstGeom>
          <a:solidFill>
            <a:srgbClr val="F9E5E5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CC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620" dirty="0"/>
          </a:p>
        </p:txBody>
      </p:sp>
      <p:sp>
        <p:nvSpPr>
          <p:cNvPr id="41" name="Text 34"/>
          <p:cNvSpPr/>
          <p:nvPr/>
        </p:nvSpPr>
        <p:spPr>
          <a:xfrm>
            <a:off x="933152" y="3890218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9E5E5"/>
          </a:solidFill>
          <a:ln w="9525">
            <a:solidFill>
              <a:srgbClr val="D8D8D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313" y="3988379"/>
            <a:ext cx="132588" cy="13258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405533" y="3907185"/>
            <a:ext cx="782571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kern="0" spc="18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&amp; Monitoring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405533" y="4058096"/>
            <a:ext cx="3499842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connected, /health endpoint active,  alert rules configured</a:t>
            </a:r>
            <a:endParaRPr lang="en-US" sz="840" dirty="0"/>
          </a:p>
        </p:txBody>
      </p:sp>
      <p:sp>
        <p:nvSpPr>
          <p:cNvPr id="45" name="Text 37"/>
          <p:cNvSpPr/>
          <p:nvPr/>
        </p:nvSpPr>
        <p:spPr>
          <a:xfrm>
            <a:off x="0" y="4809827"/>
            <a:ext cx="9144000" cy="333673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0" y="4809827"/>
            <a:ext cx="9144000" cy="9525"/>
          </a:xfrm>
          <a:prstGeom prst="rect">
            <a:avLst/>
          </a:prstGeom>
          <a:solidFill>
            <a:srgbClr val="F9E5E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3769" y="4915132"/>
            <a:ext cx="132588" cy="13258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86395" y="4911923"/>
            <a:ext cx="605926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FFFFFF">
                    <a:alpha val="8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Group: </a:t>
            </a:r>
            <a:r>
              <a:rPr lang="en-US" sz="730" dirty="0" err="1">
                <a:solidFill>
                  <a:srgbClr val="FFFFFF">
                    <a:alpha val="8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</a:t>
            </a:r>
            <a:r>
              <a:rPr lang="en-US" sz="730" dirty="0">
                <a:solidFill>
                  <a:srgbClr val="FFFFFF">
                    <a:alpha val="8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730" dirty="0" err="1">
                <a:solidFill>
                  <a:srgbClr val="FFFFFF">
                    <a:alpha val="8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ems</a:t>
            </a:r>
            <a:r>
              <a:rPr lang="en-US" sz="730" dirty="0">
                <a:solidFill>
                  <a:srgbClr val="FFFFFF">
                    <a:alpha val="8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730" dirty="0" err="1">
                <a:solidFill>
                  <a:srgbClr val="FFFFFF">
                    <a:alpha val="8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readykit</a:t>
            </a:r>
            <a:r>
              <a:rPr lang="en-US" sz="730" dirty="0">
                <a:solidFill>
                  <a:srgbClr val="FFFFFF">
                    <a:alpha val="8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-dev · Region: North Central US · Plan: Basic B1 · OS: Linux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09572-81EE-CDF4-2FBC-BAF06D36A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7A23EB-55E4-5343-FC7C-C7B159B62439}"/>
              </a:ext>
            </a:extLst>
          </p:cNvPr>
          <p:cNvSpPr/>
          <p:nvPr/>
        </p:nvSpPr>
        <p:spPr>
          <a:xfrm>
            <a:off x="0" y="0"/>
            <a:ext cx="9144000" cy="1014859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2773DD4-F939-3206-BE72-2BC3C8AB5D36}"/>
              </a:ext>
            </a:extLst>
          </p:cNvPr>
          <p:cNvSpPr/>
          <p:nvPr/>
        </p:nvSpPr>
        <p:spPr>
          <a:xfrm rot="16200000">
            <a:off x="-367788" y="3879180"/>
            <a:ext cx="124499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-60" normalizeH="0" baseline="0" noProof="0" dirty="0">
                <a:ln>
                  <a:noFill/>
                </a:ln>
                <a:solidFill>
                  <a:srgbClr val="CC1B1B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FEATURE-01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F0CC9DF-7348-12A4-B851-5638191DE4EB}"/>
              </a:ext>
            </a:extLst>
          </p:cNvPr>
          <p:cNvSpPr/>
          <p:nvPr/>
        </p:nvSpPr>
        <p:spPr>
          <a:xfrm rot="16200000">
            <a:off x="-831440" y="1809404"/>
            <a:ext cx="2099777" cy="19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15"/>
              </a:lnSpc>
              <a:spcBef>
                <a:spcPts val="0"/>
              </a:spcBef>
              <a:spcAft>
                <a:spcPts val="28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0" b="1" i="0" u="none" strike="noStrike" kern="0" cap="none" spc="1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kumimoji="0" lang="en-US" sz="10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D209C2E3-4677-C350-AD5E-CC63BABBC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81" y="121922"/>
            <a:ext cx="8485898" cy="4551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9" name="Text 1">
            <a:extLst>
              <a:ext uri="{FF2B5EF4-FFF2-40B4-BE49-F238E27FC236}">
                <a16:creationId xmlns:a16="http://schemas.microsoft.com/office/drawing/2014/main" id="{E931B235-8464-3DA1-D590-CEB5A1ED559B}"/>
              </a:ext>
            </a:extLst>
          </p:cNvPr>
          <p:cNvSpPr/>
          <p:nvPr/>
        </p:nvSpPr>
        <p:spPr>
          <a:xfrm>
            <a:off x="-1" y="0"/>
            <a:ext cx="45719" cy="4829882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60095466-2F9A-FCF0-9CCE-8ACB3DE3B632}"/>
              </a:ext>
            </a:extLst>
          </p:cNvPr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0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516731"/>
            <a:ext cx="810180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spcAft>
                <a:spcPts val="340"/>
              </a:spcAft>
              <a:buNone/>
            </a:pPr>
            <a:r>
              <a:rPr lang="en-US" sz="2140" b="1" kern="0" spc="-30" dirty="0">
                <a:solidFill>
                  <a:srgbClr val="CC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FEATURE-02</a:t>
            </a:r>
            <a:r>
              <a:rPr lang="en-US" sz="2140" kern="0" spc="-3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· PostgreSQL Flexible Server</a:t>
            </a:r>
            <a:endParaRPr lang="en-US" sz="2140" dirty="0"/>
          </a:p>
        </p:txBody>
      </p:sp>
      <p:sp>
        <p:nvSpPr>
          <p:cNvPr id="6" name="Text 4"/>
          <p:cNvSpPr/>
          <p:nvPr/>
        </p:nvSpPr>
        <p:spPr>
          <a:xfrm>
            <a:off x="457200" y="858738"/>
            <a:ext cx="83289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 — private VNet integrated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72450" y="358080"/>
            <a:ext cx="514350" cy="514350"/>
          </a:xfrm>
          <a:prstGeom prst="roundRect">
            <a:avLst>
              <a:gd name="adj" fmla="val 19506"/>
            </a:avLst>
          </a:prstGeom>
          <a:solidFill>
            <a:srgbClr val="FFFFFF"/>
          </a:solidFill>
          <a:ln w="9525">
            <a:solidFill>
              <a:srgbClr val="CC1B1B">
                <a:alpha val="15000"/>
              </a:srgbClr>
            </a:solidFill>
          </a:ln>
          <a:effectLst>
            <a:outerShdw blurRad="86360" dist="13970" dir="5400000" algn="bl" rotWithShape="0">
              <a:srgbClr val="000000">
                <a:alpha val="9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6246" y="491877"/>
            <a:ext cx="246608" cy="246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158329"/>
            <a:ext cx="8229600" cy="13841"/>
          </a:xfrm>
          <a:prstGeom prst="rect">
            <a:avLst/>
          </a:prstGeom>
          <a:gradFill rotWithShape="1">
            <a:gsLst>
              <a:gs pos="0">
                <a:srgbClr val="CC1B1B"/>
              </a:gs>
              <a:gs pos="100000">
                <a:srgbClr val="D8D8D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1315641"/>
            <a:ext cx="4029075" cy="2550914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/>
          <a:effectLst>
            <a:outerShdw blurRad="157480" dist="29210" dir="5400000" algn="bl" rotWithShape="0">
              <a:srgbClr val="000000">
                <a:alpha val="9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1315641"/>
            <a:ext cx="4029075" cy="271463"/>
          </a:xfrm>
          <a:prstGeom prst="rect">
            <a:avLst/>
          </a:pr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229" y="1385078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1376" y="1386632"/>
            <a:ext cx="14738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CONFIGURATION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642491" y="2127052"/>
            <a:ext cx="3658493" cy="9525"/>
          </a:xfrm>
          <a:prstGeom prst="rect">
            <a:avLst/>
          </a:prstGeom>
          <a:solidFill>
            <a:srgbClr val="F0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42491" y="1816894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497" y="1864900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7411" y="1809304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790" dirty="0"/>
          </a:p>
        </p:txBody>
      </p:sp>
      <p:sp>
        <p:nvSpPr>
          <p:cNvPr id="18" name="Text 13"/>
          <p:cNvSpPr/>
          <p:nvPr/>
        </p:nvSpPr>
        <p:spPr>
          <a:xfrm>
            <a:off x="957411" y="1937147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16.x Flexible Server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642491" y="2519065"/>
            <a:ext cx="3658493" cy="9525"/>
          </a:xfrm>
          <a:prstGeom prst="rect">
            <a:avLst/>
          </a:prstGeom>
          <a:solidFill>
            <a:srgbClr val="F0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42491" y="2208907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497" y="2256913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7411" y="2201317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790" dirty="0"/>
          </a:p>
        </p:txBody>
      </p:sp>
      <p:sp>
        <p:nvSpPr>
          <p:cNvPr id="23" name="Text 17"/>
          <p:cNvSpPr/>
          <p:nvPr/>
        </p:nvSpPr>
        <p:spPr>
          <a:xfrm>
            <a:off x="957411" y="2329160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Standard_B1ms · 1 </a:t>
            </a:r>
            <a:r>
              <a:rPr lang="en-US" sz="73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vCore</a:t>
            </a: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 GB memory</a:t>
            </a:r>
            <a:endParaRPr lang="en-US" sz="730" dirty="0"/>
          </a:p>
        </p:txBody>
      </p:sp>
      <p:sp>
        <p:nvSpPr>
          <p:cNvPr id="24" name="Text 18"/>
          <p:cNvSpPr/>
          <p:nvPr/>
        </p:nvSpPr>
        <p:spPr>
          <a:xfrm>
            <a:off x="642491" y="2911078"/>
            <a:ext cx="3658493" cy="9525"/>
          </a:xfrm>
          <a:prstGeom prst="rect">
            <a:avLst/>
          </a:prstGeom>
          <a:solidFill>
            <a:srgbClr val="F0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642491" y="2600920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0497" y="2648926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7411" y="2593330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790" dirty="0"/>
          </a:p>
        </p:txBody>
      </p:sp>
      <p:sp>
        <p:nvSpPr>
          <p:cNvPr id="28" name="Text 21"/>
          <p:cNvSpPr/>
          <p:nvPr/>
        </p:nvSpPr>
        <p:spPr>
          <a:xfrm>
            <a:off x="957411" y="2721173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GB · auto-grow enabled</a:t>
            </a:r>
            <a:endParaRPr lang="en-US" sz="730" dirty="0"/>
          </a:p>
        </p:txBody>
      </p:sp>
      <p:sp>
        <p:nvSpPr>
          <p:cNvPr id="29" name="Text 22"/>
          <p:cNvSpPr/>
          <p:nvPr/>
        </p:nvSpPr>
        <p:spPr>
          <a:xfrm>
            <a:off x="642491" y="3303091"/>
            <a:ext cx="3658493" cy="9525"/>
          </a:xfrm>
          <a:prstGeom prst="rect">
            <a:avLst/>
          </a:prstGeom>
          <a:solidFill>
            <a:srgbClr val="F0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42491" y="2992934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497" y="3040940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57411" y="2985343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790" dirty="0"/>
          </a:p>
        </p:txBody>
      </p:sp>
      <p:sp>
        <p:nvSpPr>
          <p:cNvPr id="33" name="Text 25"/>
          <p:cNvSpPr/>
          <p:nvPr/>
        </p:nvSpPr>
        <p:spPr>
          <a:xfrm>
            <a:off x="957411" y="3113187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retention · geo-redundant</a:t>
            </a:r>
            <a:endParaRPr lang="en-US" sz="730" dirty="0"/>
          </a:p>
        </p:txBody>
      </p:sp>
      <p:sp>
        <p:nvSpPr>
          <p:cNvPr id="34" name="Text 26"/>
          <p:cNvSpPr/>
          <p:nvPr/>
        </p:nvSpPr>
        <p:spPr>
          <a:xfrm>
            <a:off x="642491" y="3384947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0497" y="3432953"/>
            <a:ext cx="132588" cy="132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57411" y="3377357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</a:t>
            </a:r>
            <a:endParaRPr lang="en-US" sz="790" dirty="0"/>
          </a:p>
        </p:txBody>
      </p:sp>
      <p:sp>
        <p:nvSpPr>
          <p:cNvPr id="37" name="Text 28"/>
          <p:cNvSpPr/>
          <p:nvPr/>
        </p:nvSpPr>
        <p:spPr>
          <a:xfrm>
            <a:off x="957411" y="3505200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· North Central US</a:t>
            </a:r>
            <a:endParaRPr lang="en-US" sz="730" dirty="0"/>
          </a:p>
        </p:txBody>
      </p:sp>
      <p:sp>
        <p:nvSpPr>
          <p:cNvPr id="38" name="Text 29"/>
          <p:cNvSpPr/>
          <p:nvPr/>
        </p:nvSpPr>
        <p:spPr>
          <a:xfrm>
            <a:off x="4657725" y="1315641"/>
            <a:ext cx="4029075" cy="2550914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/>
          <a:effectLst>
            <a:outerShdw blurRad="157480" dist="29210" dir="5400000" algn="bl" rotWithShape="0">
              <a:srgbClr val="000000">
                <a:alpha val="9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0"/>
          <p:cNvSpPr/>
          <p:nvPr/>
        </p:nvSpPr>
        <p:spPr>
          <a:xfrm>
            <a:off x="4657725" y="1315641"/>
            <a:ext cx="4029075" cy="271463"/>
          </a:xfrm>
          <a:prstGeom prst="rect">
            <a:avLst/>
          </a:pr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1754" y="1385078"/>
            <a:ext cx="132588" cy="13258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971901" y="1386632"/>
            <a:ext cx="161026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CONNECTIVITY</a:t>
            </a:r>
            <a:endParaRPr lang="en-US" sz="680" dirty="0"/>
          </a:p>
        </p:txBody>
      </p:sp>
      <p:sp>
        <p:nvSpPr>
          <p:cNvPr id="42" name="Text 32"/>
          <p:cNvSpPr/>
          <p:nvPr/>
        </p:nvSpPr>
        <p:spPr>
          <a:xfrm>
            <a:off x="4843016" y="2127052"/>
            <a:ext cx="3658493" cy="9525"/>
          </a:xfrm>
          <a:prstGeom prst="rect">
            <a:avLst/>
          </a:prstGeom>
          <a:solidFill>
            <a:srgbClr val="F0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4843016" y="1816894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91022" y="1864900"/>
            <a:ext cx="132588" cy="13258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157936" y="1809304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Access</a:t>
            </a:r>
            <a:endParaRPr lang="en-US" sz="790" dirty="0"/>
          </a:p>
        </p:txBody>
      </p:sp>
      <p:sp>
        <p:nvSpPr>
          <p:cNvPr id="46" name="Text 35"/>
          <p:cNvSpPr/>
          <p:nvPr/>
        </p:nvSpPr>
        <p:spPr>
          <a:xfrm>
            <a:off x="5157936" y="1937147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 · no public access</a:t>
            </a:r>
            <a:endParaRPr lang="en-US" sz="730" dirty="0"/>
          </a:p>
        </p:txBody>
      </p:sp>
      <p:sp>
        <p:nvSpPr>
          <p:cNvPr id="47" name="Text 36"/>
          <p:cNvSpPr/>
          <p:nvPr/>
        </p:nvSpPr>
        <p:spPr>
          <a:xfrm>
            <a:off x="4843016" y="2519065"/>
            <a:ext cx="3658493" cy="9525"/>
          </a:xfrm>
          <a:prstGeom prst="rect">
            <a:avLst/>
          </a:prstGeom>
          <a:solidFill>
            <a:srgbClr val="F0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7"/>
          <p:cNvSpPr/>
          <p:nvPr/>
        </p:nvSpPr>
        <p:spPr>
          <a:xfrm>
            <a:off x="4843016" y="2208907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91022" y="2256913"/>
            <a:ext cx="132588" cy="13258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5157936" y="2201317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Integration</a:t>
            </a:r>
            <a:endParaRPr lang="en-US" sz="790" dirty="0"/>
          </a:p>
        </p:txBody>
      </p:sp>
      <p:sp>
        <p:nvSpPr>
          <p:cNvPr id="51" name="Text 39"/>
          <p:cNvSpPr/>
          <p:nvPr/>
        </p:nvSpPr>
        <p:spPr>
          <a:xfrm>
            <a:off x="5157936" y="2329160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 err="1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vnet-ems-readykit</a:t>
            </a: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snet-db</a:t>
            </a:r>
            <a:endParaRPr lang="en-US" sz="730" dirty="0"/>
          </a:p>
        </p:txBody>
      </p:sp>
      <p:sp>
        <p:nvSpPr>
          <p:cNvPr id="52" name="Text 40"/>
          <p:cNvSpPr/>
          <p:nvPr/>
        </p:nvSpPr>
        <p:spPr>
          <a:xfrm>
            <a:off x="4843016" y="2911078"/>
            <a:ext cx="3658493" cy="9525"/>
          </a:xfrm>
          <a:prstGeom prst="rect">
            <a:avLst/>
          </a:prstGeom>
          <a:solidFill>
            <a:srgbClr val="F0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1"/>
          <p:cNvSpPr/>
          <p:nvPr/>
        </p:nvSpPr>
        <p:spPr>
          <a:xfrm>
            <a:off x="4843016" y="2600920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91022" y="2648926"/>
            <a:ext cx="132588" cy="132588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5157936" y="2593330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Enforcement</a:t>
            </a:r>
            <a:endParaRPr lang="en-US" sz="790" dirty="0"/>
          </a:p>
        </p:txBody>
      </p:sp>
      <p:sp>
        <p:nvSpPr>
          <p:cNvPr id="56" name="Text 43"/>
          <p:cNvSpPr/>
          <p:nvPr/>
        </p:nvSpPr>
        <p:spPr>
          <a:xfrm>
            <a:off x="5157936" y="2721173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· require_secure_transport enabled</a:t>
            </a:r>
            <a:endParaRPr lang="en-US" sz="730" dirty="0"/>
          </a:p>
        </p:txBody>
      </p:sp>
      <p:sp>
        <p:nvSpPr>
          <p:cNvPr id="57" name="Text 44"/>
          <p:cNvSpPr/>
          <p:nvPr/>
        </p:nvSpPr>
        <p:spPr>
          <a:xfrm>
            <a:off x="4843016" y="3303091"/>
            <a:ext cx="3658493" cy="9525"/>
          </a:xfrm>
          <a:prstGeom prst="rect">
            <a:avLst/>
          </a:prstGeom>
          <a:solidFill>
            <a:srgbClr val="F0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5"/>
          <p:cNvSpPr/>
          <p:nvPr/>
        </p:nvSpPr>
        <p:spPr>
          <a:xfrm>
            <a:off x="4843016" y="2992934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91022" y="3040940"/>
            <a:ext cx="132588" cy="132588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5157936" y="2985343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790" dirty="0"/>
          </a:p>
        </p:txBody>
      </p:sp>
      <p:sp>
        <p:nvSpPr>
          <p:cNvPr id="61" name="Text 47"/>
          <p:cNvSpPr/>
          <p:nvPr/>
        </p:nvSpPr>
        <p:spPr>
          <a:xfrm>
            <a:off x="5157936" y="3113187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authentication enabled</a:t>
            </a:r>
            <a:endParaRPr lang="en-US" sz="730" dirty="0"/>
          </a:p>
        </p:txBody>
      </p:sp>
      <p:sp>
        <p:nvSpPr>
          <p:cNvPr id="62" name="Text 48"/>
          <p:cNvSpPr/>
          <p:nvPr/>
        </p:nvSpPr>
        <p:spPr>
          <a:xfrm>
            <a:off x="4843016" y="3384947"/>
            <a:ext cx="228600" cy="228600"/>
          </a:xfrm>
          <a:prstGeom prst="roundRect">
            <a:avLst>
              <a:gd name="adj" fmla="val 21667"/>
            </a:avLst>
          </a:prstGeom>
          <a:solidFill>
            <a:srgbClr val="CC1B1B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91022" y="3432953"/>
            <a:ext cx="132588" cy="132588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5157936" y="3377357"/>
            <a:ext cx="367793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</a:t>
            </a:r>
            <a:endParaRPr lang="en-US" sz="790" dirty="0"/>
          </a:p>
        </p:txBody>
      </p:sp>
      <p:sp>
        <p:nvSpPr>
          <p:cNvPr id="65" name="Text 50"/>
          <p:cNvSpPr/>
          <p:nvPr/>
        </p:nvSpPr>
        <p:spPr>
          <a:xfrm>
            <a:off x="5157936" y="3505200"/>
            <a:ext cx="3677930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73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rules — VNet only</a:t>
            </a:r>
            <a:endParaRPr lang="en-US" sz="730" dirty="0"/>
          </a:p>
        </p:txBody>
      </p:sp>
      <p:sp>
        <p:nvSpPr>
          <p:cNvPr id="66" name="Text 51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7936" y="4934257"/>
            <a:ext cx="132588" cy="132588"/>
          </a:xfrm>
          <a:prstGeom prst="rect">
            <a:avLst/>
          </a:prstGeom>
        </p:spPr>
      </p:pic>
      <p:sp>
        <p:nvSpPr>
          <p:cNvPr id="68" name="Text 52"/>
          <p:cNvSpPr/>
          <p:nvPr/>
        </p:nvSpPr>
        <p:spPr>
          <a:xfrm>
            <a:off x="1186011" y="4935885"/>
            <a:ext cx="233255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GROUP: </a:t>
            </a:r>
            <a:r>
              <a:rPr lang="en-US" sz="680" b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r>
              <a:rPr lang="en-US" sz="6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680" b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</a:t>
            </a:r>
            <a:r>
              <a:rPr lang="en-US" sz="6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680" b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readykit</a:t>
            </a:r>
            <a:r>
              <a:rPr lang="en-US" sz="6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-dev</a:t>
            </a:r>
            <a:endParaRPr lang="en-US" sz="680" dirty="0"/>
          </a:p>
        </p:txBody>
      </p:sp>
      <p:sp>
        <p:nvSpPr>
          <p:cNvPr id="69" name="Text 53"/>
          <p:cNvSpPr/>
          <p:nvPr/>
        </p:nvSpPr>
        <p:spPr>
          <a:xfrm>
            <a:off x="3535114" y="4943475"/>
            <a:ext cx="7590" cy="114300"/>
          </a:xfrm>
          <a:prstGeom prst="rect">
            <a:avLst/>
          </a:prstGeom>
          <a:solidFill>
            <a:srgbClr val="3A3A3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737381" y="4934257"/>
            <a:ext cx="132588" cy="132588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3885456" y="4935885"/>
            <a:ext cx="101877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North Central US</a:t>
            </a:r>
            <a:endParaRPr lang="en-US" sz="680" dirty="0"/>
          </a:p>
        </p:txBody>
      </p:sp>
      <p:sp>
        <p:nvSpPr>
          <p:cNvPr id="72" name="Text 55"/>
          <p:cNvSpPr/>
          <p:nvPr/>
        </p:nvSpPr>
        <p:spPr>
          <a:xfrm>
            <a:off x="5040213" y="4943475"/>
            <a:ext cx="7590" cy="114300"/>
          </a:xfrm>
          <a:prstGeom prst="rect">
            <a:avLst/>
          </a:prstGeom>
          <a:solidFill>
            <a:srgbClr val="3A3A3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42480" y="4934257"/>
            <a:ext cx="132588" cy="132588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5390555" y="4935885"/>
            <a:ext cx="294974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16.X · FLEXIBLE SERVER · VNET ISOLATED</a:t>
            </a:r>
            <a:endParaRPr lang="en-US" sz="680" dirty="0"/>
          </a:p>
        </p:txBody>
      </p:sp>
      <p:sp>
        <p:nvSpPr>
          <p:cNvPr id="75" name="Text 1">
            <a:extLst>
              <a:ext uri="{FF2B5EF4-FFF2-40B4-BE49-F238E27FC236}">
                <a16:creationId xmlns:a16="http://schemas.microsoft.com/office/drawing/2014/main" id="{4D9E55C7-5A9E-FE53-38D8-3E2C4C85B1E1}"/>
              </a:ext>
            </a:extLst>
          </p:cNvPr>
          <p:cNvSpPr/>
          <p:nvPr/>
        </p:nvSpPr>
        <p:spPr>
          <a:xfrm>
            <a:off x="-1" y="0"/>
            <a:ext cx="45719" cy="4802386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082BB-0B1F-D2A5-40B1-DED13558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A0E620-CC08-3086-3C7B-AB22B40EE061}"/>
              </a:ext>
            </a:extLst>
          </p:cNvPr>
          <p:cNvSpPr/>
          <p:nvPr/>
        </p:nvSpPr>
        <p:spPr>
          <a:xfrm>
            <a:off x="0" y="0"/>
            <a:ext cx="9144000" cy="1014859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E8A60C6-32F1-A7F4-08C6-6FFA05102296}"/>
              </a:ext>
            </a:extLst>
          </p:cNvPr>
          <p:cNvSpPr/>
          <p:nvPr/>
        </p:nvSpPr>
        <p:spPr>
          <a:xfrm rot="16200000">
            <a:off x="-376497" y="3821000"/>
            <a:ext cx="124499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-60" normalizeH="0" baseline="0" noProof="0" dirty="0">
                <a:ln>
                  <a:noFill/>
                </a:ln>
                <a:solidFill>
                  <a:srgbClr val="CC1B1B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FEATURE-02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7C1430B-6391-0926-1A2F-49FA2541B1B2}"/>
              </a:ext>
            </a:extLst>
          </p:cNvPr>
          <p:cNvSpPr/>
          <p:nvPr/>
        </p:nvSpPr>
        <p:spPr>
          <a:xfrm rot="16200000">
            <a:off x="-700793" y="1895657"/>
            <a:ext cx="1851627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15"/>
              </a:lnSpc>
              <a:spcAft>
                <a:spcPts val="280"/>
              </a:spcAft>
            </a:pPr>
            <a:r>
              <a:rPr lang="en-US" sz="1010" b="1" kern="0" spc="1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Flexible Server</a:t>
            </a:r>
            <a:endParaRPr lang="en-US" sz="101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E7A94-0659-829B-672E-2CEC85DAE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37" y="166418"/>
            <a:ext cx="8463544" cy="44494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8AD6876C-FB4C-99E3-9C00-097E6C2DE62E}"/>
              </a:ext>
            </a:extLst>
          </p:cNvPr>
          <p:cNvSpPr/>
          <p:nvPr/>
        </p:nvSpPr>
        <p:spPr>
          <a:xfrm>
            <a:off x="-1" y="0"/>
            <a:ext cx="45719" cy="4782328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2">
            <a:extLst>
              <a:ext uri="{FF2B5EF4-FFF2-40B4-BE49-F238E27FC236}">
                <a16:creationId xmlns:a16="http://schemas.microsoft.com/office/drawing/2014/main" id="{0DC2A952-7E2C-9802-7BC9-44BD892E1C8D}"/>
              </a:ext>
            </a:extLst>
          </p:cNvPr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97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276350"/>
            <a:ext cx="9144000" cy="9525"/>
          </a:xfrm>
          <a:prstGeom prst="rect">
            <a:avLst/>
          </a:prstGeom>
          <a:solidFill>
            <a:srgbClr val="D8D8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5313" y="257770"/>
            <a:ext cx="471488" cy="471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73732"/>
            <a:ext cx="880567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spcAft>
                <a:spcPts val="340"/>
              </a:spcAft>
              <a:buNone/>
            </a:pPr>
            <a:r>
              <a:rPr lang="en-US" sz="2140" kern="0" spc="-21" dirty="0">
                <a:solidFill>
                  <a:srgbClr val="CC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FEATURE-03</a:t>
            </a:r>
            <a:r>
              <a:rPr lang="en-US" sz="2140" kern="0" spc="-21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· Azure Static Web Apps</a:t>
            </a:r>
            <a:endParaRPr lang="en-US" sz="2140" dirty="0"/>
          </a:p>
        </p:txBody>
      </p:sp>
      <p:sp>
        <p:nvSpPr>
          <p:cNvPr id="9" name="Text 6"/>
          <p:cNvSpPr/>
          <p:nvPr/>
        </p:nvSpPr>
        <p:spPr>
          <a:xfrm>
            <a:off x="457200" y="915739"/>
            <a:ext cx="905256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8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delivery with integrated CI/CD — frontend hosting evidence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457200" y="1443335"/>
            <a:ext cx="8229600" cy="475952"/>
          </a:xfrm>
          <a:prstGeom prst="roundRect">
            <a:avLst>
              <a:gd name="adj" fmla="val 9072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1443335"/>
            <a:ext cx="19050" cy="475952"/>
          </a:xfrm>
          <a:custGeom>
            <a:avLst/>
            <a:gdLst/>
            <a:ahLst/>
            <a:cxnLst/>
            <a:rect l="l" t="t" r="r" b="b"/>
            <a:pathLst>
              <a:path w="19050" h="4759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68581"/>
                </a:lnTo>
                <a:lnTo>
                  <a:pt x="16669" y="466856"/>
                </a:lnTo>
                <a:lnTo>
                  <a:pt x="14288" y="464862"/>
                </a:lnTo>
                <a:lnTo>
                  <a:pt x="11906" y="462546"/>
                </a:lnTo>
                <a:lnTo>
                  <a:pt x="9525" y="459825"/>
                </a:lnTo>
                <a:lnTo>
                  <a:pt x="7144" y="456561"/>
                </a:lnTo>
                <a:lnTo>
                  <a:pt x="4763" y="452486"/>
                </a:lnTo>
                <a:lnTo>
                  <a:pt x="2381" y="446914"/>
                </a:lnTo>
                <a:lnTo>
                  <a:pt x="0" y="43277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3555" y="154543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9E5E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067" y="1614943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2620" y="1601242"/>
            <a:ext cx="136764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</a:t>
            </a:r>
            <a:endParaRPr lang="en-US" sz="840" dirty="0"/>
          </a:p>
        </p:txBody>
      </p:sp>
      <p:sp>
        <p:nvSpPr>
          <p:cNvPr id="15" name="Text 11"/>
          <p:cNvSpPr/>
          <p:nvPr/>
        </p:nvSpPr>
        <p:spPr>
          <a:xfrm>
            <a:off x="2320230" y="1567011"/>
            <a:ext cx="7590" cy="228600"/>
          </a:xfrm>
          <a:prstGeom prst="rect">
            <a:avLst/>
          </a:prstGeom>
          <a:solidFill>
            <a:srgbClr val="D8D8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471291" y="1611064"/>
            <a:ext cx="6668765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distributed across Azure CDN PoPs worldwide, sub-100ms TTFB</a:t>
            </a:r>
            <a:endParaRPr lang="en-US" sz="790" dirty="0"/>
          </a:p>
        </p:txBody>
      </p:sp>
      <p:sp>
        <p:nvSpPr>
          <p:cNvPr id="17" name="Text 13"/>
          <p:cNvSpPr/>
          <p:nvPr/>
        </p:nvSpPr>
        <p:spPr>
          <a:xfrm>
            <a:off x="8460432" y="1622301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457200" y="1990279"/>
            <a:ext cx="8229600" cy="475952"/>
          </a:xfrm>
          <a:prstGeom prst="roundRect">
            <a:avLst>
              <a:gd name="adj" fmla="val 9072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57200" y="1990279"/>
            <a:ext cx="19050" cy="475952"/>
          </a:xfrm>
          <a:custGeom>
            <a:avLst/>
            <a:gdLst/>
            <a:ahLst/>
            <a:cxnLst/>
            <a:rect l="l" t="t" r="r" b="b"/>
            <a:pathLst>
              <a:path w="19050" h="4759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68581"/>
                </a:lnTo>
                <a:lnTo>
                  <a:pt x="16669" y="466856"/>
                </a:lnTo>
                <a:lnTo>
                  <a:pt x="14288" y="464862"/>
                </a:lnTo>
                <a:lnTo>
                  <a:pt x="11906" y="462546"/>
                </a:lnTo>
                <a:lnTo>
                  <a:pt x="9525" y="459825"/>
                </a:lnTo>
                <a:lnTo>
                  <a:pt x="7144" y="456561"/>
                </a:lnTo>
                <a:lnTo>
                  <a:pt x="4763" y="452486"/>
                </a:lnTo>
                <a:lnTo>
                  <a:pt x="2381" y="446914"/>
                </a:lnTo>
                <a:lnTo>
                  <a:pt x="0" y="43277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83555" y="2092375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9E5E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067" y="2161886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2620" y="2148185"/>
            <a:ext cx="136764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840" dirty="0"/>
          </a:p>
        </p:txBody>
      </p:sp>
      <p:sp>
        <p:nvSpPr>
          <p:cNvPr id="23" name="Text 18"/>
          <p:cNvSpPr/>
          <p:nvPr/>
        </p:nvSpPr>
        <p:spPr>
          <a:xfrm>
            <a:off x="2320230" y="2113955"/>
            <a:ext cx="7590" cy="228600"/>
          </a:xfrm>
          <a:prstGeom prst="rect">
            <a:avLst/>
          </a:prstGeom>
          <a:solidFill>
            <a:srgbClr val="D8D8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2471291" y="2158008"/>
            <a:ext cx="6668765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auto-triggered on PR merge to main branch</a:t>
            </a:r>
            <a:endParaRPr lang="en-US" sz="790" dirty="0"/>
          </a:p>
        </p:txBody>
      </p:sp>
      <p:sp>
        <p:nvSpPr>
          <p:cNvPr id="25" name="Text 20"/>
          <p:cNvSpPr/>
          <p:nvPr/>
        </p:nvSpPr>
        <p:spPr>
          <a:xfrm>
            <a:off x="8460432" y="2169244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20" dirty="0"/>
          </a:p>
        </p:txBody>
      </p:sp>
      <p:sp>
        <p:nvSpPr>
          <p:cNvPr id="26" name="Text 21"/>
          <p:cNvSpPr/>
          <p:nvPr/>
        </p:nvSpPr>
        <p:spPr>
          <a:xfrm>
            <a:off x="457200" y="2537222"/>
            <a:ext cx="8229600" cy="475952"/>
          </a:xfrm>
          <a:prstGeom prst="roundRect">
            <a:avLst>
              <a:gd name="adj" fmla="val 9072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57200" y="2537222"/>
            <a:ext cx="19050" cy="475952"/>
          </a:xfrm>
          <a:custGeom>
            <a:avLst/>
            <a:gdLst/>
            <a:ahLst/>
            <a:cxnLst/>
            <a:rect l="l" t="t" r="r" b="b"/>
            <a:pathLst>
              <a:path w="19050" h="4759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68581"/>
                </a:lnTo>
                <a:lnTo>
                  <a:pt x="16669" y="466856"/>
                </a:lnTo>
                <a:lnTo>
                  <a:pt x="14288" y="464862"/>
                </a:lnTo>
                <a:lnTo>
                  <a:pt x="11906" y="462546"/>
                </a:lnTo>
                <a:lnTo>
                  <a:pt x="9525" y="459825"/>
                </a:lnTo>
                <a:lnTo>
                  <a:pt x="7144" y="456561"/>
                </a:lnTo>
                <a:lnTo>
                  <a:pt x="4763" y="452486"/>
                </a:lnTo>
                <a:lnTo>
                  <a:pt x="2381" y="446914"/>
                </a:lnTo>
                <a:lnTo>
                  <a:pt x="0" y="43277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83555" y="2639318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9E5E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067" y="2708830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2620" y="2695129"/>
            <a:ext cx="138204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Domains &amp; TLS</a:t>
            </a:r>
            <a:endParaRPr lang="en-US" sz="840" dirty="0"/>
          </a:p>
        </p:txBody>
      </p:sp>
      <p:sp>
        <p:nvSpPr>
          <p:cNvPr id="31" name="Text 25"/>
          <p:cNvSpPr/>
          <p:nvPr/>
        </p:nvSpPr>
        <p:spPr>
          <a:xfrm>
            <a:off x="2333327" y="2660898"/>
            <a:ext cx="7590" cy="228600"/>
          </a:xfrm>
          <a:prstGeom prst="rect">
            <a:avLst/>
          </a:prstGeom>
          <a:solidFill>
            <a:srgbClr val="D8D8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2484388" y="2704951"/>
            <a:ext cx="6654358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domain mapped, free managed TLS certificate, HTTPS-only</a:t>
            </a:r>
            <a:endParaRPr lang="en-US" sz="790" dirty="0"/>
          </a:p>
        </p:txBody>
      </p:sp>
      <p:sp>
        <p:nvSpPr>
          <p:cNvPr id="33" name="Text 27"/>
          <p:cNvSpPr/>
          <p:nvPr/>
        </p:nvSpPr>
        <p:spPr>
          <a:xfrm>
            <a:off x="8460432" y="2716188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20" dirty="0"/>
          </a:p>
        </p:txBody>
      </p:sp>
      <p:sp>
        <p:nvSpPr>
          <p:cNvPr id="34" name="Text 28"/>
          <p:cNvSpPr/>
          <p:nvPr/>
        </p:nvSpPr>
        <p:spPr>
          <a:xfrm>
            <a:off x="457200" y="3084165"/>
            <a:ext cx="8229600" cy="475952"/>
          </a:xfrm>
          <a:prstGeom prst="roundRect">
            <a:avLst>
              <a:gd name="adj" fmla="val 9072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57200" y="3084165"/>
            <a:ext cx="19050" cy="475952"/>
          </a:xfrm>
          <a:custGeom>
            <a:avLst/>
            <a:gdLst/>
            <a:ahLst/>
            <a:cxnLst/>
            <a:rect l="l" t="t" r="r" b="b"/>
            <a:pathLst>
              <a:path w="19050" h="4759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68581"/>
                </a:lnTo>
                <a:lnTo>
                  <a:pt x="16669" y="466856"/>
                </a:lnTo>
                <a:lnTo>
                  <a:pt x="14288" y="464862"/>
                </a:lnTo>
                <a:lnTo>
                  <a:pt x="11906" y="462546"/>
                </a:lnTo>
                <a:lnTo>
                  <a:pt x="9525" y="459825"/>
                </a:lnTo>
                <a:lnTo>
                  <a:pt x="7144" y="456561"/>
                </a:lnTo>
                <a:lnTo>
                  <a:pt x="4763" y="452486"/>
                </a:lnTo>
                <a:lnTo>
                  <a:pt x="2381" y="446914"/>
                </a:lnTo>
                <a:lnTo>
                  <a:pt x="0" y="43277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583555" y="318626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9E5E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067" y="3255773"/>
            <a:ext cx="132588" cy="132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62620" y="3242072"/>
            <a:ext cx="136764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Backend API</a:t>
            </a:r>
            <a:endParaRPr lang="en-US" sz="840" dirty="0"/>
          </a:p>
        </p:txBody>
      </p:sp>
      <p:sp>
        <p:nvSpPr>
          <p:cNvPr id="39" name="Text 32"/>
          <p:cNvSpPr/>
          <p:nvPr/>
        </p:nvSpPr>
        <p:spPr>
          <a:xfrm>
            <a:off x="2320230" y="3207841"/>
            <a:ext cx="7590" cy="228600"/>
          </a:xfrm>
          <a:prstGeom prst="rect">
            <a:avLst/>
          </a:prstGeom>
          <a:solidFill>
            <a:srgbClr val="D8D8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2471291" y="3251895"/>
            <a:ext cx="6668765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configured, API base URL bound to App Service endpoint</a:t>
            </a:r>
            <a:endParaRPr lang="en-US" sz="790" dirty="0"/>
          </a:p>
        </p:txBody>
      </p:sp>
      <p:sp>
        <p:nvSpPr>
          <p:cNvPr id="41" name="Text 34"/>
          <p:cNvSpPr/>
          <p:nvPr/>
        </p:nvSpPr>
        <p:spPr>
          <a:xfrm>
            <a:off x="8460432" y="3263131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20" dirty="0"/>
          </a:p>
        </p:txBody>
      </p:sp>
      <p:sp>
        <p:nvSpPr>
          <p:cNvPr id="42" name="Text 35"/>
          <p:cNvSpPr/>
          <p:nvPr/>
        </p:nvSpPr>
        <p:spPr>
          <a:xfrm>
            <a:off x="457200" y="3631109"/>
            <a:ext cx="8229600" cy="475952"/>
          </a:xfrm>
          <a:prstGeom prst="roundRect">
            <a:avLst>
              <a:gd name="adj" fmla="val 9072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57200" y="3631109"/>
            <a:ext cx="19050" cy="475952"/>
          </a:xfrm>
          <a:custGeom>
            <a:avLst/>
            <a:gdLst/>
            <a:ahLst/>
            <a:cxnLst/>
            <a:rect l="l" t="t" r="r" b="b"/>
            <a:pathLst>
              <a:path w="19050" h="47595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68581"/>
                </a:lnTo>
                <a:lnTo>
                  <a:pt x="16669" y="466856"/>
                </a:lnTo>
                <a:lnTo>
                  <a:pt x="14288" y="464862"/>
                </a:lnTo>
                <a:lnTo>
                  <a:pt x="11906" y="462546"/>
                </a:lnTo>
                <a:lnTo>
                  <a:pt x="9525" y="459825"/>
                </a:lnTo>
                <a:lnTo>
                  <a:pt x="7144" y="456561"/>
                </a:lnTo>
                <a:lnTo>
                  <a:pt x="4763" y="452486"/>
                </a:lnTo>
                <a:lnTo>
                  <a:pt x="2381" y="446914"/>
                </a:lnTo>
                <a:lnTo>
                  <a:pt x="0" y="432772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583555" y="3733205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9E5E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067" y="3802716"/>
            <a:ext cx="132588" cy="13258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62620" y="3789015"/>
            <a:ext cx="136764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17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Environments</a:t>
            </a:r>
            <a:endParaRPr lang="en-US" sz="840" dirty="0"/>
          </a:p>
        </p:txBody>
      </p:sp>
      <p:sp>
        <p:nvSpPr>
          <p:cNvPr id="47" name="Text 39"/>
          <p:cNvSpPr/>
          <p:nvPr/>
        </p:nvSpPr>
        <p:spPr>
          <a:xfrm>
            <a:off x="2320230" y="3754785"/>
            <a:ext cx="7590" cy="228600"/>
          </a:xfrm>
          <a:prstGeom prst="rect">
            <a:avLst/>
          </a:prstGeom>
          <a:solidFill>
            <a:srgbClr val="D8D8D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2471291" y="3798838"/>
            <a:ext cx="6668765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preview environments auto-provisioned per branch</a:t>
            </a:r>
            <a:endParaRPr lang="en-US" sz="790" dirty="0"/>
          </a:p>
        </p:txBody>
      </p:sp>
      <p:sp>
        <p:nvSpPr>
          <p:cNvPr id="49" name="Text 41"/>
          <p:cNvSpPr/>
          <p:nvPr/>
        </p:nvSpPr>
        <p:spPr>
          <a:xfrm>
            <a:off x="8460432" y="3810074"/>
            <a:ext cx="1127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620" dirty="0"/>
          </a:p>
        </p:txBody>
      </p:sp>
      <p:sp>
        <p:nvSpPr>
          <p:cNvPr id="50" name="Text 42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6372A0D9-B0E5-A0C9-989C-AB12FF210576}"/>
              </a:ext>
            </a:extLst>
          </p:cNvPr>
          <p:cNvSpPr/>
          <p:nvPr/>
        </p:nvSpPr>
        <p:spPr>
          <a:xfrm>
            <a:off x="-1" y="0"/>
            <a:ext cx="45719" cy="4838700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F66C-A708-25F6-1916-0D2BDA00C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37ED8C-A710-D972-D366-478BDD50977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EFF0537-945D-85E2-952E-37F526D6858C}"/>
              </a:ext>
            </a:extLst>
          </p:cNvPr>
          <p:cNvSpPr/>
          <p:nvPr/>
        </p:nvSpPr>
        <p:spPr>
          <a:xfrm rot="16200000">
            <a:off x="-353638" y="3899690"/>
            <a:ext cx="124499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-60" normalizeH="0" baseline="0" noProof="0" dirty="0">
                <a:ln>
                  <a:noFill/>
                </a:ln>
                <a:solidFill>
                  <a:srgbClr val="CC1B1B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FEATURE-03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7189E3E-DBD7-3002-5C72-5E78DB8594A7}"/>
              </a:ext>
            </a:extLst>
          </p:cNvPr>
          <p:cNvSpPr/>
          <p:nvPr/>
        </p:nvSpPr>
        <p:spPr>
          <a:xfrm rot="16200000">
            <a:off x="-476592" y="2106265"/>
            <a:ext cx="1468105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15"/>
              </a:lnSpc>
              <a:spcAft>
                <a:spcPts val="280"/>
              </a:spcAft>
            </a:pPr>
            <a:r>
              <a:rPr lang="en-US" sz="1010" b="1" kern="0" spc="1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Apps</a:t>
            </a:r>
            <a:endParaRPr lang="en-US" sz="101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1D914-02BF-DA41-11FD-0A5110601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03" y="100813"/>
            <a:ext cx="8513611" cy="4605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8C8AD403-B199-BFF7-C61B-7254B3A28F00}"/>
              </a:ext>
            </a:extLst>
          </p:cNvPr>
          <p:cNvSpPr/>
          <p:nvPr/>
        </p:nvSpPr>
        <p:spPr>
          <a:xfrm>
            <a:off x="-1" y="0"/>
            <a:ext cx="45719" cy="4806854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2">
            <a:extLst>
              <a:ext uri="{FF2B5EF4-FFF2-40B4-BE49-F238E27FC236}">
                <a16:creationId xmlns:a16="http://schemas.microsoft.com/office/drawing/2014/main" id="{EFD9096C-A578-83D5-F395-F786B0EC5DB0}"/>
              </a:ext>
            </a:extLst>
          </p:cNvPr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410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C1B1B">
                  <a:alpha val="7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8000" t="92000" r="92000" b="8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CC1B1B">
                  <a:alpha val="5000"/>
                </a:srgbClr>
              </a:gs>
              <a:gs pos="35000">
                <a:srgbClr val="000000">
                  <a:alpha val="0"/>
                </a:srgbClr>
              </a:gs>
            </a:gsLst>
            <a:path path="circle">
              <a:fillToRect l="92000" t="8000" r="8000" b="92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91282"/>
            <a:ext cx="7784745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spcAft>
                <a:spcPts val="230"/>
              </a:spcAft>
              <a:buNone/>
            </a:pPr>
            <a:r>
              <a:rPr lang="en-US" sz="1910" b="1" kern="0" spc="-20" dirty="0">
                <a:solidFill>
                  <a:srgbClr val="CC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FEATURE-04</a:t>
            </a:r>
            <a:r>
              <a:rPr lang="en-US" sz="1910" kern="0" spc="-20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· Azure AD App Registration</a:t>
            </a:r>
            <a:endParaRPr lang="en-US" sz="1910" dirty="0"/>
          </a:p>
        </p:txBody>
      </p:sp>
      <p:sp>
        <p:nvSpPr>
          <p:cNvPr id="8" name="Text 6"/>
          <p:cNvSpPr/>
          <p:nvPr/>
        </p:nvSpPr>
        <p:spPr>
          <a:xfrm>
            <a:off x="457200" y="787301"/>
            <a:ext cx="800300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1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platform integration — OAuth2 &amp; OIDC authentication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7732663" y="300930"/>
            <a:ext cx="954137" cy="319832"/>
          </a:xfrm>
          <a:prstGeom prst="roundRect">
            <a:avLst>
              <a:gd name="adj" fmla="val 17869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2973" y="375047"/>
            <a:ext cx="171450" cy="1714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61573" y="371921"/>
            <a:ext cx="577408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50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8061573" y="464493"/>
            <a:ext cx="577408" cy="8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2"/>
              </a:lnSpc>
              <a:buNone/>
            </a:pPr>
            <a:r>
              <a:rPr lang="en-US" sz="5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Registration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457200" y="1047601"/>
            <a:ext cx="8229600" cy="13841"/>
          </a:xfrm>
          <a:prstGeom prst="rect">
            <a:avLst/>
          </a:prstGeom>
          <a:gradFill rotWithShape="1">
            <a:gsLst>
              <a:gs pos="0">
                <a:srgbClr val="CC1B1B"/>
              </a:gs>
              <a:gs pos="7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" y="1189583"/>
            <a:ext cx="4057650" cy="1232892"/>
          </a:xfrm>
          <a:prstGeom prst="roundRect">
            <a:avLst>
              <a:gd name="adj" fmla="val 3502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1189583"/>
            <a:ext cx="4057650" cy="19050"/>
          </a:xfrm>
          <a:custGeom>
            <a:avLst/>
            <a:gdLst/>
            <a:ahLst/>
            <a:cxnLst/>
            <a:rect l="l" t="t" r="r" b="b"/>
            <a:pathLst>
              <a:path w="4057650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4050279" y="19050"/>
                </a:lnTo>
                <a:lnTo>
                  <a:pt x="4048553" y="16669"/>
                </a:lnTo>
                <a:lnTo>
                  <a:pt x="4046560" y="14288"/>
                </a:lnTo>
                <a:lnTo>
                  <a:pt x="4044244" y="11906"/>
                </a:lnTo>
                <a:lnTo>
                  <a:pt x="4041523" y="9525"/>
                </a:lnTo>
                <a:lnTo>
                  <a:pt x="4038259" y="7144"/>
                </a:lnTo>
                <a:lnTo>
                  <a:pt x="4034183" y="4763"/>
                </a:lnTo>
                <a:lnTo>
                  <a:pt x="4028611" y="2381"/>
                </a:lnTo>
                <a:lnTo>
                  <a:pt x="4014470" y="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171950" y="1208633"/>
            <a:ext cx="342900" cy="342900"/>
          </a:xfrm>
          <a:prstGeom prst="rect">
            <a:avLst/>
          </a:prstGeom>
          <a:gradFill rotWithShape="1">
            <a:gsLst>
              <a:gs pos="60000">
                <a:srgbClr val="000000">
                  <a:alpha val="0"/>
                </a:srgbClr>
              </a:gs>
              <a:gs pos="60000">
                <a:srgbClr val="CC1B1B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8650" y="1366093"/>
            <a:ext cx="314920" cy="314920"/>
          </a:xfrm>
          <a:prstGeom prst="roundRect">
            <a:avLst>
              <a:gd name="adj" fmla="val 18147"/>
            </a:avLst>
          </a:prstGeom>
          <a:solidFill>
            <a:srgbClr val="F9E5E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42" y="1457185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8650" y="1767334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Credentials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28650" y="1981944"/>
            <a:ext cx="3789045" cy="30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(client) ID registered in tenant directory; client secret generated and stored as a </a:t>
            </a:r>
            <a:r>
              <a:rPr lang="en-US" sz="680" dirty="0">
                <a:solidFill>
                  <a:srgbClr val="A01414"/>
                </a:solidFill>
                <a:highlight>
                  <a:srgbClr val="F0F0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 Vault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reference — never in source code.</a:t>
            </a:r>
            <a:endParaRPr lang="en-US" sz="760" dirty="0"/>
          </a:p>
        </p:txBody>
      </p:sp>
      <p:sp>
        <p:nvSpPr>
          <p:cNvPr id="21" name="Text 17"/>
          <p:cNvSpPr/>
          <p:nvPr/>
        </p:nvSpPr>
        <p:spPr>
          <a:xfrm>
            <a:off x="4629150" y="1189583"/>
            <a:ext cx="4057650" cy="1232892"/>
          </a:xfrm>
          <a:prstGeom prst="roundRect">
            <a:avLst>
              <a:gd name="adj" fmla="val 3502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629150" y="1189583"/>
            <a:ext cx="4057650" cy="19050"/>
          </a:xfrm>
          <a:custGeom>
            <a:avLst/>
            <a:gdLst/>
            <a:ahLst/>
            <a:cxnLst/>
            <a:rect l="l" t="t" r="r" b="b"/>
            <a:pathLst>
              <a:path w="4057650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4050279" y="19050"/>
                </a:lnTo>
                <a:lnTo>
                  <a:pt x="4048553" y="16669"/>
                </a:lnTo>
                <a:lnTo>
                  <a:pt x="4046560" y="14288"/>
                </a:lnTo>
                <a:lnTo>
                  <a:pt x="4044244" y="11906"/>
                </a:lnTo>
                <a:lnTo>
                  <a:pt x="4041523" y="9525"/>
                </a:lnTo>
                <a:lnTo>
                  <a:pt x="4038259" y="7144"/>
                </a:lnTo>
                <a:lnTo>
                  <a:pt x="4034183" y="4763"/>
                </a:lnTo>
                <a:lnTo>
                  <a:pt x="4028611" y="2381"/>
                </a:lnTo>
                <a:lnTo>
                  <a:pt x="4014470" y="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8343900" y="1208633"/>
            <a:ext cx="342900" cy="342900"/>
          </a:xfrm>
          <a:prstGeom prst="rect">
            <a:avLst/>
          </a:prstGeom>
          <a:gradFill rotWithShape="1">
            <a:gsLst>
              <a:gs pos="60000">
                <a:srgbClr val="000000">
                  <a:alpha val="0"/>
                </a:srgbClr>
              </a:gs>
              <a:gs pos="60000">
                <a:srgbClr val="CC1B1B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00600" y="1366093"/>
            <a:ext cx="314920" cy="314920"/>
          </a:xfrm>
          <a:prstGeom prst="roundRect">
            <a:avLst>
              <a:gd name="adj" fmla="val 18147"/>
            </a:avLst>
          </a:prstGeom>
          <a:solidFill>
            <a:srgbClr val="F9E5E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1692" y="1457185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00600" y="1767334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URIs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800600" y="1981944"/>
            <a:ext cx="37890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and staging callback URIs registered; SPA implicit grant flow </a:t>
            </a:r>
            <a:r>
              <a:rPr lang="en-US" sz="76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Auth code + PKCE enforced for all token requests.</a:t>
            </a:r>
            <a:endParaRPr lang="en-US" sz="760" dirty="0"/>
          </a:p>
        </p:txBody>
      </p:sp>
      <p:sp>
        <p:nvSpPr>
          <p:cNvPr id="28" name="Text 23"/>
          <p:cNvSpPr/>
          <p:nvPr/>
        </p:nvSpPr>
        <p:spPr>
          <a:xfrm>
            <a:off x="457200" y="2536775"/>
            <a:ext cx="4057650" cy="1232892"/>
          </a:xfrm>
          <a:prstGeom prst="roundRect">
            <a:avLst>
              <a:gd name="adj" fmla="val 3502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57200" y="2536775"/>
            <a:ext cx="4057650" cy="19050"/>
          </a:xfrm>
          <a:custGeom>
            <a:avLst/>
            <a:gdLst/>
            <a:ahLst/>
            <a:cxnLst/>
            <a:rect l="l" t="t" r="r" b="b"/>
            <a:pathLst>
              <a:path w="4057650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4050279" y="19050"/>
                </a:lnTo>
                <a:lnTo>
                  <a:pt x="4048553" y="16669"/>
                </a:lnTo>
                <a:lnTo>
                  <a:pt x="4046560" y="14288"/>
                </a:lnTo>
                <a:lnTo>
                  <a:pt x="4044244" y="11906"/>
                </a:lnTo>
                <a:lnTo>
                  <a:pt x="4041523" y="9525"/>
                </a:lnTo>
                <a:lnTo>
                  <a:pt x="4038259" y="7144"/>
                </a:lnTo>
                <a:lnTo>
                  <a:pt x="4034183" y="4763"/>
                </a:lnTo>
                <a:lnTo>
                  <a:pt x="4028611" y="2381"/>
                </a:lnTo>
                <a:lnTo>
                  <a:pt x="4014470" y="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171950" y="2555825"/>
            <a:ext cx="342900" cy="342900"/>
          </a:xfrm>
          <a:prstGeom prst="rect">
            <a:avLst/>
          </a:prstGeom>
          <a:gradFill rotWithShape="1">
            <a:gsLst>
              <a:gs pos="60000">
                <a:srgbClr val="000000">
                  <a:alpha val="0"/>
                </a:srgbClr>
              </a:gs>
              <a:gs pos="60000">
                <a:srgbClr val="CC1B1B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28650" y="2713286"/>
            <a:ext cx="314920" cy="314920"/>
          </a:xfrm>
          <a:prstGeom prst="roundRect">
            <a:avLst>
              <a:gd name="adj" fmla="val 18147"/>
            </a:avLst>
          </a:prstGeom>
          <a:solidFill>
            <a:srgbClr val="F9E5E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742" y="2804377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8650" y="3114526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Permissions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28650" y="3329136"/>
            <a:ext cx="3789045" cy="31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Graph: </a:t>
            </a:r>
            <a:r>
              <a:rPr lang="en-US" sz="680" dirty="0">
                <a:solidFill>
                  <a:srgbClr val="A01414"/>
                </a:solidFill>
                <a:highlight>
                  <a:srgbClr val="F0F0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User.Read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delegated scope. Custom API scope </a:t>
            </a:r>
            <a:r>
              <a:rPr lang="en-US" sz="680" dirty="0">
                <a:solidFill>
                  <a:srgbClr val="A01414"/>
                </a:solidFill>
                <a:highlight>
                  <a:srgbClr val="F0F0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emsreadykit-api/.default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exposed and consented at tenant level.</a:t>
            </a:r>
            <a:endParaRPr lang="en-US" sz="760" dirty="0"/>
          </a:p>
        </p:txBody>
      </p:sp>
      <p:sp>
        <p:nvSpPr>
          <p:cNvPr id="35" name="Text 29"/>
          <p:cNvSpPr/>
          <p:nvPr/>
        </p:nvSpPr>
        <p:spPr>
          <a:xfrm>
            <a:off x="4629150" y="2536775"/>
            <a:ext cx="4057650" cy="1232892"/>
          </a:xfrm>
          <a:prstGeom prst="roundRect">
            <a:avLst>
              <a:gd name="adj" fmla="val 3502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4629150" y="2536775"/>
            <a:ext cx="4057650" cy="19050"/>
          </a:xfrm>
          <a:custGeom>
            <a:avLst/>
            <a:gdLst/>
            <a:ahLst/>
            <a:cxnLst/>
            <a:rect l="l" t="t" r="r" b="b"/>
            <a:pathLst>
              <a:path w="4057650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4050279" y="19050"/>
                </a:lnTo>
                <a:lnTo>
                  <a:pt x="4048553" y="16669"/>
                </a:lnTo>
                <a:lnTo>
                  <a:pt x="4046560" y="14288"/>
                </a:lnTo>
                <a:lnTo>
                  <a:pt x="4044244" y="11906"/>
                </a:lnTo>
                <a:lnTo>
                  <a:pt x="4041523" y="9525"/>
                </a:lnTo>
                <a:lnTo>
                  <a:pt x="4038259" y="7144"/>
                </a:lnTo>
                <a:lnTo>
                  <a:pt x="4034183" y="4763"/>
                </a:lnTo>
                <a:lnTo>
                  <a:pt x="4028611" y="2381"/>
                </a:lnTo>
                <a:lnTo>
                  <a:pt x="4014470" y="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8343900" y="2555825"/>
            <a:ext cx="342900" cy="342900"/>
          </a:xfrm>
          <a:prstGeom prst="rect">
            <a:avLst/>
          </a:prstGeom>
          <a:gradFill rotWithShape="1">
            <a:gsLst>
              <a:gs pos="60000">
                <a:srgbClr val="000000">
                  <a:alpha val="0"/>
                </a:srgbClr>
              </a:gs>
              <a:gs pos="60000">
                <a:srgbClr val="CC1B1B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800600" y="2713286"/>
            <a:ext cx="314920" cy="314920"/>
          </a:xfrm>
          <a:prstGeom prst="roundRect">
            <a:avLst>
              <a:gd name="adj" fmla="val 18147"/>
            </a:avLst>
          </a:prstGeom>
          <a:solidFill>
            <a:srgbClr val="F9E5E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1692" y="2804377"/>
            <a:ext cx="132588" cy="132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800600" y="3114526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1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Configuration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4800600" y="3329136"/>
            <a:ext cx="3789045" cy="31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lifetime: </a:t>
            </a:r>
            <a:r>
              <a:rPr lang="en-US" sz="680" dirty="0">
                <a:solidFill>
                  <a:srgbClr val="A01414"/>
                </a:solidFill>
                <a:highlight>
                  <a:srgbClr val="F0F0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hour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refresh token: </a:t>
            </a:r>
            <a:r>
              <a:rPr lang="en-US" sz="680" dirty="0">
                <a:solidFill>
                  <a:srgbClr val="A01414"/>
                </a:solidFill>
                <a:highlight>
                  <a:srgbClr val="F0F0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24 hours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Optional claims enabled: </a:t>
            </a:r>
            <a:r>
              <a:rPr lang="en-US" sz="680" dirty="0">
                <a:solidFill>
                  <a:srgbClr val="A01414"/>
                </a:solidFill>
                <a:highlight>
                  <a:srgbClr val="F0F0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upn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680" dirty="0">
                <a:solidFill>
                  <a:srgbClr val="A01414"/>
                </a:solidFill>
                <a:highlight>
                  <a:srgbClr val="F0F0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680" dirty="0">
                <a:solidFill>
                  <a:srgbClr val="A01414"/>
                </a:solidFill>
                <a:highlight>
                  <a:srgbClr val="F0F0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r>
              <a:rPr lang="en-US" sz="76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mapped to JWT payload.</a:t>
            </a:r>
            <a:endParaRPr lang="en-US" sz="760" dirty="0"/>
          </a:p>
        </p:txBody>
      </p:sp>
      <p:sp>
        <p:nvSpPr>
          <p:cNvPr id="42" name="Text 35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0" y="4857750"/>
            <a:ext cx="9144000" cy="9525"/>
          </a:xfrm>
          <a:prstGeom prst="rect">
            <a:avLst/>
          </a:prstGeom>
          <a:solidFill>
            <a:srgbClr val="D0D0D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1941978" y="4913087"/>
            <a:ext cx="401836" cy="167476"/>
          </a:xfrm>
          <a:prstGeom prst="roundRect">
            <a:avLst>
              <a:gd name="adj" fmla="val 12891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OAuth2</a:t>
            </a:r>
            <a:endParaRPr lang="en-US" sz="620" dirty="0"/>
          </a:p>
        </p:txBody>
      </p:sp>
      <p:sp>
        <p:nvSpPr>
          <p:cNvPr id="46" name="Text 39"/>
          <p:cNvSpPr/>
          <p:nvPr/>
        </p:nvSpPr>
        <p:spPr>
          <a:xfrm>
            <a:off x="3490539" y="4913087"/>
            <a:ext cx="307181" cy="167476"/>
          </a:xfrm>
          <a:prstGeom prst="roundRect">
            <a:avLst>
              <a:gd name="adj" fmla="val 12891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</a:t>
            </a:r>
            <a:endParaRPr lang="en-US" sz="620" dirty="0"/>
          </a:p>
        </p:txBody>
      </p:sp>
      <p:sp>
        <p:nvSpPr>
          <p:cNvPr id="47" name="Text 40"/>
          <p:cNvSpPr/>
          <p:nvPr/>
        </p:nvSpPr>
        <p:spPr>
          <a:xfrm>
            <a:off x="5346281" y="4899478"/>
            <a:ext cx="307181" cy="167476"/>
          </a:xfrm>
          <a:prstGeom prst="roundRect">
            <a:avLst>
              <a:gd name="adj" fmla="val 12891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</a:t>
            </a:r>
            <a:endParaRPr lang="en-US" sz="620" dirty="0"/>
          </a:p>
        </p:txBody>
      </p:sp>
      <p:sp>
        <p:nvSpPr>
          <p:cNvPr id="48" name="Text 41"/>
          <p:cNvSpPr/>
          <p:nvPr/>
        </p:nvSpPr>
        <p:spPr>
          <a:xfrm>
            <a:off x="6595466" y="4913087"/>
            <a:ext cx="496491" cy="167476"/>
          </a:xfrm>
          <a:prstGeom prst="roundRect">
            <a:avLst>
              <a:gd name="adj" fmla="val 12891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5C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 ID</a:t>
            </a:r>
            <a:endParaRPr lang="en-US" sz="620" dirty="0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0064D493-4EF4-787C-9738-50F8ACC0AC13}"/>
              </a:ext>
            </a:extLst>
          </p:cNvPr>
          <p:cNvSpPr/>
          <p:nvPr/>
        </p:nvSpPr>
        <p:spPr>
          <a:xfrm>
            <a:off x="0" y="0"/>
            <a:ext cx="45719" cy="4825547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8659-B17B-2A4A-E3CC-FEA184E2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9E2F73-9B20-D9A0-EC47-DB9D6187109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1734A8-E378-2D9D-BDD8-8AD47D3897C8}"/>
              </a:ext>
            </a:extLst>
          </p:cNvPr>
          <p:cNvSpPr/>
          <p:nvPr/>
        </p:nvSpPr>
        <p:spPr>
          <a:xfrm rot="16200000">
            <a:off x="-385205" y="3928174"/>
            <a:ext cx="124499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-60" normalizeH="0" baseline="0" noProof="0" dirty="0">
                <a:ln>
                  <a:noFill/>
                </a:ln>
                <a:solidFill>
                  <a:srgbClr val="CC1B1B"/>
                </a:solidFill>
                <a:effectLst/>
                <a:uLnTx/>
                <a:uFillTx/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FEATURE-04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413AA18-CB1D-738D-8EF2-FDA37799B3B7}"/>
              </a:ext>
            </a:extLst>
          </p:cNvPr>
          <p:cNvSpPr/>
          <p:nvPr/>
        </p:nvSpPr>
        <p:spPr>
          <a:xfrm rot="16200000">
            <a:off x="-677616" y="2044920"/>
            <a:ext cx="170796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15"/>
              </a:lnSpc>
              <a:spcAft>
                <a:spcPts val="280"/>
              </a:spcAft>
            </a:pPr>
            <a:r>
              <a:rPr lang="en-US" sz="1010" b="1" kern="0" spc="1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App Registration</a:t>
            </a:r>
            <a:endParaRPr lang="en-US" sz="101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96256-C396-1796-6431-B7C9FAC69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72" y="84915"/>
            <a:ext cx="8574961" cy="4623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4C6CC4C1-B811-F99C-43DA-A5EABF10197A}"/>
              </a:ext>
            </a:extLst>
          </p:cNvPr>
          <p:cNvSpPr/>
          <p:nvPr/>
        </p:nvSpPr>
        <p:spPr>
          <a:xfrm>
            <a:off x="-1" y="0"/>
            <a:ext cx="45719" cy="4793385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2">
            <a:extLst>
              <a:ext uri="{FF2B5EF4-FFF2-40B4-BE49-F238E27FC236}">
                <a16:creationId xmlns:a16="http://schemas.microsoft.com/office/drawing/2014/main" id="{0644F5BA-52F9-20CD-9685-83742E87C472}"/>
              </a:ext>
            </a:extLst>
          </p:cNvPr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55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055787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1046262"/>
            <a:ext cx="9144000" cy="9525"/>
          </a:xfrm>
          <a:prstGeom prst="rect">
            <a:avLst/>
          </a:prstGeom>
          <a:solidFill>
            <a:srgbClr val="2E2E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200620"/>
            <a:ext cx="42487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70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SUMMARY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514350" y="361801"/>
            <a:ext cx="4132914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kern="0" spc="-2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Delivery — Key Takeaways</a:t>
            </a:r>
            <a:endParaRPr lang="en-US" sz="1910" dirty="0"/>
          </a:p>
        </p:txBody>
      </p:sp>
      <p:sp>
        <p:nvSpPr>
          <p:cNvPr id="7" name="Text 5"/>
          <p:cNvSpPr/>
          <p:nvPr/>
        </p:nvSpPr>
        <p:spPr>
          <a:xfrm>
            <a:off x="514350" y="657820"/>
            <a:ext cx="42487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1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ReadyKit is fully deployed, secured, and production-ready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14350" y="874961"/>
            <a:ext cx="342900" cy="13841"/>
          </a:xfrm>
          <a:prstGeom prst="roundRect">
            <a:avLst>
              <a:gd name="adj" fmla="val 55054"/>
            </a:avLst>
          </a:prstGeom>
          <a:solidFill>
            <a:srgbClr val="CC1B1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350" y="1199257"/>
            <a:ext cx="8172450" cy="543520"/>
          </a:xfrm>
          <a:prstGeom prst="roundRect">
            <a:avLst>
              <a:gd name="adj" fmla="val 7945"/>
            </a:avLst>
          </a:prstGeom>
          <a:solidFill>
            <a:srgbClr val="2424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4350" y="1199257"/>
            <a:ext cx="19050" cy="543520"/>
          </a:xfrm>
          <a:custGeom>
            <a:avLst/>
            <a:gdLst/>
            <a:ahLst/>
            <a:cxnLst/>
            <a:rect l="l" t="t" r="r" b="b"/>
            <a:pathLst>
              <a:path w="19050" h="543520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536149"/>
                </a:lnTo>
                <a:lnTo>
                  <a:pt x="16669" y="534424"/>
                </a:lnTo>
                <a:lnTo>
                  <a:pt x="14288" y="532430"/>
                </a:lnTo>
                <a:lnTo>
                  <a:pt x="11906" y="530114"/>
                </a:lnTo>
                <a:lnTo>
                  <a:pt x="9525" y="527393"/>
                </a:lnTo>
                <a:lnTo>
                  <a:pt x="7144" y="524129"/>
                </a:lnTo>
                <a:lnTo>
                  <a:pt x="4763" y="520053"/>
                </a:lnTo>
                <a:lnTo>
                  <a:pt x="2381" y="514482"/>
                </a:lnTo>
                <a:lnTo>
                  <a:pt x="0" y="50034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33400" y="1199257"/>
            <a:ext cx="543520" cy="543520"/>
          </a:xfrm>
          <a:prstGeom prst="rect">
            <a:avLst/>
          </a:prstGeom>
          <a:solidFill>
            <a:srgbClr val="CC1B1B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67395" y="1199257"/>
            <a:ext cx="9525" cy="543520"/>
          </a:xfrm>
          <a:prstGeom prst="rect">
            <a:avLst/>
          </a:prstGeom>
          <a:solidFill>
            <a:srgbClr val="2E2E2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091" y="1395710"/>
            <a:ext cx="150465" cy="1504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595" y="1411932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1448991" y="1328886"/>
            <a:ext cx="633856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Azure Resources Verified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448991" y="1487537"/>
            <a:ext cx="633856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FEATURE-01</a:t>
            </a:r>
            <a:r>
              <a:rPr lang="en-US" sz="76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04 all provisioned and active in North Central US</a:t>
            </a:r>
            <a:endParaRPr lang="en-US" sz="760" dirty="0"/>
          </a:p>
        </p:txBody>
      </p:sp>
      <p:sp>
        <p:nvSpPr>
          <p:cNvPr id="20" name="Text 16"/>
          <p:cNvSpPr/>
          <p:nvPr/>
        </p:nvSpPr>
        <p:spPr>
          <a:xfrm>
            <a:off x="7314911" y="1362149"/>
            <a:ext cx="1246382" cy="137072"/>
          </a:xfrm>
          <a:prstGeom prst="roundRect">
            <a:avLst>
              <a:gd name="adj" fmla="val 12378"/>
            </a:avLst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90" b="1" kern="0" spc="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NORTH </a:t>
            </a:r>
            <a:r>
              <a:rPr lang="en-US" sz="590" b="1" kern="0" spc="8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r>
              <a:rPr lang="en-US" sz="590" b="1" kern="0" spc="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</a:t>
            </a:r>
            <a:endParaRPr lang="en-US" sz="590" dirty="0"/>
          </a:p>
        </p:txBody>
      </p:sp>
      <p:sp>
        <p:nvSpPr>
          <p:cNvPr id="21" name="Text 17"/>
          <p:cNvSpPr/>
          <p:nvPr/>
        </p:nvSpPr>
        <p:spPr>
          <a:xfrm>
            <a:off x="514350" y="1813768"/>
            <a:ext cx="8172450" cy="543520"/>
          </a:xfrm>
          <a:prstGeom prst="roundRect">
            <a:avLst>
              <a:gd name="adj" fmla="val 7945"/>
            </a:avLst>
          </a:prstGeom>
          <a:solidFill>
            <a:srgbClr val="2424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14350" y="1813768"/>
            <a:ext cx="19050" cy="543520"/>
          </a:xfrm>
          <a:custGeom>
            <a:avLst/>
            <a:gdLst/>
            <a:ahLst/>
            <a:cxnLst/>
            <a:rect l="l" t="t" r="r" b="b"/>
            <a:pathLst>
              <a:path w="19050" h="543520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536149"/>
                </a:lnTo>
                <a:lnTo>
                  <a:pt x="16669" y="534424"/>
                </a:lnTo>
                <a:lnTo>
                  <a:pt x="14288" y="532430"/>
                </a:lnTo>
                <a:lnTo>
                  <a:pt x="11906" y="530114"/>
                </a:lnTo>
                <a:lnTo>
                  <a:pt x="9525" y="527393"/>
                </a:lnTo>
                <a:lnTo>
                  <a:pt x="7144" y="524129"/>
                </a:lnTo>
                <a:lnTo>
                  <a:pt x="4763" y="520053"/>
                </a:lnTo>
                <a:lnTo>
                  <a:pt x="2381" y="514482"/>
                </a:lnTo>
                <a:lnTo>
                  <a:pt x="0" y="50034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33400" y="1813768"/>
            <a:ext cx="543520" cy="543520"/>
          </a:xfrm>
          <a:prstGeom prst="rect">
            <a:avLst/>
          </a:prstGeom>
          <a:solidFill>
            <a:srgbClr val="CC1B1B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067395" y="1813768"/>
            <a:ext cx="9525" cy="543520"/>
          </a:xfrm>
          <a:prstGeom prst="rect">
            <a:avLst/>
          </a:prstGeom>
          <a:solidFill>
            <a:srgbClr val="2E2E2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091" y="2010221"/>
            <a:ext cx="150465" cy="15046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43595" y="2026444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20" dirty="0"/>
          </a:p>
        </p:txBody>
      </p:sp>
      <p:sp>
        <p:nvSpPr>
          <p:cNvPr id="27" name="Text 22"/>
          <p:cNvSpPr/>
          <p:nvPr/>
        </p:nvSpPr>
        <p:spPr>
          <a:xfrm>
            <a:off x="1448991" y="1943398"/>
            <a:ext cx="616077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Secure-by-Default Architecture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448991" y="2102048"/>
            <a:ext cx="616077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VNet, HTTPS-only, Azure AD authentication, Key Vault secrets on every resource</a:t>
            </a:r>
            <a:endParaRPr lang="en-US" sz="760" dirty="0"/>
          </a:p>
        </p:txBody>
      </p:sp>
      <p:sp>
        <p:nvSpPr>
          <p:cNvPr id="29" name="Text 24"/>
          <p:cNvSpPr/>
          <p:nvPr/>
        </p:nvSpPr>
        <p:spPr>
          <a:xfrm>
            <a:off x="7336631" y="1998315"/>
            <a:ext cx="1230832" cy="174427"/>
          </a:xfrm>
          <a:prstGeom prst="roundRect">
            <a:avLst>
              <a:gd name="adj" fmla="val 12378"/>
            </a:avLst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90" b="1" kern="0" spc="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· OAUTH2</a:t>
            </a:r>
            <a:endParaRPr lang="en-US" sz="590" dirty="0"/>
          </a:p>
        </p:txBody>
      </p:sp>
      <p:sp>
        <p:nvSpPr>
          <p:cNvPr id="30" name="Text 25"/>
          <p:cNvSpPr/>
          <p:nvPr/>
        </p:nvSpPr>
        <p:spPr>
          <a:xfrm>
            <a:off x="514350" y="2428280"/>
            <a:ext cx="8172450" cy="543520"/>
          </a:xfrm>
          <a:prstGeom prst="roundRect">
            <a:avLst>
              <a:gd name="adj" fmla="val 7945"/>
            </a:avLst>
          </a:prstGeom>
          <a:solidFill>
            <a:srgbClr val="2424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14350" y="2428280"/>
            <a:ext cx="19050" cy="543520"/>
          </a:xfrm>
          <a:custGeom>
            <a:avLst/>
            <a:gdLst/>
            <a:ahLst/>
            <a:cxnLst/>
            <a:rect l="l" t="t" r="r" b="b"/>
            <a:pathLst>
              <a:path w="19050" h="543520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536149"/>
                </a:lnTo>
                <a:lnTo>
                  <a:pt x="16669" y="534424"/>
                </a:lnTo>
                <a:lnTo>
                  <a:pt x="14288" y="532430"/>
                </a:lnTo>
                <a:lnTo>
                  <a:pt x="11906" y="530114"/>
                </a:lnTo>
                <a:lnTo>
                  <a:pt x="9525" y="527393"/>
                </a:lnTo>
                <a:lnTo>
                  <a:pt x="7144" y="524129"/>
                </a:lnTo>
                <a:lnTo>
                  <a:pt x="4763" y="520053"/>
                </a:lnTo>
                <a:lnTo>
                  <a:pt x="2381" y="514482"/>
                </a:lnTo>
                <a:lnTo>
                  <a:pt x="0" y="50034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33400" y="2428280"/>
            <a:ext cx="543520" cy="543520"/>
          </a:xfrm>
          <a:prstGeom prst="rect">
            <a:avLst/>
          </a:prstGeom>
          <a:solidFill>
            <a:srgbClr val="CC1B1B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1067395" y="2428280"/>
            <a:ext cx="9525" cy="543520"/>
          </a:xfrm>
          <a:prstGeom prst="rect">
            <a:avLst/>
          </a:prstGeom>
          <a:solidFill>
            <a:srgbClr val="2E2E2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091" y="2624733"/>
            <a:ext cx="150465" cy="15046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143595" y="2640955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20" dirty="0"/>
          </a:p>
        </p:txBody>
      </p:sp>
      <p:sp>
        <p:nvSpPr>
          <p:cNvPr id="36" name="Text 30"/>
          <p:cNvSpPr/>
          <p:nvPr/>
        </p:nvSpPr>
        <p:spPr>
          <a:xfrm>
            <a:off x="1448991" y="2557909"/>
            <a:ext cx="6500143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API Backend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448991" y="2716560"/>
            <a:ext cx="6500143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REST API, auto-scaling App Service, structured error handling and correlation IDs</a:t>
            </a:r>
            <a:endParaRPr lang="en-US" sz="760" dirty="0"/>
          </a:p>
        </p:txBody>
      </p:sp>
      <p:sp>
        <p:nvSpPr>
          <p:cNvPr id="38" name="Text 32"/>
          <p:cNvSpPr/>
          <p:nvPr/>
        </p:nvSpPr>
        <p:spPr>
          <a:xfrm>
            <a:off x="7645152" y="2612827"/>
            <a:ext cx="916141" cy="174427"/>
          </a:xfrm>
          <a:prstGeom prst="roundRect">
            <a:avLst>
              <a:gd name="adj" fmla="val 12378"/>
            </a:avLst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90" b="1" kern="0" spc="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NODE.JS</a:t>
            </a:r>
            <a:endParaRPr lang="en-US" sz="590" dirty="0"/>
          </a:p>
        </p:txBody>
      </p:sp>
      <p:sp>
        <p:nvSpPr>
          <p:cNvPr id="39" name="Text 33"/>
          <p:cNvSpPr/>
          <p:nvPr/>
        </p:nvSpPr>
        <p:spPr>
          <a:xfrm>
            <a:off x="514350" y="3042791"/>
            <a:ext cx="8172450" cy="543520"/>
          </a:xfrm>
          <a:prstGeom prst="roundRect">
            <a:avLst>
              <a:gd name="adj" fmla="val 7945"/>
            </a:avLst>
          </a:prstGeom>
          <a:solidFill>
            <a:srgbClr val="2424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514350" y="3042791"/>
            <a:ext cx="19050" cy="543520"/>
          </a:xfrm>
          <a:custGeom>
            <a:avLst/>
            <a:gdLst/>
            <a:ahLst/>
            <a:cxnLst/>
            <a:rect l="l" t="t" r="r" b="b"/>
            <a:pathLst>
              <a:path w="19050" h="543520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536149"/>
                </a:lnTo>
                <a:lnTo>
                  <a:pt x="16669" y="534424"/>
                </a:lnTo>
                <a:lnTo>
                  <a:pt x="14288" y="532430"/>
                </a:lnTo>
                <a:lnTo>
                  <a:pt x="11906" y="530114"/>
                </a:lnTo>
                <a:lnTo>
                  <a:pt x="9525" y="527393"/>
                </a:lnTo>
                <a:lnTo>
                  <a:pt x="7144" y="524129"/>
                </a:lnTo>
                <a:lnTo>
                  <a:pt x="4763" y="520053"/>
                </a:lnTo>
                <a:lnTo>
                  <a:pt x="2381" y="514482"/>
                </a:lnTo>
                <a:lnTo>
                  <a:pt x="0" y="50034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33400" y="3042791"/>
            <a:ext cx="543520" cy="543520"/>
          </a:xfrm>
          <a:prstGeom prst="rect">
            <a:avLst/>
          </a:prstGeom>
          <a:solidFill>
            <a:srgbClr val="CC1B1B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1067395" y="3042791"/>
            <a:ext cx="9525" cy="543520"/>
          </a:xfrm>
          <a:prstGeom prst="rect">
            <a:avLst/>
          </a:prstGeom>
          <a:solidFill>
            <a:srgbClr val="2E2E2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091" y="3239244"/>
            <a:ext cx="150465" cy="150465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143595" y="3255466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20" dirty="0"/>
          </a:p>
        </p:txBody>
      </p:sp>
      <p:sp>
        <p:nvSpPr>
          <p:cNvPr id="45" name="Text 38"/>
          <p:cNvSpPr/>
          <p:nvPr/>
        </p:nvSpPr>
        <p:spPr>
          <a:xfrm>
            <a:off x="1448991" y="3172420"/>
            <a:ext cx="6254576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Data Layer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448991" y="3331071"/>
            <a:ext cx="6254576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Flexible Server with VNet isolation, SSL enforcement, automated backups, and versioned migrations</a:t>
            </a:r>
            <a:endParaRPr lang="en-US" sz="760" dirty="0"/>
          </a:p>
        </p:txBody>
      </p:sp>
      <p:sp>
        <p:nvSpPr>
          <p:cNvPr id="47" name="Text 40"/>
          <p:cNvSpPr/>
          <p:nvPr/>
        </p:nvSpPr>
        <p:spPr>
          <a:xfrm>
            <a:off x="7421910" y="3227338"/>
            <a:ext cx="1143848" cy="174427"/>
          </a:xfrm>
          <a:prstGeom prst="roundRect">
            <a:avLst>
              <a:gd name="adj" fmla="val 12378"/>
            </a:avLst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90" b="1" kern="0" spc="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PAAS</a:t>
            </a:r>
            <a:endParaRPr lang="en-US" sz="590" dirty="0"/>
          </a:p>
        </p:txBody>
      </p:sp>
      <p:sp>
        <p:nvSpPr>
          <p:cNvPr id="48" name="Text 41"/>
          <p:cNvSpPr/>
          <p:nvPr/>
        </p:nvSpPr>
        <p:spPr>
          <a:xfrm>
            <a:off x="514350" y="3657302"/>
            <a:ext cx="8172450" cy="543520"/>
          </a:xfrm>
          <a:prstGeom prst="roundRect">
            <a:avLst>
              <a:gd name="adj" fmla="val 7945"/>
            </a:avLst>
          </a:prstGeom>
          <a:solidFill>
            <a:srgbClr val="2424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514350" y="3657302"/>
            <a:ext cx="19050" cy="543520"/>
          </a:xfrm>
          <a:custGeom>
            <a:avLst/>
            <a:gdLst/>
            <a:ahLst/>
            <a:cxnLst/>
            <a:rect l="l" t="t" r="r" b="b"/>
            <a:pathLst>
              <a:path w="19050" h="543520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536149"/>
                </a:lnTo>
                <a:lnTo>
                  <a:pt x="16669" y="534424"/>
                </a:lnTo>
                <a:lnTo>
                  <a:pt x="14288" y="532430"/>
                </a:lnTo>
                <a:lnTo>
                  <a:pt x="11906" y="530114"/>
                </a:lnTo>
                <a:lnTo>
                  <a:pt x="9525" y="527393"/>
                </a:lnTo>
                <a:lnTo>
                  <a:pt x="7144" y="524129"/>
                </a:lnTo>
                <a:lnTo>
                  <a:pt x="4763" y="520053"/>
                </a:lnTo>
                <a:lnTo>
                  <a:pt x="2381" y="514482"/>
                </a:lnTo>
                <a:lnTo>
                  <a:pt x="0" y="500340"/>
                </a:lnTo>
                <a:close/>
              </a:path>
            </a:pathLst>
          </a:custGeom>
          <a:solidFill>
            <a:srgbClr val="CC1B1B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533400" y="3657302"/>
            <a:ext cx="543520" cy="543520"/>
          </a:xfrm>
          <a:prstGeom prst="rect">
            <a:avLst/>
          </a:prstGeom>
          <a:solidFill>
            <a:srgbClr val="CC1B1B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1067395" y="3657302"/>
            <a:ext cx="9525" cy="543520"/>
          </a:xfrm>
          <a:prstGeom prst="rect">
            <a:avLst/>
          </a:prstGeom>
          <a:solidFill>
            <a:srgbClr val="2E2E2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091" y="3853755"/>
            <a:ext cx="150465" cy="150465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1143595" y="3869978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20" dirty="0"/>
          </a:p>
        </p:txBody>
      </p:sp>
      <p:sp>
        <p:nvSpPr>
          <p:cNvPr id="54" name="Text 46"/>
          <p:cNvSpPr/>
          <p:nvPr/>
        </p:nvSpPr>
        <p:spPr>
          <a:xfrm>
            <a:off x="1448991" y="3786932"/>
            <a:ext cx="610019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CC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CI/CD Observability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1448991" y="3945582"/>
            <a:ext cx="6100197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pipeline, Application Insights, Azure Monitor alerts, and zero-downtime deploy slots</a:t>
            </a:r>
            <a:endParaRPr lang="en-US" sz="760" dirty="0"/>
          </a:p>
        </p:txBody>
      </p:sp>
      <p:sp>
        <p:nvSpPr>
          <p:cNvPr id="56" name="Text 48"/>
          <p:cNvSpPr/>
          <p:nvPr/>
        </p:nvSpPr>
        <p:spPr>
          <a:xfrm>
            <a:off x="7281565" y="3841849"/>
            <a:ext cx="1287000" cy="174427"/>
          </a:xfrm>
          <a:prstGeom prst="roundRect">
            <a:avLst>
              <a:gd name="adj" fmla="val 12378"/>
            </a:avLst>
          </a:prstGeom>
          <a:solidFill>
            <a:srgbClr val="111111"/>
          </a:solidFill>
          <a:ln w="9525">
            <a:solidFill>
              <a:srgbClr val="333333"/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90" b="1" kern="0" spc="8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ACTIONS · INSIGHTS</a:t>
            </a:r>
            <a:endParaRPr lang="en-US" sz="590" dirty="0"/>
          </a:p>
        </p:txBody>
      </p:sp>
      <p:sp>
        <p:nvSpPr>
          <p:cNvPr id="57" name="Text 49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9E141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2349847" y="4935885"/>
            <a:ext cx="95099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READYKIT</a:t>
            </a:r>
            <a:endParaRPr lang="en-US" sz="680" dirty="0"/>
          </a:p>
        </p:txBody>
      </p:sp>
      <p:sp>
        <p:nvSpPr>
          <p:cNvPr id="59" name="Text 51"/>
          <p:cNvSpPr/>
          <p:nvPr/>
        </p:nvSpPr>
        <p:spPr>
          <a:xfrm>
            <a:off x="3442990" y="4986040"/>
            <a:ext cx="29170" cy="2917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3700760" y="4935885"/>
            <a:ext cx="222254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 EVIDENCE</a:t>
            </a:r>
            <a:endParaRPr lang="en-US" sz="680" dirty="0"/>
          </a:p>
        </p:txBody>
      </p:sp>
      <p:sp>
        <p:nvSpPr>
          <p:cNvPr id="61" name="Text 53"/>
          <p:cNvSpPr/>
          <p:nvPr/>
        </p:nvSpPr>
        <p:spPr>
          <a:xfrm>
            <a:off x="5949851" y="4986040"/>
            <a:ext cx="29170" cy="2917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6207621" y="4935885"/>
            <a:ext cx="64518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3" name="Text 55"/>
          <p:cNvSpPr/>
          <p:nvPr/>
        </p:nvSpPr>
        <p:spPr>
          <a:xfrm>
            <a:off x="1067247" y="1199257"/>
            <a:ext cx="7618093" cy="543520"/>
          </a:xfrm>
          <a:prstGeom prst="roundRect">
            <a:avLst>
              <a:gd name="adj" fmla="val 7945"/>
            </a:avLst>
          </a:prstGeom>
          <a:gradFill rotWithShape="1">
            <a:gsLst>
              <a:gs pos="0">
                <a:srgbClr val="CC1B1B">
                  <a:alpha val="15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533400" y="1813768"/>
            <a:ext cx="8153400" cy="543520"/>
          </a:xfrm>
          <a:prstGeom prst="roundRect">
            <a:avLst>
              <a:gd name="adj" fmla="val 7945"/>
            </a:avLst>
          </a:prstGeom>
          <a:gradFill rotWithShape="1">
            <a:gsLst>
              <a:gs pos="0">
                <a:srgbClr val="CC1B1B">
                  <a:alpha val="15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533400" y="2428280"/>
            <a:ext cx="8153400" cy="543520"/>
          </a:xfrm>
          <a:prstGeom prst="roundRect">
            <a:avLst>
              <a:gd name="adj" fmla="val 7945"/>
            </a:avLst>
          </a:prstGeom>
          <a:gradFill rotWithShape="1">
            <a:gsLst>
              <a:gs pos="0">
                <a:srgbClr val="CC1B1B">
                  <a:alpha val="15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8"/>
          <p:cNvSpPr/>
          <p:nvPr/>
        </p:nvSpPr>
        <p:spPr>
          <a:xfrm>
            <a:off x="533400" y="3042791"/>
            <a:ext cx="8153400" cy="543520"/>
          </a:xfrm>
          <a:prstGeom prst="roundRect">
            <a:avLst>
              <a:gd name="adj" fmla="val 7945"/>
            </a:avLst>
          </a:prstGeom>
          <a:gradFill rotWithShape="1">
            <a:gsLst>
              <a:gs pos="0">
                <a:srgbClr val="CC1B1B">
                  <a:alpha val="15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533400" y="3657302"/>
            <a:ext cx="8153400" cy="543520"/>
          </a:xfrm>
          <a:prstGeom prst="roundRect">
            <a:avLst>
              <a:gd name="adj" fmla="val 7945"/>
            </a:avLst>
          </a:prstGeom>
          <a:gradFill rotWithShape="1">
            <a:gsLst>
              <a:gs pos="0">
                <a:srgbClr val="CC1B1B">
                  <a:alpha val="15000"/>
                </a:srgbClr>
              </a:gs>
              <a:gs pos="4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728</Words>
  <Application>Microsoft Office PowerPoint</Application>
  <PresentationFormat>On-screen Show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Jennifer Martin</cp:lastModifiedBy>
  <cp:revision>10</cp:revision>
  <dcterms:created xsi:type="dcterms:W3CDTF">2026-07-02T17:08:23Z</dcterms:created>
  <dcterms:modified xsi:type="dcterms:W3CDTF">2026-07-02T19:32:36Z</dcterms:modified>
</cp:coreProperties>
</file>