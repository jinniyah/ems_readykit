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9" r:id="rId6"/>
    <p:sldId id="260" r:id="rId7"/>
    <p:sldId id="261" r:id="rId8"/>
    <p:sldId id="270" r:id="rId9"/>
    <p:sldId id="271" r:id="rId10"/>
    <p:sldId id="272" r:id="rId11"/>
    <p:sldId id="262" r:id="rId12"/>
    <p:sldId id="263" r:id="rId13"/>
    <p:sldId id="273" r:id="rId14"/>
    <p:sldId id="264" r:id="rId15"/>
    <p:sldId id="274" r:id="rId16"/>
    <p:sldId id="265" r:id="rId17"/>
    <p:sldId id="275" r:id="rId18"/>
    <p:sldId id="276" r:id="rId19"/>
    <p:sldId id="277" r:id="rId20"/>
    <p:sldId id="278" r:id="rId21"/>
    <p:sldId id="279" r:id="rId22"/>
    <p:sldId id="280" r:id="rId23"/>
    <p:sldId id="266" r:id="rId24"/>
    <p:sldId id="267" r:id="rId25"/>
    <p:sldId id="268"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1E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5" autoAdjust="0"/>
    <p:restoredTop sz="73820" autoAdjust="0"/>
  </p:normalViewPr>
  <p:slideViewPr>
    <p:cSldViewPr snapToGrid="0" showGuides="1">
      <p:cViewPr varScale="1">
        <p:scale>
          <a:sx n="103" d="100"/>
          <a:sy n="103" d="100"/>
        </p:scale>
        <p:origin x="870" y="9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BBB06-69C3-3AB5-3209-C1387EE5C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E3C65F-3362-AAC0-9C9A-534023B924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BCB04-A35B-6285-3750-36E1FEA55C0A}"/>
              </a:ext>
            </a:extLst>
          </p:cNvPr>
          <p:cNvSpPr>
            <a:spLocks noGrp="1"/>
          </p:cNvSpPr>
          <p:nvPr>
            <p:ph type="body" idx="1"/>
          </p:nvPr>
        </p:nvSpPr>
        <p:spPr/>
        <p:txBody>
          <a:bodyPr/>
          <a:lstStyle/>
          <a:p>
            <a:r>
              <a:rPr lang="en-US" dirty="0"/>
              <a:t>Users are greeted with log in.  After logging in, first time users are greeted with a three-screen introductory tutorial and then delivered to the dashboard.  Users who are a part of more than one station can select the station they are working on right now.  Stations are assigned their own colors, and the screens and buttons are updated to reflect the selected station.</a:t>
            </a:r>
          </a:p>
        </p:txBody>
      </p:sp>
      <p:sp>
        <p:nvSpPr>
          <p:cNvPr id="4" name="Slide Number Placeholder 3">
            <a:extLst>
              <a:ext uri="{FF2B5EF4-FFF2-40B4-BE49-F238E27FC236}">
                <a16:creationId xmlns:a16="http://schemas.microsoft.com/office/drawing/2014/main" id="{150A62B4-C6B7-2BC5-4E65-8A9FC6FD727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352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Buttons are based on importance.  Responders see all the buttons except Station Administration, Settings and Compliance Dashboard.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Click Check the Truck to access the ambulance daily check.  </a:t>
            </a:r>
          </a:p>
          <a:p>
            <a:pPr marL="171450" indent="-171450">
              <a:buFont typeface="Arial" panose="020B0604020202020204" pitchFamily="34" charset="0"/>
              <a:buChar char="•"/>
            </a:pPr>
            <a:r>
              <a:rPr lang="en-US" dirty="0"/>
              <a:t>Select the ambulance or jump bag that you are checking.</a:t>
            </a:r>
          </a:p>
          <a:p>
            <a:pPr marL="171450" indent="-171450">
              <a:buFont typeface="Arial" panose="020B0604020202020204" pitchFamily="34" charset="0"/>
              <a:buChar char="•"/>
            </a:pPr>
            <a:r>
              <a:rPr lang="en-US" dirty="0"/>
              <a:t>Update the priority items – the AED and LUCAS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11FA3-5B3D-C52E-016F-9BB156D62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6BD59-5388-7C5D-E43E-822209387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3B357-A693-28B4-E95E-66B8F52BE635}"/>
              </a:ext>
            </a:extLst>
          </p:cNvPr>
          <p:cNvSpPr>
            <a:spLocks noGrp="1"/>
          </p:cNvSpPr>
          <p:nvPr>
            <p:ph type="body" idx="1"/>
          </p:nvPr>
        </p:nvSpPr>
        <p:spPr/>
        <p:txBody>
          <a:bodyPr/>
          <a:lstStyle/>
          <a:p>
            <a:pPr marL="171450" indent="-171450">
              <a:buFont typeface="Arial" panose="020B0604020202020204" pitchFamily="34" charset="0"/>
              <a:buChar char="•"/>
            </a:pPr>
            <a:r>
              <a:rPr lang="en-US" dirty="0"/>
              <a:t>Click the modify button to make changes to the items in the compartment.</a:t>
            </a:r>
          </a:p>
          <a:p>
            <a:pPr marL="171450" indent="-171450">
              <a:buFont typeface="Arial" panose="020B0604020202020204" pitchFamily="34" charset="0"/>
              <a:buChar char="•"/>
            </a:pPr>
            <a:r>
              <a:rPr lang="en-US" dirty="0"/>
              <a:t>Or click No Change if the compartment was not accessed previously.</a:t>
            </a:r>
          </a:p>
          <a:p>
            <a:pPr marL="171450" indent="-171450">
              <a:buFont typeface="Arial" panose="020B0604020202020204" pitchFamily="34" charset="0"/>
              <a:buChar char="•"/>
            </a:pPr>
            <a:r>
              <a:rPr lang="en-US" dirty="0"/>
              <a:t>If modifying the compartment, you can update the number using</a:t>
            </a:r>
          </a:p>
          <a:p>
            <a:pPr marL="628650" lvl="1" indent="-171450">
              <a:buFont typeface="Arial" panose="020B0604020202020204" pitchFamily="34" charset="0"/>
              <a:buChar char="•"/>
            </a:pPr>
            <a:r>
              <a:rPr lang="en-US" dirty="0"/>
              <a:t>The – or + buttons</a:t>
            </a:r>
          </a:p>
          <a:p>
            <a:pPr marL="628650" lvl="1" indent="-171450">
              <a:buFont typeface="Arial" panose="020B0604020202020204" pitchFamily="34" charset="0"/>
              <a:buChar char="•"/>
            </a:pPr>
            <a:r>
              <a:rPr lang="en-US" dirty="0"/>
              <a:t>Clicking the 0 – it opens a number interface</a:t>
            </a:r>
          </a:p>
          <a:p>
            <a:pPr marL="628650" lvl="1" indent="-171450">
              <a:buFont typeface="Arial" panose="020B0604020202020204" pitchFamily="34" charset="0"/>
              <a:buChar char="•"/>
            </a:pPr>
            <a:r>
              <a:rPr lang="en-US" dirty="0"/>
              <a:t>Or clicking the “All # present” button to verify that the expected number is there.</a:t>
            </a:r>
          </a:p>
          <a:p>
            <a:pPr marL="171450" lvl="0" indent="-171450">
              <a:buFont typeface="Arial" panose="020B0604020202020204" pitchFamily="34" charset="0"/>
              <a:buChar char="•"/>
            </a:pPr>
            <a:r>
              <a:rPr lang="en-US" dirty="0"/>
              <a:t>Once the item has been validated it will shrink to aid in scrolling.</a:t>
            </a:r>
          </a:p>
          <a:p>
            <a:pPr marL="171450" lvl="0" indent="-171450">
              <a:buFont typeface="Arial" panose="020B0604020202020204" pitchFamily="34" charset="0"/>
              <a:buChar char="•"/>
            </a:pPr>
            <a:r>
              <a:rPr lang="en-US" dirty="0"/>
              <a:t>Once all items in the compartment have been validated click on the next button to navigate to the next compartment.</a:t>
            </a:r>
          </a:p>
        </p:txBody>
      </p:sp>
      <p:sp>
        <p:nvSpPr>
          <p:cNvPr id="4" name="Slide Number Placeholder 3">
            <a:extLst>
              <a:ext uri="{FF2B5EF4-FFF2-40B4-BE49-F238E27FC236}">
                <a16:creationId xmlns:a16="http://schemas.microsoft.com/office/drawing/2014/main" id="{2D445164-4E6F-27D9-E521-576C07EFC3D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5950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3A7E1-A59B-F93E-2083-95180B98D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FF72B-82D1-3DDD-E6C3-955ED2A51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7B8A6A-0294-6D7B-509A-240A7CF16D3F}"/>
              </a:ext>
            </a:extLst>
          </p:cNvPr>
          <p:cNvSpPr>
            <a:spLocks noGrp="1"/>
          </p:cNvSpPr>
          <p:nvPr>
            <p:ph type="body" idx="1"/>
          </p:nvPr>
        </p:nvSpPr>
        <p:spPr/>
        <p:txBody>
          <a:bodyPr/>
          <a:lstStyle/>
          <a:p>
            <a:pPr marL="171450" indent="-171450">
              <a:buFont typeface="Arial" panose="020B0604020202020204" pitchFamily="34" charset="0"/>
              <a:buChar char="•"/>
            </a:pPr>
            <a:r>
              <a:rPr lang="en-US" dirty="0"/>
              <a:t>Compartments like PC 8 have special settings where you can show items in the Compartment to make it faster and easier to update important items.</a:t>
            </a:r>
          </a:p>
          <a:p>
            <a:pPr marL="171450" indent="-171450">
              <a:buFont typeface="Arial" panose="020B0604020202020204" pitchFamily="34" charset="0"/>
              <a:buChar char="•"/>
            </a:pPr>
            <a:r>
              <a:rPr lang="en-US" dirty="0"/>
              <a:t>If something was marked used in Log Items Used, it’ll show up as something “short” in the current inventory.</a:t>
            </a:r>
          </a:p>
          <a:p>
            <a:pPr marL="171450" indent="-171450">
              <a:buFont typeface="Arial" panose="020B0604020202020204" pitchFamily="34" charset="0"/>
              <a:buChar char="•"/>
            </a:pPr>
            <a:r>
              <a:rPr lang="en-US" dirty="0"/>
              <a:t>When all completed, you can click Review flagged items to review items that were marked damaged or short.  During the restock stage, you can add refill the item from station stock.</a:t>
            </a:r>
          </a:p>
          <a:p>
            <a:pPr marL="171450" indent="-171450">
              <a:buFont typeface="Arial" panose="020B0604020202020204" pitchFamily="34" charset="0"/>
              <a:buChar char="•"/>
            </a:pPr>
            <a:r>
              <a:rPr lang="en-US" dirty="0"/>
              <a:t>When done, if there’s still an item it will report the finding to the supervisor when you click </a:t>
            </a:r>
            <a:r>
              <a:rPr lang="en-US" b="1" dirty="0"/>
              <a:t>Continue to Submit</a:t>
            </a:r>
            <a:r>
              <a:rPr lang="en-US" dirty="0"/>
              <a:t>.</a:t>
            </a:r>
          </a:p>
        </p:txBody>
      </p:sp>
      <p:sp>
        <p:nvSpPr>
          <p:cNvPr id="4" name="Slide Number Placeholder 3">
            <a:extLst>
              <a:ext uri="{FF2B5EF4-FFF2-40B4-BE49-F238E27FC236}">
                <a16:creationId xmlns:a16="http://schemas.microsoft.com/office/drawing/2014/main" id="{CD704A5D-9E80-1403-536C-5671D3D1D7B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1844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19A31-1EE7-038F-B30E-1EE878305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6FFA5-E7F2-EF33-3EDC-218C892A5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F169D-B92F-0F0A-9E71-5E76A2AA6107}"/>
              </a:ext>
            </a:extLst>
          </p:cNvPr>
          <p:cNvSpPr>
            <a:spLocks noGrp="1"/>
          </p:cNvSpPr>
          <p:nvPr>
            <p:ph type="body" idx="1"/>
          </p:nvPr>
        </p:nvSpPr>
        <p:spPr/>
        <p:txBody>
          <a:bodyPr/>
          <a:lstStyle/>
          <a:p>
            <a:pPr marL="171450" indent="-171450">
              <a:buFont typeface="Arial" panose="020B0604020202020204" pitchFamily="34" charset="0"/>
              <a:buChar char="•"/>
            </a:pPr>
            <a:r>
              <a:rPr lang="en-US" dirty="0"/>
              <a:t>As part of the Submit process, you can review items, note if there are issues or a repair is needed and then submit the daily check.  </a:t>
            </a:r>
          </a:p>
          <a:p>
            <a:pPr marL="171450" indent="-171450">
              <a:buFont typeface="Arial" panose="020B0604020202020204" pitchFamily="34" charset="0"/>
              <a:buChar char="•"/>
            </a:pPr>
            <a:r>
              <a:rPr lang="en-US" dirty="0"/>
              <a:t>Once submitted the app will give you feedback that it was saved.  You can start another check or return to the home dashboard.</a:t>
            </a:r>
          </a:p>
        </p:txBody>
      </p:sp>
      <p:sp>
        <p:nvSpPr>
          <p:cNvPr id="4" name="Slide Number Placeholder 3">
            <a:extLst>
              <a:ext uri="{FF2B5EF4-FFF2-40B4-BE49-F238E27FC236}">
                <a16:creationId xmlns:a16="http://schemas.microsoft.com/office/drawing/2014/main" id="{CF4E099A-D76F-C114-ACD4-EEEE07C5F9A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5874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Responders</a:t>
            </a:r>
          </a:p>
          <a:p>
            <a:pPr marL="171450" indent="-171450">
              <a:buFont typeface="Arial" panose="020B0604020202020204" pitchFamily="34" charset="0"/>
              <a:buChar char="•"/>
            </a:pPr>
            <a:r>
              <a:rPr lang="en-US" dirty="0"/>
              <a:t>Can see their own truck checks</a:t>
            </a:r>
          </a:p>
          <a:p>
            <a:pPr marL="171450" indent="-171450">
              <a:buFont typeface="Arial" panose="020B0604020202020204" pitchFamily="34" charset="0"/>
              <a:buChar char="•"/>
            </a:pPr>
            <a:r>
              <a:rPr lang="en-US" dirty="0"/>
              <a:t>Can add notes to their checks</a:t>
            </a:r>
          </a:p>
          <a:p>
            <a:pPr marL="171450" indent="-171450">
              <a:buFont typeface="Arial" panose="020B0604020202020204" pitchFamily="34" charset="0"/>
              <a:buChar char="•"/>
            </a:pPr>
            <a:r>
              <a:rPr lang="en-US" dirty="0"/>
              <a:t>If setup, can delete a truck check</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Supervisors</a:t>
            </a:r>
          </a:p>
          <a:p>
            <a:pPr marL="171450" indent="-171450">
              <a:buFont typeface="Arial" panose="020B0604020202020204" pitchFamily="34" charset="0"/>
              <a:buChar char="•"/>
            </a:pPr>
            <a:r>
              <a:rPr lang="en-US" dirty="0"/>
              <a:t>Can see everyone’s truck checks</a:t>
            </a:r>
          </a:p>
          <a:p>
            <a:pPr marL="171450" indent="-171450">
              <a:buFont typeface="Arial" panose="020B0604020202020204" pitchFamily="34" charset="0"/>
              <a:buChar char="•"/>
            </a:pPr>
            <a:r>
              <a:rPr lang="en-US" dirty="0"/>
              <a:t>Can resolve missing or damaged items</a:t>
            </a:r>
          </a:p>
          <a:p>
            <a:pPr marL="171450" indent="-171450">
              <a:buFont typeface="Arial" panose="020B0604020202020204" pitchFamily="34" charset="0"/>
              <a:buChar char="•"/>
            </a:pPr>
            <a:r>
              <a:rPr lang="en-US" dirty="0"/>
              <a:t>Can soft delete checks that had issues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Administrators</a:t>
            </a:r>
          </a:p>
          <a:p>
            <a:pPr marL="171450" indent="-171450">
              <a:buFont typeface="Arial" panose="020B0604020202020204" pitchFamily="34" charset="0"/>
              <a:buChar char="•"/>
            </a:pPr>
            <a:r>
              <a:rPr lang="en-US" dirty="0"/>
              <a:t>Can hard delete truck checks that have been soft deleted</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Supplies allows users to set up and manage the station stock.  </a:t>
            </a:r>
          </a:p>
          <a:p>
            <a:pPr marL="171450" indent="-171450">
              <a:buFont typeface="Arial" panose="020B0604020202020204" pitchFamily="34" charset="0"/>
              <a:buChar char="•"/>
            </a:pPr>
            <a:r>
              <a:rPr lang="en-US" dirty="0"/>
              <a:t>View Supplies – see what’s on hand.  Update it with a note to reconcile differences. </a:t>
            </a:r>
          </a:p>
          <a:p>
            <a:pPr marL="171450" indent="-171450">
              <a:buFont typeface="Arial" panose="020B0604020202020204" pitchFamily="34" charset="0"/>
              <a:buChar char="•"/>
            </a:pPr>
            <a:r>
              <a:rPr lang="en-US" dirty="0"/>
              <a:t>Count Supplies – the equivalent of a “Check the Truck” but for the station.</a:t>
            </a:r>
          </a:p>
          <a:p>
            <a:pPr marL="171450" indent="-171450">
              <a:buFont typeface="Arial" panose="020B0604020202020204" pitchFamily="34" charset="0"/>
              <a:buChar char="•"/>
            </a:pPr>
            <a:r>
              <a:rPr lang="en-US" dirty="0"/>
              <a:t>Usage Log – the visible log of “Log Items Used”</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Supervisor Only</a:t>
            </a:r>
          </a:p>
          <a:p>
            <a:pPr marL="171450" indent="-171450">
              <a:buFont typeface="Arial" panose="020B0604020202020204" pitchFamily="34" charset="0"/>
              <a:buChar char="•"/>
            </a:pPr>
            <a:r>
              <a:rPr lang="en-US" dirty="0"/>
              <a:t>Receive New Stock – allows for CSV upload and individual stock to be added to the station</a:t>
            </a:r>
          </a:p>
          <a:p>
            <a:pPr marL="171450" indent="-171450">
              <a:buFont typeface="Arial" panose="020B0604020202020204" pitchFamily="34" charset="0"/>
              <a:buChar char="•"/>
            </a:pPr>
            <a:r>
              <a:rPr lang="en-US" dirty="0"/>
              <a:t>Transfer History – The list of items that get moved from the station to the ambulance.  See what’s used and where it goes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7912F-3F2B-5EE2-6114-64CC192AB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63CFC-4DD0-9B57-60F5-9DD925C79D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6253A-7E96-35EA-B476-F55A2FD860A5}"/>
              </a:ext>
            </a:extLst>
          </p:cNvPr>
          <p:cNvSpPr>
            <a:spLocks noGrp="1"/>
          </p:cNvSpPr>
          <p:nvPr>
            <p:ph type="body" idx="1"/>
          </p:nvPr>
        </p:nvSpPr>
        <p:spPr/>
        <p:txBody>
          <a:bodyPr/>
          <a:lstStyle/>
          <a:p>
            <a:r>
              <a:rPr lang="en-US" b="1" dirty="0"/>
              <a:t>View Supplies</a:t>
            </a:r>
          </a:p>
          <a:p>
            <a:pPr marL="171450" indent="-171450">
              <a:buFont typeface="Arial" panose="020B0604020202020204" pitchFamily="34" charset="0"/>
              <a:buChar char="•"/>
            </a:pPr>
            <a:r>
              <a:rPr lang="en-US" dirty="0"/>
              <a:t>This is where users can update items that are in the station.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Count Supplies </a:t>
            </a:r>
            <a:r>
              <a:rPr lang="en-US" dirty="0"/>
              <a:t>(Pictures 2 – 4)</a:t>
            </a:r>
          </a:p>
          <a:p>
            <a:pPr marL="171450" indent="-171450">
              <a:buFont typeface="Arial" panose="020B0604020202020204" pitchFamily="34" charset="0"/>
              <a:buChar char="•"/>
            </a:pPr>
            <a:r>
              <a:rPr lang="en-US" dirty="0"/>
              <a:t>Same interface as Check the Truck – familiar and easy to use.</a:t>
            </a:r>
          </a:p>
          <a:p>
            <a:pPr marL="171450" indent="-171450">
              <a:buFont typeface="Arial" panose="020B0604020202020204" pitchFamily="34" charset="0"/>
              <a:buChar char="•"/>
            </a:pPr>
            <a:r>
              <a:rPr lang="en-US" dirty="0"/>
              <a:t>Same compartment interactions</a:t>
            </a:r>
          </a:p>
          <a:p>
            <a:pPr marL="171450" indent="-171450">
              <a:buFont typeface="Arial" panose="020B0604020202020204" pitchFamily="34" charset="0"/>
              <a:buChar char="•"/>
            </a:pPr>
            <a:r>
              <a:rPr lang="en-US" dirty="0"/>
              <a:t>Same submission process.</a:t>
            </a:r>
          </a:p>
        </p:txBody>
      </p:sp>
      <p:sp>
        <p:nvSpPr>
          <p:cNvPr id="4" name="Slide Number Placeholder 3">
            <a:extLst>
              <a:ext uri="{FF2B5EF4-FFF2-40B4-BE49-F238E27FC236}">
                <a16:creationId xmlns:a16="http://schemas.microsoft.com/office/drawing/2014/main" id="{E732FC2C-8DA6-CE04-7A24-2FC1982099F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7701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Pictures taken from the training station (orange) not Newberg Township (dark blue)</a:t>
            </a:r>
          </a:p>
          <a:p>
            <a:endParaRPr lang="en-US" dirty="0"/>
          </a:p>
          <a:p>
            <a:r>
              <a:rPr lang="en-US" b="1" dirty="0"/>
              <a:t>Compliance Dashboard (Image 1) </a:t>
            </a:r>
          </a:p>
          <a:p>
            <a:pPr marL="171450" indent="-171450">
              <a:buFont typeface="Arial" panose="020B0604020202020204" pitchFamily="34" charset="0"/>
              <a:buChar char="•"/>
            </a:pPr>
            <a:r>
              <a:rPr lang="en-US" dirty="0"/>
              <a:t>Clicking on the icons on the top will filter All, Failed, Restock, Not Checked and Passed for easy viewing </a:t>
            </a:r>
          </a:p>
          <a:p>
            <a:pPr marL="171450" indent="-171450">
              <a:buFont typeface="Arial" panose="020B0604020202020204" pitchFamily="34" charset="0"/>
              <a:buChar char="•"/>
            </a:pPr>
            <a:r>
              <a:rPr lang="en-US" dirty="0"/>
              <a:t>Vehicles filtered by the view are show with status at the top</a:t>
            </a:r>
          </a:p>
          <a:p>
            <a:pPr marL="171450" indent="-171450">
              <a:buFont typeface="Arial" panose="020B0604020202020204" pitchFamily="34" charset="0"/>
              <a:buChar char="•"/>
            </a:pPr>
            <a:r>
              <a:rPr lang="en-US" dirty="0"/>
              <a:t>Portable equipment is shown below the vehicles</a:t>
            </a:r>
          </a:p>
          <a:p>
            <a:pPr marL="171450" indent="-171450">
              <a:buFont typeface="Arial" panose="020B0604020202020204" pitchFamily="34" charset="0"/>
              <a:buChar char="•"/>
            </a:pPr>
            <a:r>
              <a:rPr lang="en-US" i="1" dirty="0"/>
              <a:t>Station supply count </a:t>
            </a:r>
            <a:r>
              <a:rPr lang="en-US" dirty="0"/>
              <a:t>– Shows the last time it was done</a:t>
            </a:r>
          </a:p>
          <a:p>
            <a:pPr marL="171450" indent="-171450">
              <a:buFont typeface="Arial" panose="020B0604020202020204" pitchFamily="34" charset="0"/>
              <a:buChar char="•"/>
            </a:pPr>
            <a:r>
              <a:rPr lang="en-US" i="1" dirty="0"/>
              <a:t>Weekly </a:t>
            </a:r>
            <a:r>
              <a:rPr lang="en-US" dirty="0"/>
              <a:t>view for easy understanding (Image 2)</a:t>
            </a:r>
          </a:p>
          <a:p>
            <a:pPr marL="628650" lvl="1" indent="-171450">
              <a:buFont typeface="Arial" panose="020B0604020202020204" pitchFamily="34" charset="0"/>
              <a:buChar char="•"/>
            </a:pPr>
            <a:r>
              <a:rPr lang="en-US" dirty="0"/>
              <a:t>Pass</a:t>
            </a:r>
          </a:p>
          <a:p>
            <a:pPr marL="628650" lvl="1" indent="-171450">
              <a:buFont typeface="Arial" panose="020B0604020202020204" pitchFamily="34" charset="0"/>
              <a:buChar char="•"/>
            </a:pPr>
            <a:r>
              <a:rPr lang="en-US" dirty="0"/>
              <a:t>Fail</a:t>
            </a:r>
          </a:p>
          <a:p>
            <a:pPr marL="628650" lvl="1" indent="-171450">
              <a:buFont typeface="Arial" panose="020B0604020202020204" pitchFamily="34" charset="0"/>
              <a:buChar char="•"/>
            </a:pPr>
            <a:r>
              <a:rPr lang="en-US" dirty="0"/>
              <a:t>Needs Restock</a:t>
            </a:r>
          </a:p>
          <a:p>
            <a:pPr marL="628650" lvl="1" indent="-171450">
              <a:buFont typeface="Arial" panose="020B0604020202020204" pitchFamily="34" charset="0"/>
              <a:buChar char="•"/>
            </a:pPr>
            <a:r>
              <a:rPr lang="en-US" dirty="0"/>
              <a:t>Missed</a:t>
            </a:r>
          </a:p>
          <a:p>
            <a:pPr marL="171450" lvl="0" indent="-171450">
              <a:buFont typeface="Arial" panose="020B0604020202020204" pitchFamily="34" charset="0"/>
              <a:buChar char="•"/>
            </a:pPr>
            <a:r>
              <a:rPr lang="en-US" i="1" dirty="0"/>
              <a:t>Monthly</a:t>
            </a:r>
            <a:r>
              <a:rPr lang="en-US" dirty="0"/>
              <a:t> status, filtered by vehicle and portable equipment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0BA1B-7190-E950-1FB6-760B90873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38D72-775A-3E22-E158-6BFBEF5C8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76483-A859-AB43-F2FE-44360A49F2CE}"/>
              </a:ext>
            </a:extLst>
          </p:cNvPr>
          <p:cNvSpPr>
            <a:spLocks noGrp="1"/>
          </p:cNvSpPr>
          <p:nvPr>
            <p:ph type="body" idx="1"/>
          </p:nvPr>
        </p:nvSpPr>
        <p:spPr/>
        <p:txBody>
          <a:bodyPr/>
          <a:lstStyle/>
          <a:p>
            <a:pPr marL="171450" indent="-171450">
              <a:buFont typeface="Arial" panose="020B0604020202020204" pitchFamily="34" charset="0"/>
              <a:buChar char="•"/>
            </a:pPr>
            <a:r>
              <a:rPr lang="en-US" dirty="0"/>
              <a:t>(Image 1) Damaged and short items are surfaced at the top, with buttons to take you to the relevant screen to remedy the situation.</a:t>
            </a:r>
          </a:p>
          <a:p>
            <a:pPr marL="171450" indent="-171450">
              <a:buFont typeface="Arial" panose="020B0604020202020204" pitchFamily="34" charset="0"/>
              <a:buChar char="•"/>
            </a:pPr>
            <a:r>
              <a:rPr lang="en-US" dirty="0"/>
              <a:t>(Image 2) Up-to-date vehicle status</a:t>
            </a:r>
          </a:p>
          <a:p>
            <a:pPr marL="171450" indent="-171450">
              <a:buFont typeface="Arial" panose="020B0604020202020204" pitchFamily="34" charset="0"/>
              <a:buChar char="•"/>
            </a:pPr>
            <a:r>
              <a:rPr lang="en-US" dirty="0"/>
              <a:t>(Image 3) Monthly views to track trends</a:t>
            </a:r>
          </a:p>
        </p:txBody>
      </p:sp>
      <p:sp>
        <p:nvSpPr>
          <p:cNvPr id="4" name="Slide Number Placeholder 3">
            <a:extLst>
              <a:ext uri="{FF2B5EF4-FFF2-40B4-BE49-F238E27FC236}">
                <a16:creationId xmlns:a16="http://schemas.microsoft.com/office/drawing/2014/main" id="{C595E720-12A9-E81B-C828-91A088FF235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532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Station Administration is bound by ROLE – if you are not a supervisor of that station, it will not show in the screen.  Only Administrators can add stations.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B8EBA-A621-172E-73D7-284D5B001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E46CD-9399-E966-ADF5-92C4E6D3F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D05C7-58EF-A566-4E11-08E448EF9F3A}"/>
              </a:ext>
            </a:extLst>
          </p:cNvPr>
          <p:cNvSpPr>
            <a:spLocks noGrp="1"/>
          </p:cNvSpPr>
          <p:nvPr>
            <p:ph type="body" idx="1"/>
          </p:nvPr>
        </p:nvSpPr>
        <p:spPr/>
        <p:txBody>
          <a:bodyPr/>
          <a:lstStyle/>
          <a:p>
            <a:r>
              <a:rPr lang="en-US" dirty="0"/>
              <a:t>Members can be added individually or using a template.  Use Run Check after using the template to ensure that there are valid emails for login.</a:t>
            </a:r>
          </a:p>
        </p:txBody>
      </p:sp>
      <p:sp>
        <p:nvSpPr>
          <p:cNvPr id="4" name="Slide Number Placeholder 3">
            <a:extLst>
              <a:ext uri="{FF2B5EF4-FFF2-40B4-BE49-F238E27FC236}">
                <a16:creationId xmlns:a16="http://schemas.microsoft.com/office/drawing/2014/main" id="{CE6ACAB7-944F-E1ED-14FA-523BC30D683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6730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9210F-C4E0-90B6-8B36-FCBC3B02DF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DA26B-3E3D-A16C-AFDA-7AB07D1B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C2107-6E65-CE64-222B-617F3A0FD7D2}"/>
              </a:ext>
            </a:extLst>
          </p:cNvPr>
          <p:cNvSpPr>
            <a:spLocks noGrp="1"/>
          </p:cNvSpPr>
          <p:nvPr>
            <p:ph type="body" idx="1"/>
          </p:nvPr>
        </p:nvSpPr>
        <p:spPr/>
        <p:txBody>
          <a:bodyPr/>
          <a:lstStyle/>
          <a:p>
            <a:r>
              <a:rPr lang="en-US" dirty="0"/>
              <a:t>(Newberg Township Station)</a:t>
            </a:r>
          </a:p>
          <a:p>
            <a:endParaRPr lang="en-US" dirty="0"/>
          </a:p>
          <a:p>
            <a:r>
              <a:rPr lang="en-US" dirty="0"/>
              <a:t>Item Catalog</a:t>
            </a:r>
          </a:p>
          <a:p>
            <a:pPr marL="171450" indent="-171450">
              <a:buFont typeface="Arial" panose="020B0604020202020204" pitchFamily="34" charset="0"/>
              <a:buChar char="•"/>
            </a:pPr>
            <a:r>
              <a:rPr lang="en-US" dirty="0"/>
              <a:t>Items can be individually added</a:t>
            </a:r>
          </a:p>
          <a:p>
            <a:pPr marL="171450" indent="-171450">
              <a:buFont typeface="Arial" panose="020B0604020202020204" pitchFamily="34" charset="0"/>
              <a:buChar char="•"/>
            </a:pPr>
            <a:r>
              <a:rPr lang="en-US" dirty="0"/>
              <a:t>Items can be mass uploaded.  Makes it easier to set up a new station</a:t>
            </a:r>
          </a:p>
          <a:p>
            <a:pPr marL="171450" indent="-171450">
              <a:buFont typeface="Arial" panose="020B0604020202020204" pitchFamily="34" charset="0"/>
              <a:buChar char="•"/>
            </a:pPr>
            <a:r>
              <a:rPr lang="en-US" dirty="0"/>
              <a:t>Items can be searched and filtered</a:t>
            </a:r>
          </a:p>
          <a:p>
            <a:pPr marL="628650" lvl="1" indent="-171450">
              <a:buFont typeface="Arial" panose="020B0604020202020204" pitchFamily="34" charset="0"/>
              <a:buChar char="•"/>
            </a:pPr>
            <a:r>
              <a:rPr lang="en-US" dirty="0"/>
              <a:t>Filters include Airway, Wound Care, PPE, Diagnostic, Medications, Documents, Vehicle Ops</a:t>
            </a:r>
          </a:p>
          <a:p>
            <a:pPr marL="628650" lvl="1" indent="-171450">
              <a:buFont typeface="Arial" panose="020B0604020202020204" pitchFamily="34" charset="0"/>
              <a:buChar char="•"/>
            </a:pPr>
            <a:r>
              <a:rPr lang="en-US" dirty="0"/>
              <a:t>Items can be marked inactive – and they are filtered out for normal operations</a:t>
            </a:r>
          </a:p>
          <a:p>
            <a:pPr marL="171450" lvl="0" indent="-171450">
              <a:buFont typeface="Arial" panose="020B0604020202020204" pitchFamily="34" charset="0"/>
              <a:buChar char="•"/>
            </a:pPr>
            <a:r>
              <a:rPr lang="en-US" dirty="0"/>
              <a:t>Individual items show where they are used.</a:t>
            </a:r>
          </a:p>
          <a:p>
            <a:pPr marL="171450" lvl="0" indent="-171450">
              <a:buFont typeface="Arial" panose="020B0604020202020204" pitchFamily="34" charset="0"/>
              <a:buChar char="•"/>
            </a:pPr>
            <a:r>
              <a:rPr lang="en-US" dirty="0"/>
              <a:t>You can assign items from the inventory catalog for easy of use.</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AE5E49AC-87A2-496B-8ABD-0E5E4E31A2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6685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9A7A7-7B9D-33E0-CD4E-2636969A1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2CEBD-C14E-C6E7-79E4-BFB0B70CD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032D9-8DDC-A9DF-B84A-458551B299D0}"/>
              </a:ext>
            </a:extLst>
          </p:cNvPr>
          <p:cNvSpPr>
            <a:spLocks noGrp="1"/>
          </p:cNvSpPr>
          <p:nvPr>
            <p:ph type="body" idx="1"/>
          </p:nvPr>
        </p:nvSpPr>
        <p:spPr/>
        <p:txBody>
          <a:bodyPr/>
          <a:lstStyle/>
          <a:p>
            <a:r>
              <a:rPr lang="en-US" dirty="0"/>
              <a:t>Vehicles can be managed from this view.</a:t>
            </a:r>
          </a:p>
        </p:txBody>
      </p:sp>
      <p:sp>
        <p:nvSpPr>
          <p:cNvPr id="4" name="Slide Number Placeholder 3">
            <a:extLst>
              <a:ext uri="{FF2B5EF4-FFF2-40B4-BE49-F238E27FC236}">
                <a16:creationId xmlns:a16="http://schemas.microsoft.com/office/drawing/2014/main" id="{0F26B59F-324B-A93D-8EB9-20B95A62E11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95971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4F782-8580-703A-8A6E-4DC39593B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35079-9E0F-EA22-D655-F97382389E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C4E928-6DAA-16F5-E689-A7343D5A147C}"/>
              </a:ext>
            </a:extLst>
          </p:cNvPr>
          <p:cNvSpPr>
            <a:spLocks noGrp="1"/>
          </p:cNvSpPr>
          <p:nvPr>
            <p:ph type="body" idx="1"/>
          </p:nvPr>
        </p:nvSpPr>
        <p:spPr/>
        <p:txBody>
          <a:bodyPr/>
          <a:lstStyle/>
          <a:p>
            <a:r>
              <a:rPr lang="en-US" dirty="0"/>
              <a:t>Jump bags can be managed from this view.  This includes Ambulance jump bags, pediatrics and medical first responder bags.</a:t>
            </a:r>
          </a:p>
        </p:txBody>
      </p:sp>
      <p:sp>
        <p:nvSpPr>
          <p:cNvPr id="4" name="Slide Number Placeholder 3">
            <a:extLst>
              <a:ext uri="{FF2B5EF4-FFF2-40B4-BE49-F238E27FC236}">
                <a16:creationId xmlns:a16="http://schemas.microsoft.com/office/drawing/2014/main" id="{02B0C9CE-F125-46E7-4953-79700EDFF87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38951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7EFBE-3B42-F234-3B74-0496BD429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A2A29-6FB0-0245-6BF3-4E95984CA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FBA8EB-790E-9447-CFD1-6001D60356B1}"/>
              </a:ext>
            </a:extLst>
          </p:cNvPr>
          <p:cNvSpPr>
            <a:spLocks noGrp="1"/>
          </p:cNvSpPr>
          <p:nvPr>
            <p:ph type="body" idx="1"/>
          </p:nvPr>
        </p:nvSpPr>
        <p:spPr/>
        <p:txBody>
          <a:bodyPr/>
          <a:lstStyle/>
          <a:p>
            <a:r>
              <a:rPr lang="en-US" dirty="0"/>
              <a:t>Station Supplies in the Station Administration sets up the inventory to be fed from the station to the ambulances and jump bags.</a:t>
            </a:r>
          </a:p>
        </p:txBody>
      </p:sp>
      <p:sp>
        <p:nvSpPr>
          <p:cNvPr id="4" name="Slide Number Placeholder 3">
            <a:extLst>
              <a:ext uri="{FF2B5EF4-FFF2-40B4-BE49-F238E27FC236}">
                <a16:creationId xmlns:a16="http://schemas.microsoft.com/office/drawing/2014/main" id="{ED7958C0-29DB-262A-9DC7-597A3691AE0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7801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0162-377F-2387-016A-AD48932F2C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FDE5AF-77B8-9ED9-28F3-05779CC65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8FF98-EEAA-986F-E6E5-80A276305D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066B95-42EE-44E3-E26D-D6D12F2FC91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1349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300350"/>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62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81E2C"/>
          </a:solidFill>
          <a:ln/>
        </p:spPr>
        <p:txBody>
          <a:bodyPr/>
          <a:lstStyle/>
          <a:p>
            <a:endParaRPr lang="en-US"/>
          </a:p>
        </p:txBody>
      </p:sp>
      <p:sp>
        <p:nvSpPr>
          <p:cNvPr id="3" name="Text 1"/>
          <p:cNvSpPr/>
          <p:nvPr/>
        </p:nvSpPr>
        <p:spPr>
          <a:xfrm>
            <a:off x="3657600" y="457200"/>
            <a:ext cx="4937760" cy="274320"/>
          </a:xfrm>
          <a:prstGeom prst="rect">
            <a:avLst/>
          </a:prstGeom>
          <a:noFill/>
          <a:ln/>
        </p:spPr>
        <p:txBody>
          <a:bodyPr wrap="square" lIns="0" tIns="0" rIns="0" bIns="0" rtlCol="0" anchor="ctr"/>
          <a:lstStyle/>
          <a:p>
            <a:pPr marL="0" indent="0" algn="r">
              <a:buNone/>
            </a:pPr>
            <a:r>
              <a:rPr lang="en-US" sz="1000" kern="0" spc="200" dirty="0">
                <a:solidFill>
                  <a:srgbClr val="8C939C"/>
                </a:solidFill>
                <a:latin typeface="Consolas" pitchFamily="34" charset="0"/>
                <a:ea typeface="Consolas" pitchFamily="34" charset="-122"/>
                <a:cs typeface="Consolas" pitchFamily="34" charset="-120"/>
              </a:rPr>
              <a:t>READY · STOCKED · ACCOUNTABLE</a:t>
            </a:r>
            <a:endParaRPr lang="en-US" sz="1000" dirty="0"/>
          </a:p>
        </p:txBody>
      </p:sp>
      <p:sp>
        <p:nvSpPr>
          <p:cNvPr id="4" name="Shape 2"/>
          <p:cNvSpPr/>
          <p:nvPr/>
        </p:nvSpPr>
        <p:spPr>
          <a:xfrm>
            <a:off x="640080" y="1417320"/>
            <a:ext cx="3607308" cy="274320"/>
          </a:xfrm>
          <a:prstGeom prst="rect">
            <a:avLst/>
          </a:prstGeom>
          <a:solidFill>
            <a:srgbClr val="D81E2C"/>
          </a:solidFill>
          <a:ln/>
        </p:spPr>
        <p:txBody>
          <a:bodyPr/>
          <a:lstStyle/>
          <a:p>
            <a:endParaRPr lang="en-US"/>
          </a:p>
        </p:txBody>
      </p:sp>
      <p:sp>
        <p:nvSpPr>
          <p:cNvPr id="5" name="Text 3"/>
          <p:cNvSpPr/>
          <p:nvPr/>
        </p:nvSpPr>
        <p:spPr>
          <a:xfrm>
            <a:off x="640080" y="1417320"/>
            <a:ext cx="3607308" cy="274320"/>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onsolas" pitchFamily="34" charset="0"/>
                <a:ea typeface="Consolas" pitchFamily="34" charset="-122"/>
                <a:cs typeface="Consolas" pitchFamily="34" charset="-120"/>
              </a:rPr>
              <a:t>CLOUD ENGINEERING PORTFOLIO</a:t>
            </a:r>
            <a:endParaRPr lang="en-US" sz="1050" dirty="0"/>
          </a:p>
        </p:txBody>
      </p:sp>
      <p:sp>
        <p:nvSpPr>
          <p:cNvPr id="6" name="Text 4"/>
          <p:cNvSpPr/>
          <p:nvPr/>
        </p:nvSpPr>
        <p:spPr>
          <a:xfrm>
            <a:off x="566928" y="1783080"/>
            <a:ext cx="8229600" cy="1097280"/>
          </a:xfrm>
          <a:prstGeom prst="rect">
            <a:avLst/>
          </a:prstGeom>
          <a:noFill/>
          <a:ln/>
        </p:spPr>
        <p:txBody>
          <a:bodyPr wrap="square" lIns="0" tIns="0" rIns="0" bIns="0" rtlCol="0" anchor="ctr"/>
          <a:lstStyle/>
          <a:p>
            <a:pPr marL="0" indent="0" algn="l">
              <a:buNone/>
            </a:pPr>
            <a:r>
              <a:rPr lang="en-US" sz="6000" b="1" dirty="0">
                <a:solidFill>
                  <a:srgbClr val="FFFFFF"/>
                </a:solidFill>
                <a:latin typeface="Trebuchet MS" pitchFamily="34" charset="0"/>
                <a:ea typeface="Trebuchet MS" pitchFamily="34" charset="-122"/>
                <a:cs typeface="Trebuchet MS" pitchFamily="34" charset="-120"/>
              </a:rPr>
              <a:t>EMS ReadyKit</a:t>
            </a:r>
            <a:endParaRPr lang="en-US" sz="6000" dirty="0"/>
          </a:p>
        </p:txBody>
      </p:sp>
      <p:sp>
        <p:nvSpPr>
          <p:cNvPr id="7" name="Text 5"/>
          <p:cNvSpPr/>
          <p:nvPr/>
        </p:nvSpPr>
        <p:spPr>
          <a:xfrm>
            <a:off x="640080" y="2880360"/>
            <a:ext cx="7863840" cy="502920"/>
          </a:xfrm>
          <a:prstGeom prst="rect">
            <a:avLst/>
          </a:prstGeom>
          <a:noFill/>
          <a:ln/>
        </p:spPr>
        <p:txBody>
          <a:bodyPr wrap="square" lIns="0" tIns="0" rIns="0" bIns="0" rtlCol="0" anchor="ctr"/>
          <a:lstStyle/>
          <a:p>
            <a:pPr marL="0" indent="0" algn="l">
              <a:buNone/>
            </a:pPr>
            <a:r>
              <a:rPr lang="en-US" sz="2000" dirty="0">
                <a:solidFill>
                  <a:srgbClr val="C9CDD3"/>
                </a:solidFill>
                <a:latin typeface="Calibri" pitchFamily="34" charset="0"/>
                <a:ea typeface="Calibri" pitchFamily="34" charset="-122"/>
                <a:cs typeface="Calibri" pitchFamily="34" charset="-120"/>
              </a:rPr>
              <a:t>Shift-ready ambulances, verified before every call.</a:t>
            </a:r>
            <a:endParaRPr lang="en-US" sz="2000" dirty="0"/>
          </a:p>
        </p:txBody>
      </p:sp>
      <p:sp>
        <p:nvSpPr>
          <p:cNvPr id="8" name="Shape 6"/>
          <p:cNvSpPr/>
          <p:nvPr/>
        </p:nvSpPr>
        <p:spPr>
          <a:xfrm>
            <a:off x="658368" y="3611880"/>
            <a:ext cx="1005840" cy="32004"/>
          </a:xfrm>
          <a:prstGeom prst="rect">
            <a:avLst/>
          </a:prstGeom>
          <a:solidFill>
            <a:srgbClr val="D81E2C"/>
          </a:solidFill>
          <a:ln/>
        </p:spPr>
        <p:txBody>
          <a:bodyPr/>
          <a:lstStyle/>
          <a:p>
            <a:endParaRPr lang="en-US"/>
          </a:p>
        </p:txBody>
      </p:sp>
      <p:sp>
        <p:nvSpPr>
          <p:cNvPr id="9" name="Text 7"/>
          <p:cNvSpPr/>
          <p:nvPr/>
        </p:nvSpPr>
        <p:spPr>
          <a:xfrm>
            <a:off x="640080" y="3840480"/>
            <a:ext cx="8046720" cy="822960"/>
          </a:xfrm>
          <a:prstGeom prst="rect">
            <a:avLst/>
          </a:prstGeom>
          <a:noFill/>
          <a:ln/>
        </p:spPr>
        <p:txBody>
          <a:bodyPr wrap="square" lIns="0" tIns="0" rIns="0" bIns="0" rtlCol="0" anchor="t"/>
          <a:lstStyle/>
          <a:p>
            <a:pPr marL="0" indent="0" algn="l">
              <a:lnSpc>
                <a:spcPct val="125000"/>
              </a:lnSpc>
              <a:buNone/>
            </a:pPr>
            <a:r>
              <a:rPr lang="en-US" sz="1350" dirty="0">
                <a:solidFill>
                  <a:srgbClr val="D2D6DB"/>
                </a:solidFill>
                <a:latin typeface="Calibri" pitchFamily="34" charset="0"/>
                <a:ea typeface="Calibri" pitchFamily="34" charset="-122"/>
                <a:cs typeface="Calibri" pitchFamily="34" charset="-120"/>
              </a:rPr>
              <a:t>A web application built, deployed, and operated on the cloud</a:t>
            </a:r>
            <a:endParaRPr lang="en-US" sz="1350" dirty="0"/>
          </a:p>
          <a:p>
            <a:pPr marL="0" indent="0" algn="l">
              <a:lnSpc>
                <a:spcPct val="125000"/>
              </a:lnSpc>
              <a:buNone/>
            </a:pPr>
            <a:r>
              <a:rPr lang="en-US" sz="1350" dirty="0">
                <a:solidFill>
                  <a:srgbClr val="AEB4BC"/>
                </a:solidFill>
                <a:latin typeface="Calibri" pitchFamily="34" charset="0"/>
                <a:ea typeface="Calibri" pitchFamily="34" charset="-122"/>
                <a:cs typeface="Calibri" pitchFamily="34" charset="-120"/>
              </a:rPr>
              <a:t>Product walkthrough · Architecture · Engineering highlights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OVERVIEW</a:t>
            </a:r>
            <a:endParaRPr lang="en-US" sz="1100" dirty="0"/>
          </a:p>
        </p:txBody>
      </p:sp>
      <p:sp>
        <p:nvSpPr>
          <p:cNvPr id="3" name="Text 1"/>
          <p:cNvSpPr/>
          <p:nvPr/>
        </p:nvSpPr>
        <p:spPr>
          <a:xfrm>
            <a:off x="548640" y="749808"/>
            <a:ext cx="8229600" cy="640080"/>
          </a:xfrm>
          <a:prstGeom prst="rect">
            <a:avLst/>
          </a:prstGeom>
          <a:noFill/>
          <a:ln/>
        </p:spPr>
        <p:txBody>
          <a:bodyPr wrap="square" lIns="0" tIns="0" rIns="0" bIns="0" rtlCol="0" anchor="ctr"/>
          <a:lstStyle/>
          <a:p>
            <a:pPr marL="0" indent="0" algn="l">
              <a:buNone/>
            </a:pPr>
            <a:r>
              <a:rPr lang="en-US" sz="3200" b="1" dirty="0">
                <a:solidFill>
                  <a:srgbClr val="23262B"/>
                </a:solidFill>
                <a:latin typeface="Trebuchet MS" pitchFamily="34" charset="0"/>
                <a:ea typeface="Trebuchet MS" pitchFamily="34" charset="-122"/>
                <a:cs typeface="Trebuchet MS" pitchFamily="34" charset="-120"/>
              </a:rPr>
              <a:t>What is EMS ReadyKit?</a:t>
            </a:r>
            <a:endParaRPr lang="en-US" sz="3200" dirty="0"/>
          </a:p>
        </p:txBody>
      </p:sp>
      <p:sp>
        <p:nvSpPr>
          <p:cNvPr id="4" name="Shape 2"/>
          <p:cNvSpPr/>
          <p:nvPr/>
        </p:nvSpPr>
        <p:spPr>
          <a:xfrm>
            <a:off x="548640" y="1600200"/>
            <a:ext cx="8046720" cy="150876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5" name="Shape 3"/>
          <p:cNvSpPr/>
          <p:nvPr/>
        </p:nvSpPr>
        <p:spPr>
          <a:xfrm>
            <a:off x="548640" y="1600200"/>
            <a:ext cx="91440" cy="1508760"/>
          </a:xfrm>
          <a:prstGeom prst="rect">
            <a:avLst/>
          </a:prstGeom>
          <a:solidFill>
            <a:srgbClr val="D81E2C"/>
          </a:solidFill>
          <a:ln/>
        </p:spPr>
        <p:txBody>
          <a:bodyPr/>
          <a:lstStyle/>
          <a:p>
            <a:endParaRPr lang="en-US"/>
          </a:p>
        </p:txBody>
      </p:sp>
      <p:sp>
        <p:nvSpPr>
          <p:cNvPr id="6" name="Text 4"/>
          <p:cNvSpPr/>
          <p:nvPr/>
        </p:nvSpPr>
        <p:spPr>
          <a:xfrm>
            <a:off x="914400" y="1737360"/>
            <a:ext cx="7406640" cy="1234440"/>
          </a:xfrm>
          <a:prstGeom prst="rect">
            <a:avLst/>
          </a:prstGeom>
          <a:noFill/>
          <a:ln/>
        </p:spPr>
        <p:txBody>
          <a:bodyPr wrap="square" lIns="0" tIns="0" rIns="0" bIns="0" rtlCol="0" anchor="ctr"/>
          <a:lstStyle/>
          <a:p>
            <a:pPr marL="0" indent="0" algn="l">
              <a:lnSpc>
                <a:spcPct val="115000"/>
              </a:lnSpc>
              <a:buNone/>
            </a:pPr>
            <a:r>
              <a:rPr lang="en-US" sz="1700" i="1" dirty="0">
                <a:solidFill>
                  <a:srgbClr val="23262B"/>
                </a:solidFill>
                <a:latin typeface="Trebuchet MS" pitchFamily="34" charset="0"/>
                <a:ea typeface="Trebuchet MS" pitchFamily="34" charset="-122"/>
                <a:cs typeface="Trebuchet MS" pitchFamily="34" charset="-120"/>
              </a:rPr>
              <a:t>EMS ReadyKit gives crews and supervisors a structured, accountable way to verify that every ambulance is stocked, nothing is expired, and critical equipment is ready — before every shift goes out the door.</a:t>
            </a:r>
            <a:endParaRPr lang="en-US" sz="1700" dirty="0"/>
          </a:p>
        </p:txBody>
      </p:sp>
      <p:sp>
        <p:nvSpPr>
          <p:cNvPr id="7" name="Shape 5"/>
          <p:cNvSpPr/>
          <p:nvPr/>
        </p:nvSpPr>
        <p:spPr>
          <a:xfrm>
            <a:off x="548640" y="3246120"/>
            <a:ext cx="2560320" cy="1207008"/>
          </a:xfrm>
          <a:prstGeom prst="rect">
            <a:avLst/>
          </a:prstGeom>
          <a:solidFill>
            <a:srgbClr val="FFFFFF"/>
          </a:solidFill>
          <a:ln w="12700">
            <a:solidFill>
              <a:srgbClr val="D8D4CC"/>
            </a:solidFill>
            <a:prstDash val="solid"/>
          </a:ln>
        </p:spPr>
        <p:txBody>
          <a:bodyPr/>
          <a:lstStyle/>
          <a:p>
            <a:endParaRPr lang="en-US"/>
          </a:p>
        </p:txBody>
      </p:sp>
      <p:sp>
        <p:nvSpPr>
          <p:cNvPr id="8" name="Text 6"/>
          <p:cNvSpPr/>
          <p:nvPr/>
        </p:nvSpPr>
        <p:spPr>
          <a:xfrm>
            <a:off x="713232" y="3364992"/>
            <a:ext cx="914400" cy="329184"/>
          </a:xfrm>
          <a:prstGeom prst="rect">
            <a:avLst/>
          </a:prstGeom>
          <a:noFill/>
          <a:ln/>
        </p:spPr>
        <p:txBody>
          <a:bodyPr wrap="square" lIns="0" tIns="0" rIns="0" bIns="0" rtlCol="0" anchor="ctr"/>
          <a:lstStyle/>
          <a:p>
            <a:pPr marL="0" indent="0" algn="l">
              <a:buNone/>
            </a:pPr>
            <a:r>
              <a:rPr lang="en-US" sz="1300" b="1" dirty="0">
                <a:solidFill>
                  <a:srgbClr val="D81E2C"/>
                </a:solidFill>
                <a:latin typeface="Consolas" pitchFamily="34" charset="0"/>
                <a:ea typeface="Consolas" pitchFamily="34" charset="-122"/>
                <a:cs typeface="Consolas" pitchFamily="34" charset="-120"/>
              </a:rPr>
              <a:t>01</a:t>
            </a:r>
            <a:endParaRPr lang="en-US" sz="1300" dirty="0"/>
          </a:p>
        </p:txBody>
      </p:sp>
      <p:sp>
        <p:nvSpPr>
          <p:cNvPr id="9" name="Text 7"/>
          <p:cNvSpPr/>
          <p:nvPr/>
        </p:nvSpPr>
        <p:spPr>
          <a:xfrm>
            <a:off x="713232" y="3694176"/>
            <a:ext cx="2231136" cy="292608"/>
          </a:xfrm>
          <a:prstGeom prst="rect">
            <a:avLst/>
          </a:prstGeom>
          <a:noFill/>
          <a:ln/>
        </p:spPr>
        <p:txBody>
          <a:bodyPr wrap="square" lIns="0" tIns="0" rIns="0" bIns="0" rtlCol="0" anchor="ctr"/>
          <a:lstStyle/>
          <a:p>
            <a:pPr marL="0" indent="0" algn="l">
              <a:buNone/>
            </a:pPr>
            <a:r>
              <a:rPr lang="en-US" sz="1450" b="1" dirty="0">
                <a:solidFill>
                  <a:srgbClr val="23262B"/>
                </a:solidFill>
                <a:latin typeface="Trebuchet MS" pitchFamily="34" charset="0"/>
                <a:ea typeface="Trebuchet MS" pitchFamily="34" charset="-122"/>
                <a:cs typeface="Trebuchet MS" pitchFamily="34" charset="-120"/>
              </a:rPr>
              <a:t>Easy to use</a:t>
            </a:r>
            <a:endParaRPr lang="en-US" sz="1450" dirty="0"/>
          </a:p>
        </p:txBody>
      </p:sp>
      <p:sp>
        <p:nvSpPr>
          <p:cNvPr id="10" name="Text 8"/>
          <p:cNvSpPr/>
          <p:nvPr/>
        </p:nvSpPr>
        <p:spPr>
          <a:xfrm>
            <a:off x="713232" y="4005072"/>
            <a:ext cx="2231136" cy="41148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The tool is designed to be easy to use, even when tired</a:t>
            </a:r>
            <a:endParaRPr lang="en-US" sz="1050" dirty="0"/>
          </a:p>
        </p:txBody>
      </p:sp>
      <p:sp>
        <p:nvSpPr>
          <p:cNvPr id="11" name="Shape 9"/>
          <p:cNvSpPr/>
          <p:nvPr/>
        </p:nvSpPr>
        <p:spPr>
          <a:xfrm>
            <a:off x="3291840" y="3246120"/>
            <a:ext cx="2560320" cy="1207008"/>
          </a:xfrm>
          <a:prstGeom prst="rect">
            <a:avLst/>
          </a:prstGeom>
          <a:solidFill>
            <a:srgbClr val="FFFFFF"/>
          </a:solidFill>
          <a:ln w="12700">
            <a:solidFill>
              <a:srgbClr val="D8D4CC"/>
            </a:solidFill>
            <a:prstDash val="solid"/>
          </a:ln>
        </p:spPr>
        <p:txBody>
          <a:bodyPr/>
          <a:lstStyle/>
          <a:p>
            <a:endParaRPr lang="en-US"/>
          </a:p>
        </p:txBody>
      </p:sp>
      <p:sp>
        <p:nvSpPr>
          <p:cNvPr id="12" name="Text 10"/>
          <p:cNvSpPr/>
          <p:nvPr/>
        </p:nvSpPr>
        <p:spPr>
          <a:xfrm>
            <a:off x="3456432" y="3364992"/>
            <a:ext cx="914400" cy="329184"/>
          </a:xfrm>
          <a:prstGeom prst="rect">
            <a:avLst/>
          </a:prstGeom>
          <a:noFill/>
          <a:ln/>
        </p:spPr>
        <p:txBody>
          <a:bodyPr wrap="square" lIns="0" tIns="0" rIns="0" bIns="0" rtlCol="0" anchor="ctr"/>
          <a:lstStyle/>
          <a:p>
            <a:pPr marL="0" indent="0" algn="l">
              <a:buNone/>
            </a:pPr>
            <a:r>
              <a:rPr lang="en-US" sz="1300" b="1" dirty="0">
                <a:solidFill>
                  <a:srgbClr val="D81E2C"/>
                </a:solidFill>
                <a:latin typeface="Consolas" pitchFamily="34" charset="0"/>
                <a:ea typeface="Consolas" pitchFamily="34" charset="-122"/>
                <a:cs typeface="Consolas" pitchFamily="34" charset="-120"/>
              </a:rPr>
              <a:t>02</a:t>
            </a:r>
            <a:endParaRPr lang="en-US" sz="1300" dirty="0"/>
          </a:p>
        </p:txBody>
      </p:sp>
      <p:sp>
        <p:nvSpPr>
          <p:cNvPr id="13" name="Text 11"/>
          <p:cNvSpPr/>
          <p:nvPr/>
        </p:nvSpPr>
        <p:spPr>
          <a:xfrm>
            <a:off x="3456432" y="3694176"/>
            <a:ext cx="2231136" cy="292608"/>
          </a:xfrm>
          <a:prstGeom prst="rect">
            <a:avLst/>
          </a:prstGeom>
          <a:noFill/>
          <a:ln/>
        </p:spPr>
        <p:txBody>
          <a:bodyPr wrap="square" lIns="0" tIns="0" rIns="0" bIns="0" rtlCol="0" anchor="ctr"/>
          <a:lstStyle/>
          <a:p>
            <a:pPr marL="0" indent="0" algn="l">
              <a:buNone/>
            </a:pPr>
            <a:r>
              <a:rPr lang="en-US" sz="1450" b="1" dirty="0">
                <a:solidFill>
                  <a:srgbClr val="23262B"/>
                </a:solidFill>
                <a:latin typeface="Trebuchet MS" pitchFamily="34" charset="0"/>
                <a:ea typeface="Trebuchet MS" pitchFamily="34" charset="-122"/>
                <a:cs typeface="Trebuchet MS" pitchFamily="34" charset="-120"/>
              </a:rPr>
              <a:t>Easy to access</a:t>
            </a:r>
            <a:endParaRPr lang="en-US" sz="1450" dirty="0"/>
          </a:p>
        </p:txBody>
      </p:sp>
      <p:sp>
        <p:nvSpPr>
          <p:cNvPr id="14" name="Text 12"/>
          <p:cNvSpPr/>
          <p:nvPr/>
        </p:nvSpPr>
        <p:spPr>
          <a:xfrm>
            <a:off x="3456432" y="4005072"/>
            <a:ext cx="2231136" cy="41148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Web app supported by Microsoft Entra</a:t>
            </a:r>
            <a:endParaRPr lang="en-US" sz="1050" dirty="0"/>
          </a:p>
        </p:txBody>
      </p:sp>
      <p:sp>
        <p:nvSpPr>
          <p:cNvPr id="15" name="Shape 13"/>
          <p:cNvSpPr/>
          <p:nvPr/>
        </p:nvSpPr>
        <p:spPr>
          <a:xfrm>
            <a:off x="6035040" y="3246120"/>
            <a:ext cx="2560320" cy="1207008"/>
          </a:xfrm>
          <a:prstGeom prst="rect">
            <a:avLst/>
          </a:prstGeom>
          <a:solidFill>
            <a:srgbClr val="FFFFFF"/>
          </a:solidFill>
          <a:ln w="12700">
            <a:solidFill>
              <a:srgbClr val="D8D4CC"/>
            </a:solidFill>
            <a:prstDash val="solid"/>
          </a:ln>
        </p:spPr>
        <p:txBody>
          <a:bodyPr/>
          <a:lstStyle/>
          <a:p>
            <a:endParaRPr lang="en-US"/>
          </a:p>
        </p:txBody>
      </p:sp>
      <p:sp>
        <p:nvSpPr>
          <p:cNvPr id="16" name="Text 14"/>
          <p:cNvSpPr/>
          <p:nvPr/>
        </p:nvSpPr>
        <p:spPr>
          <a:xfrm>
            <a:off x="6199632" y="3364992"/>
            <a:ext cx="914400" cy="329184"/>
          </a:xfrm>
          <a:prstGeom prst="rect">
            <a:avLst/>
          </a:prstGeom>
          <a:noFill/>
          <a:ln/>
        </p:spPr>
        <p:txBody>
          <a:bodyPr wrap="square" lIns="0" tIns="0" rIns="0" bIns="0" rtlCol="0" anchor="ctr"/>
          <a:lstStyle/>
          <a:p>
            <a:pPr marL="0" indent="0" algn="l">
              <a:buNone/>
            </a:pPr>
            <a:r>
              <a:rPr lang="en-US" sz="1300" b="1" dirty="0">
                <a:solidFill>
                  <a:srgbClr val="D81E2C"/>
                </a:solidFill>
                <a:latin typeface="Consolas" pitchFamily="34" charset="0"/>
                <a:ea typeface="Consolas" pitchFamily="34" charset="-122"/>
                <a:cs typeface="Consolas" pitchFamily="34" charset="-120"/>
              </a:rPr>
              <a:t>03</a:t>
            </a:r>
            <a:endParaRPr lang="en-US" sz="1300" dirty="0"/>
          </a:p>
        </p:txBody>
      </p:sp>
      <p:sp>
        <p:nvSpPr>
          <p:cNvPr id="17" name="Text 15"/>
          <p:cNvSpPr/>
          <p:nvPr/>
        </p:nvSpPr>
        <p:spPr>
          <a:xfrm>
            <a:off x="6199632" y="3694176"/>
            <a:ext cx="2231136" cy="292608"/>
          </a:xfrm>
          <a:prstGeom prst="rect">
            <a:avLst/>
          </a:prstGeom>
          <a:noFill/>
          <a:ln/>
        </p:spPr>
        <p:txBody>
          <a:bodyPr wrap="square" lIns="0" tIns="0" rIns="0" bIns="0" rtlCol="0" anchor="ctr"/>
          <a:lstStyle/>
          <a:p>
            <a:pPr marL="0" indent="0" algn="l">
              <a:buNone/>
            </a:pPr>
            <a:r>
              <a:rPr lang="en-US" sz="1450" b="1" dirty="0">
                <a:solidFill>
                  <a:srgbClr val="23262B"/>
                </a:solidFill>
                <a:latin typeface="Trebuchet MS" pitchFamily="34" charset="0"/>
                <a:ea typeface="Trebuchet MS" pitchFamily="34" charset="-122"/>
                <a:cs typeface="Trebuchet MS" pitchFamily="34" charset="-120"/>
              </a:rPr>
              <a:t>Easy to get it done</a:t>
            </a:r>
            <a:endParaRPr lang="en-US" sz="1450" dirty="0"/>
          </a:p>
        </p:txBody>
      </p:sp>
      <p:sp>
        <p:nvSpPr>
          <p:cNvPr id="18" name="Text 16"/>
          <p:cNvSpPr/>
          <p:nvPr/>
        </p:nvSpPr>
        <p:spPr>
          <a:xfrm>
            <a:off x="6199632" y="4005072"/>
            <a:ext cx="2231136" cy="41148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Step by step wizards to keep the user oriented</a:t>
            </a:r>
            <a:endParaRPr lang="en-US" sz="1050" dirty="0"/>
          </a:p>
        </p:txBody>
      </p:sp>
      <p:sp>
        <p:nvSpPr>
          <p:cNvPr id="19" name="Shape 17"/>
          <p:cNvSpPr/>
          <p:nvPr/>
        </p:nvSpPr>
        <p:spPr>
          <a:xfrm>
            <a:off x="548640" y="4855464"/>
            <a:ext cx="73152" cy="73152"/>
          </a:xfrm>
          <a:prstGeom prst="ellipse">
            <a:avLst/>
          </a:prstGeom>
          <a:solidFill>
            <a:srgbClr val="D81E2C"/>
          </a:solidFill>
          <a:ln/>
        </p:spPr>
        <p:txBody>
          <a:bodyPr/>
          <a:lstStyle/>
          <a:p>
            <a:endParaRPr lang="en-US"/>
          </a:p>
        </p:txBody>
      </p:sp>
      <p:sp>
        <p:nvSpPr>
          <p:cNvPr id="20" name="Text 18"/>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21" name="Text 19"/>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WHY IT MATTERS</a:t>
            </a:r>
            <a:endParaRPr lang="en-US" sz="1100" dirty="0"/>
          </a:p>
        </p:txBody>
      </p:sp>
      <p:sp>
        <p:nvSpPr>
          <p:cNvPr id="3" name="Text 1"/>
          <p:cNvSpPr/>
          <p:nvPr/>
        </p:nvSpPr>
        <p:spPr>
          <a:xfrm>
            <a:off x="548640" y="749808"/>
            <a:ext cx="8229600" cy="640080"/>
          </a:xfrm>
          <a:prstGeom prst="rect">
            <a:avLst/>
          </a:prstGeom>
          <a:noFill/>
          <a:ln/>
        </p:spPr>
        <p:txBody>
          <a:bodyPr wrap="square" lIns="0" tIns="0" rIns="0" bIns="0" rtlCol="0" anchor="ctr"/>
          <a:lstStyle/>
          <a:p>
            <a:pPr marL="0" indent="0" algn="l">
              <a:buNone/>
            </a:pPr>
            <a:r>
              <a:rPr lang="en-US" sz="2800" b="1" dirty="0">
                <a:solidFill>
                  <a:srgbClr val="23262B"/>
                </a:solidFill>
                <a:latin typeface="Trebuchet MS" pitchFamily="34" charset="0"/>
                <a:ea typeface="Trebuchet MS" pitchFamily="34" charset="-122"/>
                <a:cs typeface="Trebuchet MS" pitchFamily="34" charset="-120"/>
              </a:rPr>
              <a:t>From paper checklists to accountable readiness</a:t>
            </a:r>
            <a:endParaRPr lang="en-US" sz="2800" dirty="0"/>
          </a:p>
        </p:txBody>
      </p:sp>
      <p:sp>
        <p:nvSpPr>
          <p:cNvPr id="4" name="Shape 2"/>
          <p:cNvSpPr/>
          <p:nvPr/>
        </p:nvSpPr>
        <p:spPr>
          <a:xfrm>
            <a:off x="548640" y="1645920"/>
            <a:ext cx="3931920" cy="288036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5" name="Text 3"/>
          <p:cNvSpPr/>
          <p:nvPr/>
        </p:nvSpPr>
        <p:spPr>
          <a:xfrm>
            <a:off x="777240" y="1847088"/>
            <a:ext cx="3474720" cy="274320"/>
          </a:xfrm>
          <a:prstGeom prst="rect">
            <a:avLst/>
          </a:prstGeom>
          <a:noFill/>
          <a:ln/>
        </p:spPr>
        <p:txBody>
          <a:bodyPr wrap="square" lIns="0" tIns="0" rIns="0" bIns="0" rtlCol="0" anchor="ctr"/>
          <a:lstStyle/>
          <a:p>
            <a:pPr marL="0" indent="0">
              <a:buNone/>
            </a:pPr>
            <a:r>
              <a:rPr lang="en-US" sz="1200" b="1" kern="0" spc="200" dirty="0">
                <a:solidFill>
                  <a:srgbClr val="D81E2C"/>
                </a:solidFill>
                <a:latin typeface="Consolas" pitchFamily="34" charset="0"/>
                <a:ea typeface="Consolas" pitchFamily="34" charset="-122"/>
                <a:cs typeface="Consolas" pitchFamily="34" charset="-120"/>
              </a:rPr>
              <a:t>THE PROBLEM</a:t>
            </a:r>
            <a:endParaRPr lang="en-US" sz="1200" dirty="0"/>
          </a:p>
        </p:txBody>
      </p:sp>
      <p:sp>
        <p:nvSpPr>
          <p:cNvPr id="6" name="Text 4"/>
          <p:cNvSpPr/>
          <p:nvPr/>
        </p:nvSpPr>
        <p:spPr>
          <a:xfrm>
            <a:off x="777240" y="2240280"/>
            <a:ext cx="3474720" cy="2103120"/>
          </a:xfrm>
          <a:prstGeom prst="rect">
            <a:avLst/>
          </a:prstGeom>
          <a:noFill/>
          <a:ln/>
        </p:spPr>
        <p:txBody>
          <a:bodyPr wrap="square" lIns="0" tIns="0" rIns="0" bIns="0" rtlCol="0" anchor="t"/>
          <a:lstStyle/>
          <a:p>
            <a:pPr marL="177800" indent="-177800" algn="l">
              <a:spcAft>
                <a:spcPts val="1000"/>
              </a:spcAft>
              <a:buSzPct val="100000"/>
              <a:buChar char="–"/>
            </a:pPr>
            <a:r>
              <a:rPr lang="en-US" sz="1350" dirty="0">
                <a:solidFill>
                  <a:srgbClr val="23262B"/>
                </a:solidFill>
                <a:latin typeface="Calibri" pitchFamily="34" charset="0"/>
                <a:ea typeface="Calibri" pitchFamily="34" charset="-122"/>
                <a:cs typeface="Calibri" pitchFamily="34" charset="-120"/>
              </a:rPr>
              <a:t>Manual paper checks can be slow</a:t>
            </a:r>
          </a:p>
          <a:p>
            <a:pPr marL="177800" indent="-177800" algn="l">
              <a:spcAft>
                <a:spcPts val="1000"/>
              </a:spcAft>
              <a:buSzPct val="100000"/>
              <a:buChar char="–"/>
            </a:pPr>
            <a:r>
              <a:rPr lang="en-US" sz="1350" dirty="0">
                <a:solidFill>
                  <a:srgbClr val="23262B"/>
                </a:solidFill>
                <a:latin typeface="Calibri" pitchFamily="34" charset="0"/>
                <a:ea typeface="Calibri" pitchFamily="34" charset="-122"/>
                <a:cs typeface="Calibri" pitchFamily="34" charset="-120"/>
              </a:rPr>
              <a:t>They can be hard to verify and find</a:t>
            </a:r>
            <a:endParaRPr lang="en-US" sz="1350" dirty="0"/>
          </a:p>
          <a:p>
            <a:pPr marL="177800" indent="-177800" algn="l">
              <a:spcAft>
                <a:spcPts val="1000"/>
              </a:spcAft>
              <a:buSzPct val="100000"/>
              <a:buChar char="–"/>
            </a:pPr>
            <a:r>
              <a:rPr lang="en-US" sz="1350" dirty="0">
                <a:solidFill>
                  <a:srgbClr val="23262B"/>
                </a:solidFill>
                <a:latin typeface="Calibri" pitchFamily="34" charset="0"/>
                <a:ea typeface="Calibri" pitchFamily="34" charset="-122"/>
                <a:cs typeface="Calibri" pitchFamily="34" charset="-120"/>
              </a:rPr>
              <a:t>No notification of low or expired stock</a:t>
            </a:r>
            <a:endParaRPr lang="en-US" sz="1350" dirty="0"/>
          </a:p>
          <a:p>
            <a:pPr marL="177800" indent="-177800" algn="l">
              <a:spcAft>
                <a:spcPts val="1000"/>
              </a:spcAft>
              <a:buSzPct val="100000"/>
              <a:buChar char="–"/>
            </a:pPr>
            <a:r>
              <a:rPr lang="en-US" sz="1350" dirty="0">
                <a:solidFill>
                  <a:srgbClr val="23262B"/>
                </a:solidFill>
                <a:latin typeface="Calibri" pitchFamily="34" charset="0"/>
                <a:ea typeface="Calibri" pitchFamily="34" charset="-122"/>
                <a:cs typeface="Calibri" pitchFamily="34" charset="-120"/>
              </a:rPr>
              <a:t>Missing equipment found mid-call, not before</a:t>
            </a:r>
            <a:endParaRPr lang="en-US" sz="1350" dirty="0"/>
          </a:p>
        </p:txBody>
      </p:sp>
      <p:sp>
        <p:nvSpPr>
          <p:cNvPr id="7" name="Shape 5"/>
          <p:cNvSpPr/>
          <p:nvPr/>
        </p:nvSpPr>
        <p:spPr>
          <a:xfrm>
            <a:off x="4754880" y="1645920"/>
            <a:ext cx="3931920" cy="2880360"/>
          </a:xfrm>
          <a:prstGeom prst="rect">
            <a:avLst/>
          </a:prstGeom>
          <a:solidFill>
            <a:srgbClr val="23262B"/>
          </a:solidFill>
          <a:ln/>
          <a:effectLst>
            <a:outerShdw blurRad="114300" dist="38100" dir="5400000" algn="bl" rotWithShape="0">
              <a:srgbClr val="000000">
                <a:alpha val="16000"/>
              </a:srgbClr>
            </a:outerShdw>
          </a:effectLst>
        </p:spPr>
        <p:txBody>
          <a:bodyPr/>
          <a:lstStyle/>
          <a:p>
            <a:endParaRPr lang="en-US"/>
          </a:p>
        </p:txBody>
      </p:sp>
      <p:sp>
        <p:nvSpPr>
          <p:cNvPr id="8" name="Shape 6"/>
          <p:cNvSpPr/>
          <p:nvPr/>
        </p:nvSpPr>
        <p:spPr>
          <a:xfrm>
            <a:off x="4754880" y="1645920"/>
            <a:ext cx="3931920" cy="73152"/>
          </a:xfrm>
          <a:prstGeom prst="rect">
            <a:avLst/>
          </a:prstGeom>
          <a:solidFill>
            <a:srgbClr val="D81E2C"/>
          </a:solidFill>
          <a:ln/>
        </p:spPr>
        <p:txBody>
          <a:bodyPr/>
          <a:lstStyle/>
          <a:p>
            <a:endParaRPr lang="en-US"/>
          </a:p>
        </p:txBody>
      </p:sp>
      <p:sp>
        <p:nvSpPr>
          <p:cNvPr id="9" name="Text 7"/>
          <p:cNvSpPr/>
          <p:nvPr/>
        </p:nvSpPr>
        <p:spPr>
          <a:xfrm>
            <a:off x="4983480" y="1847088"/>
            <a:ext cx="3474720" cy="274320"/>
          </a:xfrm>
          <a:prstGeom prst="rect">
            <a:avLst/>
          </a:prstGeom>
          <a:noFill/>
          <a:ln/>
        </p:spPr>
        <p:txBody>
          <a:bodyPr wrap="square" lIns="0" tIns="0" rIns="0" bIns="0" rtlCol="0" anchor="ctr"/>
          <a:lstStyle/>
          <a:p>
            <a:pPr marL="0" indent="0">
              <a:buNone/>
            </a:pPr>
            <a:r>
              <a:rPr lang="en-US" sz="1200" b="1" kern="0" spc="200" dirty="0">
                <a:solidFill>
                  <a:srgbClr val="FF8A91"/>
                </a:solidFill>
                <a:latin typeface="Consolas" pitchFamily="34" charset="0"/>
                <a:ea typeface="Consolas" pitchFamily="34" charset="-122"/>
                <a:cs typeface="Consolas" pitchFamily="34" charset="-120"/>
              </a:rPr>
              <a:t>THE SOLUTION</a:t>
            </a:r>
            <a:endParaRPr lang="en-US" sz="1200" dirty="0"/>
          </a:p>
        </p:txBody>
      </p:sp>
      <p:sp>
        <p:nvSpPr>
          <p:cNvPr id="10" name="Text 8"/>
          <p:cNvSpPr/>
          <p:nvPr/>
        </p:nvSpPr>
        <p:spPr>
          <a:xfrm>
            <a:off x="4983480" y="2240280"/>
            <a:ext cx="3474720" cy="2103120"/>
          </a:xfrm>
          <a:prstGeom prst="rect">
            <a:avLst/>
          </a:prstGeom>
          <a:noFill/>
          <a:ln/>
        </p:spPr>
        <p:txBody>
          <a:bodyPr wrap="square" lIns="0" tIns="0" rIns="0" bIns="0" rtlCol="0" anchor="t"/>
          <a:lstStyle/>
          <a:p>
            <a:pPr marL="177800" indent="-177800" algn="l">
              <a:spcAft>
                <a:spcPts val="1000"/>
              </a:spcAft>
              <a:buSzPct val="100000"/>
              <a:buChar char="–"/>
            </a:pPr>
            <a:r>
              <a:rPr lang="en-US" sz="1350" dirty="0">
                <a:solidFill>
                  <a:srgbClr val="E8E9EB"/>
                </a:solidFill>
                <a:latin typeface="Calibri" pitchFamily="34" charset="0"/>
                <a:ea typeface="Calibri" pitchFamily="34" charset="-122"/>
                <a:cs typeface="Calibri" pitchFamily="34" charset="-120"/>
              </a:rPr>
              <a:t>Guided digital checklists for every unit</a:t>
            </a:r>
            <a:endParaRPr lang="en-US" sz="1350" dirty="0"/>
          </a:p>
          <a:p>
            <a:pPr marL="177800" indent="-177800" algn="l">
              <a:spcAft>
                <a:spcPts val="1000"/>
              </a:spcAft>
              <a:buSzPct val="100000"/>
              <a:buChar char="–"/>
            </a:pPr>
            <a:r>
              <a:rPr lang="en-US" sz="1350" dirty="0">
                <a:solidFill>
                  <a:srgbClr val="E8E9EB"/>
                </a:solidFill>
                <a:latin typeface="Calibri" pitchFamily="34" charset="0"/>
                <a:ea typeface="Calibri" pitchFamily="34" charset="-122"/>
                <a:cs typeface="Calibri" pitchFamily="34" charset="-120"/>
              </a:rPr>
              <a:t>Digital storage and recall</a:t>
            </a:r>
          </a:p>
          <a:p>
            <a:pPr marL="177800" indent="-177800" algn="l">
              <a:spcAft>
                <a:spcPts val="1000"/>
              </a:spcAft>
              <a:buSzPct val="100000"/>
              <a:buChar char="–"/>
            </a:pPr>
            <a:r>
              <a:rPr lang="en-US" sz="1350" dirty="0">
                <a:solidFill>
                  <a:srgbClr val="E8E9EB"/>
                </a:solidFill>
                <a:latin typeface="Calibri" pitchFamily="34" charset="0"/>
                <a:ea typeface="Calibri" pitchFamily="34" charset="-122"/>
                <a:cs typeface="Calibri" pitchFamily="34" charset="-120"/>
              </a:rPr>
              <a:t>Automatic expiry tracking and alerts</a:t>
            </a:r>
            <a:endParaRPr lang="en-US" sz="1350" dirty="0"/>
          </a:p>
          <a:p>
            <a:pPr marL="177800" indent="-177800" algn="l">
              <a:spcAft>
                <a:spcPts val="1000"/>
              </a:spcAft>
              <a:buSzPct val="100000"/>
              <a:buChar char="–"/>
            </a:pPr>
            <a:r>
              <a:rPr lang="en-US" sz="1350" dirty="0">
                <a:solidFill>
                  <a:srgbClr val="E8E9EB"/>
                </a:solidFill>
                <a:latin typeface="Calibri" pitchFamily="34" charset="0"/>
                <a:ea typeface="Calibri" pitchFamily="34" charset="-122"/>
                <a:cs typeface="Calibri" pitchFamily="34" charset="-120"/>
              </a:rPr>
              <a:t>Accountable sign-off with a full audit trail</a:t>
            </a:r>
            <a:endParaRPr lang="en-US" sz="1350" dirty="0"/>
          </a:p>
          <a:p>
            <a:pPr marL="177800" indent="-177800" algn="l">
              <a:spcAft>
                <a:spcPts val="1000"/>
              </a:spcAft>
              <a:buSzPct val="100000"/>
              <a:buChar char="–"/>
            </a:pPr>
            <a:r>
              <a:rPr lang="en-US" sz="1350" dirty="0">
                <a:solidFill>
                  <a:srgbClr val="E8E9EB"/>
                </a:solidFill>
                <a:latin typeface="Calibri" pitchFamily="34" charset="0"/>
                <a:ea typeface="Calibri" pitchFamily="34" charset="-122"/>
                <a:cs typeface="Calibri" pitchFamily="34" charset="-120"/>
              </a:rPr>
              <a:t>Real-time readiness visible to responders and supervisors for increased accountability</a:t>
            </a:r>
            <a:endParaRPr lang="en-US" sz="1350" dirty="0"/>
          </a:p>
        </p:txBody>
      </p:sp>
      <p:sp>
        <p:nvSpPr>
          <p:cNvPr id="11" name="Shape 9"/>
          <p:cNvSpPr/>
          <p:nvPr/>
        </p:nvSpPr>
        <p:spPr>
          <a:xfrm>
            <a:off x="548640" y="4855464"/>
            <a:ext cx="73152" cy="73152"/>
          </a:xfrm>
          <a:prstGeom prst="ellipse">
            <a:avLst/>
          </a:prstGeom>
          <a:solidFill>
            <a:srgbClr val="D81E2C"/>
          </a:solidFill>
          <a:ln/>
        </p:spPr>
        <p:txBody>
          <a:bodyPr/>
          <a:lstStyle/>
          <a:p>
            <a:endParaRPr lang="en-US"/>
          </a:p>
        </p:txBody>
      </p:sp>
      <p:sp>
        <p:nvSpPr>
          <p:cNvPr id="12" name="Text 10"/>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3" name="Text 11"/>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THE WORKFLOW</a:t>
            </a:r>
            <a:endParaRPr lang="en-US" sz="1100" dirty="0"/>
          </a:p>
        </p:txBody>
      </p:sp>
      <p:sp>
        <p:nvSpPr>
          <p:cNvPr id="3" name="Text 1"/>
          <p:cNvSpPr/>
          <p:nvPr/>
        </p:nvSpPr>
        <p:spPr>
          <a:xfrm>
            <a:off x="548640" y="749808"/>
            <a:ext cx="8229600" cy="640080"/>
          </a:xfrm>
          <a:prstGeom prst="rect">
            <a:avLst/>
          </a:prstGeom>
          <a:noFill/>
          <a:ln/>
        </p:spPr>
        <p:txBody>
          <a:bodyPr wrap="square" lIns="0" tIns="0" rIns="0" bIns="0" rtlCol="0" anchor="ctr"/>
          <a:lstStyle/>
          <a:p>
            <a:pPr marL="0" indent="0" algn="l">
              <a:buNone/>
            </a:pPr>
            <a:r>
              <a:rPr lang="en-US" sz="2800" b="1" dirty="0">
                <a:solidFill>
                  <a:srgbClr val="23262B"/>
                </a:solidFill>
                <a:latin typeface="Trebuchet MS" pitchFamily="34" charset="0"/>
                <a:ea typeface="Trebuchet MS" pitchFamily="34" charset="-122"/>
                <a:cs typeface="Trebuchet MS" pitchFamily="34" charset="-120"/>
              </a:rPr>
              <a:t>How a readiness check works</a:t>
            </a:r>
            <a:endParaRPr lang="en-US" sz="2800" dirty="0"/>
          </a:p>
        </p:txBody>
      </p:sp>
      <p:sp>
        <p:nvSpPr>
          <p:cNvPr id="4" name="Shape 2"/>
          <p:cNvSpPr/>
          <p:nvPr/>
        </p:nvSpPr>
        <p:spPr>
          <a:xfrm>
            <a:off x="548640" y="1828800"/>
            <a:ext cx="1874520" cy="22860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5" name="Shape 3"/>
          <p:cNvSpPr/>
          <p:nvPr/>
        </p:nvSpPr>
        <p:spPr>
          <a:xfrm>
            <a:off x="548640" y="1828800"/>
            <a:ext cx="1874520" cy="73152"/>
          </a:xfrm>
          <a:prstGeom prst="rect">
            <a:avLst/>
          </a:prstGeom>
          <a:solidFill>
            <a:srgbClr val="D81E2C"/>
          </a:solidFill>
          <a:ln/>
        </p:spPr>
        <p:txBody>
          <a:bodyPr/>
          <a:lstStyle/>
          <a:p>
            <a:endParaRPr lang="en-US"/>
          </a:p>
        </p:txBody>
      </p:sp>
      <p:sp>
        <p:nvSpPr>
          <p:cNvPr id="6" name="Shape 4"/>
          <p:cNvSpPr/>
          <p:nvPr/>
        </p:nvSpPr>
        <p:spPr>
          <a:xfrm>
            <a:off x="749808" y="2084832"/>
            <a:ext cx="566928" cy="566928"/>
          </a:xfrm>
          <a:prstGeom prst="ellipse">
            <a:avLst/>
          </a:prstGeom>
          <a:solidFill>
            <a:srgbClr val="23262B"/>
          </a:solidFill>
          <a:ln/>
        </p:spPr>
        <p:txBody>
          <a:bodyPr/>
          <a:lstStyle/>
          <a:p>
            <a:endParaRPr lang="en-US"/>
          </a:p>
        </p:txBody>
      </p:sp>
      <p:sp>
        <p:nvSpPr>
          <p:cNvPr id="7" name="Text 5"/>
          <p:cNvSpPr/>
          <p:nvPr/>
        </p:nvSpPr>
        <p:spPr>
          <a:xfrm>
            <a:off x="749808" y="20848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8" name="Text 6"/>
          <p:cNvSpPr/>
          <p:nvPr/>
        </p:nvSpPr>
        <p:spPr>
          <a:xfrm>
            <a:off x="713232" y="2761488"/>
            <a:ext cx="1545336" cy="548640"/>
          </a:xfrm>
          <a:prstGeom prst="rect">
            <a:avLst/>
          </a:prstGeom>
          <a:noFill/>
          <a:ln/>
        </p:spPr>
        <p:txBody>
          <a:bodyPr wrap="square" lIns="0" tIns="0" rIns="0" bIns="0" rtlCol="0" anchor="t"/>
          <a:lstStyle/>
          <a:p>
            <a:pPr marL="0" indent="0" algn="l">
              <a:lnSpc>
                <a:spcPct val="100000"/>
              </a:lnSpc>
              <a:buNone/>
            </a:pPr>
            <a:r>
              <a:rPr lang="en-US" sz="1400" b="1" dirty="0">
                <a:solidFill>
                  <a:srgbClr val="23262B"/>
                </a:solidFill>
                <a:latin typeface="Trebuchet MS" pitchFamily="34" charset="0"/>
                <a:ea typeface="Trebuchet MS" pitchFamily="34" charset="-122"/>
                <a:cs typeface="Trebuchet MS" pitchFamily="34" charset="-120"/>
              </a:rPr>
              <a:t>Sign in &amp; pick a unit</a:t>
            </a:r>
            <a:endParaRPr lang="en-US" sz="1400" dirty="0"/>
          </a:p>
        </p:txBody>
      </p:sp>
      <p:sp>
        <p:nvSpPr>
          <p:cNvPr id="9" name="Text 7"/>
          <p:cNvSpPr/>
          <p:nvPr/>
        </p:nvSpPr>
        <p:spPr>
          <a:xfrm>
            <a:off x="713232" y="3273552"/>
            <a:ext cx="1545336" cy="77724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Crew member logs in and selects the station and ambulance for their shift.</a:t>
            </a:r>
            <a:endParaRPr lang="en-US" sz="1050" dirty="0"/>
          </a:p>
        </p:txBody>
      </p:sp>
      <p:sp>
        <p:nvSpPr>
          <p:cNvPr id="10" name="Text 8"/>
          <p:cNvSpPr/>
          <p:nvPr/>
        </p:nvSpPr>
        <p:spPr>
          <a:xfrm>
            <a:off x="2386584" y="1828800"/>
            <a:ext cx="320040" cy="2286000"/>
          </a:xfrm>
          <a:prstGeom prst="rect">
            <a:avLst/>
          </a:prstGeom>
          <a:noFill/>
          <a:ln/>
        </p:spPr>
        <p:txBody>
          <a:bodyPr wrap="square" lIns="0" tIns="0" rIns="0" bIns="0" rtlCol="0" anchor="ctr"/>
          <a:lstStyle/>
          <a:p>
            <a:pPr marL="0" indent="0" algn="ctr">
              <a:buNone/>
            </a:pPr>
            <a:r>
              <a:rPr lang="en-US" sz="2600" b="1" dirty="0">
                <a:solidFill>
                  <a:srgbClr val="D81E2C"/>
                </a:solidFill>
                <a:latin typeface="Trebuchet MS" pitchFamily="34" charset="0"/>
                <a:ea typeface="Trebuchet MS" pitchFamily="34" charset="-122"/>
                <a:cs typeface="Trebuchet MS" pitchFamily="34" charset="-120"/>
              </a:rPr>
              <a:t>›</a:t>
            </a:r>
            <a:endParaRPr lang="en-US" sz="2600" dirty="0"/>
          </a:p>
        </p:txBody>
      </p:sp>
      <p:sp>
        <p:nvSpPr>
          <p:cNvPr id="11" name="Shape 9"/>
          <p:cNvSpPr/>
          <p:nvPr/>
        </p:nvSpPr>
        <p:spPr>
          <a:xfrm>
            <a:off x="2670048" y="1828800"/>
            <a:ext cx="1874520" cy="22860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12" name="Shape 10"/>
          <p:cNvSpPr/>
          <p:nvPr/>
        </p:nvSpPr>
        <p:spPr>
          <a:xfrm>
            <a:off x="2670048" y="1828800"/>
            <a:ext cx="1874520" cy="73152"/>
          </a:xfrm>
          <a:prstGeom prst="rect">
            <a:avLst/>
          </a:prstGeom>
          <a:solidFill>
            <a:srgbClr val="D81E2C"/>
          </a:solidFill>
          <a:ln/>
        </p:spPr>
        <p:txBody>
          <a:bodyPr/>
          <a:lstStyle/>
          <a:p>
            <a:endParaRPr lang="en-US"/>
          </a:p>
        </p:txBody>
      </p:sp>
      <p:sp>
        <p:nvSpPr>
          <p:cNvPr id="13" name="Shape 11"/>
          <p:cNvSpPr/>
          <p:nvPr/>
        </p:nvSpPr>
        <p:spPr>
          <a:xfrm>
            <a:off x="2871216" y="2084832"/>
            <a:ext cx="566928" cy="566928"/>
          </a:xfrm>
          <a:prstGeom prst="ellipse">
            <a:avLst/>
          </a:prstGeom>
          <a:solidFill>
            <a:srgbClr val="23262B"/>
          </a:solidFill>
          <a:ln/>
        </p:spPr>
        <p:txBody>
          <a:bodyPr/>
          <a:lstStyle/>
          <a:p>
            <a:endParaRPr lang="en-US"/>
          </a:p>
        </p:txBody>
      </p:sp>
      <p:sp>
        <p:nvSpPr>
          <p:cNvPr id="14" name="Text 12"/>
          <p:cNvSpPr/>
          <p:nvPr/>
        </p:nvSpPr>
        <p:spPr>
          <a:xfrm>
            <a:off x="2871216" y="20848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5" name="Text 13"/>
          <p:cNvSpPr/>
          <p:nvPr/>
        </p:nvSpPr>
        <p:spPr>
          <a:xfrm>
            <a:off x="2834640" y="2761488"/>
            <a:ext cx="1545336" cy="548640"/>
          </a:xfrm>
          <a:prstGeom prst="rect">
            <a:avLst/>
          </a:prstGeom>
          <a:noFill/>
          <a:ln/>
        </p:spPr>
        <p:txBody>
          <a:bodyPr wrap="square" lIns="0" tIns="0" rIns="0" bIns="0" rtlCol="0" anchor="t"/>
          <a:lstStyle/>
          <a:p>
            <a:pPr marL="0" indent="0" algn="l">
              <a:lnSpc>
                <a:spcPct val="100000"/>
              </a:lnSpc>
              <a:buNone/>
            </a:pPr>
            <a:r>
              <a:rPr lang="en-US" sz="1400" b="1" dirty="0">
                <a:solidFill>
                  <a:srgbClr val="23262B"/>
                </a:solidFill>
                <a:latin typeface="Trebuchet MS" pitchFamily="34" charset="0"/>
                <a:ea typeface="Trebuchet MS" pitchFamily="34" charset="-122"/>
                <a:cs typeface="Trebuchet MS" pitchFamily="34" charset="-120"/>
              </a:rPr>
              <a:t>Check the truck</a:t>
            </a:r>
            <a:endParaRPr lang="en-US" sz="1400" dirty="0"/>
          </a:p>
        </p:txBody>
      </p:sp>
      <p:sp>
        <p:nvSpPr>
          <p:cNvPr id="16" name="Text 14"/>
          <p:cNvSpPr/>
          <p:nvPr/>
        </p:nvSpPr>
        <p:spPr>
          <a:xfrm>
            <a:off x="2834640" y="3273552"/>
            <a:ext cx="1545336" cy="77724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Step through supplies, and equipment item by item.  Custom categorized for the selected vehicle</a:t>
            </a:r>
            <a:endParaRPr lang="en-US" sz="1050" dirty="0"/>
          </a:p>
        </p:txBody>
      </p:sp>
      <p:sp>
        <p:nvSpPr>
          <p:cNvPr id="17" name="Text 15"/>
          <p:cNvSpPr/>
          <p:nvPr/>
        </p:nvSpPr>
        <p:spPr>
          <a:xfrm>
            <a:off x="4507992" y="1828800"/>
            <a:ext cx="320040" cy="2286000"/>
          </a:xfrm>
          <a:prstGeom prst="rect">
            <a:avLst/>
          </a:prstGeom>
          <a:noFill/>
          <a:ln/>
        </p:spPr>
        <p:txBody>
          <a:bodyPr wrap="square" lIns="0" tIns="0" rIns="0" bIns="0" rtlCol="0" anchor="ctr"/>
          <a:lstStyle/>
          <a:p>
            <a:pPr marL="0" indent="0" algn="ctr">
              <a:buNone/>
            </a:pPr>
            <a:r>
              <a:rPr lang="en-US" sz="2600" b="1" dirty="0">
                <a:solidFill>
                  <a:srgbClr val="D81E2C"/>
                </a:solidFill>
                <a:latin typeface="Trebuchet MS" pitchFamily="34" charset="0"/>
                <a:ea typeface="Trebuchet MS" pitchFamily="34" charset="-122"/>
                <a:cs typeface="Trebuchet MS" pitchFamily="34" charset="-120"/>
              </a:rPr>
              <a:t>›</a:t>
            </a:r>
            <a:endParaRPr lang="en-US" sz="2600" dirty="0"/>
          </a:p>
        </p:txBody>
      </p:sp>
      <p:sp>
        <p:nvSpPr>
          <p:cNvPr id="18" name="Shape 16"/>
          <p:cNvSpPr/>
          <p:nvPr/>
        </p:nvSpPr>
        <p:spPr>
          <a:xfrm>
            <a:off x="4791456" y="1828800"/>
            <a:ext cx="1874520" cy="22860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19" name="Shape 17"/>
          <p:cNvSpPr/>
          <p:nvPr/>
        </p:nvSpPr>
        <p:spPr>
          <a:xfrm>
            <a:off x="4791456" y="1828800"/>
            <a:ext cx="1874520" cy="73152"/>
          </a:xfrm>
          <a:prstGeom prst="rect">
            <a:avLst/>
          </a:prstGeom>
          <a:solidFill>
            <a:srgbClr val="D81E2C"/>
          </a:solidFill>
          <a:ln/>
        </p:spPr>
        <p:txBody>
          <a:bodyPr/>
          <a:lstStyle/>
          <a:p>
            <a:endParaRPr lang="en-US"/>
          </a:p>
        </p:txBody>
      </p:sp>
      <p:sp>
        <p:nvSpPr>
          <p:cNvPr id="20" name="Shape 18"/>
          <p:cNvSpPr/>
          <p:nvPr/>
        </p:nvSpPr>
        <p:spPr>
          <a:xfrm>
            <a:off x="4992624" y="2084832"/>
            <a:ext cx="566928" cy="566928"/>
          </a:xfrm>
          <a:prstGeom prst="ellipse">
            <a:avLst/>
          </a:prstGeom>
          <a:solidFill>
            <a:srgbClr val="23262B"/>
          </a:solidFill>
          <a:ln/>
        </p:spPr>
        <p:txBody>
          <a:bodyPr/>
          <a:lstStyle/>
          <a:p>
            <a:endParaRPr lang="en-US"/>
          </a:p>
        </p:txBody>
      </p:sp>
      <p:sp>
        <p:nvSpPr>
          <p:cNvPr id="21" name="Text 19"/>
          <p:cNvSpPr/>
          <p:nvPr/>
        </p:nvSpPr>
        <p:spPr>
          <a:xfrm>
            <a:off x="4992624" y="20848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22" name="Text 20"/>
          <p:cNvSpPr/>
          <p:nvPr/>
        </p:nvSpPr>
        <p:spPr>
          <a:xfrm>
            <a:off x="4956048" y="2761488"/>
            <a:ext cx="1545336" cy="548640"/>
          </a:xfrm>
          <a:prstGeom prst="rect">
            <a:avLst/>
          </a:prstGeom>
          <a:noFill/>
          <a:ln/>
        </p:spPr>
        <p:txBody>
          <a:bodyPr wrap="square" lIns="0" tIns="0" rIns="0" bIns="0" rtlCol="0" anchor="t"/>
          <a:lstStyle/>
          <a:p>
            <a:pPr marL="0" indent="0" algn="l">
              <a:lnSpc>
                <a:spcPct val="100000"/>
              </a:lnSpc>
              <a:buNone/>
            </a:pPr>
            <a:r>
              <a:rPr lang="en-US" sz="1400" b="1" dirty="0">
                <a:solidFill>
                  <a:srgbClr val="23262B"/>
                </a:solidFill>
                <a:latin typeface="Trebuchet MS" pitchFamily="34" charset="0"/>
                <a:ea typeface="Trebuchet MS" pitchFamily="34" charset="-122"/>
                <a:cs typeface="Trebuchet MS" pitchFamily="34" charset="-120"/>
              </a:rPr>
              <a:t>Flag &amp; restock</a:t>
            </a:r>
            <a:endParaRPr lang="en-US" sz="1400" dirty="0"/>
          </a:p>
        </p:txBody>
      </p:sp>
      <p:sp>
        <p:nvSpPr>
          <p:cNvPr id="23" name="Text 21"/>
          <p:cNvSpPr/>
          <p:nvPr/>
        </p:nvSpPr>
        <p:spPr>
          <a:xfrm>
            <a:off x="4956048" y="3273552"/>
            <a:ext cx="1545336" cy="77724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Mark anything missing, low, damaged or expired and resolve it.</a:t>
            </a:r>
            <a:endParaRPr lang="en-US" sz="1050" dirty="0"/>
          </a:p>
        </p:txBody>
      </p:sp>
      <p:sp>
        <p:nvSpPr>
          <p:cNvPr id="24" name="Text 22"/>
          <p:cNvSpPr/>
          <p:nvPr/>
        </p:nvSpPr>
        <p:spPr>
          <a:xfrm>
            <a:off x="6629400" y="1828800"/>
            <a:ext cx="320040" cy="2286000"/>
          </a:xfrm>
          <a:prstGeom prst="rect">
            <a:avLst/>
          </a:prstGeom>
          <a:noFill/>
          <a:ln/>
        </p:spPr>
        <p:txBody>
          <a:bodyPr wrap="square" lIns="0" tIns="0" rIns="0" bIns="0" rtlCol="0" anchor="ctr"/>
          <a:lstStyle/>
          <a:p>
            <a:pPr marL="0" indent="0" algn="ctr">
              <a:buNone/>
            </a:pPr>
            <a:r>
              <a:rPr lang="en-US" sz="2600" b="1" dirty="0">
                <a:solidFill>
                  <a:srgbClr val="D81E2C"/>
                </a:solidFill>
                <a:latin typeface="Trebuchet MS" pitchFamily="34" charset="0"/>
                <a:ea typeface="Trebuchet MS" pitchFamily="34" charset="-122"/>
                <a:cs typeface="Trebuchet MS" pitchFamily="34" charset="-120"/>
              </a:rPr>
              <a:t>›</a:t>
            </a:r>
            <a:endParaRPr lang="en-US" sz="2600" dirty="0"/>
          </a:p>
        </p:txBody>
      </p:sp>
      <p:sp>
        <p:nvSpPr>
          <p:cNvPr id="25" name="Shape 23"/>
          <p:cNvSpPr/>
          <p:nvPr/>
        </p:nvSpPr>
        <p:spPr>
          <a:xfrm>
            <a:off x="6912864" y="1828800"/>
            <a:ext cx="1874520" cy="22860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26" name="Shape 24"/>
          <p:cNvSpPr/>
          <p:nvPr/>
        </p:nvSpPr>
        <p:spPr>
          <a:xfrm>
            <a:off x="6912864" y="1828800"/>
            <a:ext cx="1874520" cy="73152"/>
          </a:xfrm>
          <a:prstGeom prst="rect">
            <a:avLst/>
          </a:prstGeom>
          <a:solidFill>
            <a:srgbClr val="D81E2C"/>
          </a:solidFill>
          <a:ln/>
        </p:spPr>
        <p:txBody>
          <a:bodyPr/>
          <a:lstStyle/>
          <a:p>
            <a:endParaRPr lang="en-US"/>
          </a:p>
        </p:txBody>
      </p:sp>
      <p:sp>
        <p:nvSpPr>
          <p:cNvPr id="27" name="Shape 25"/>
          <p:cNvSpPr/>
          <p:nvPr/>
        </p:nvSpPr>
        <p:spPr>
          <a:xfrm>
            <a:off x="7114032" y="2084832"/>
            <a:ext cx="566928" cy="566928"/>
          </a:xfrm>
          <a:prstGeom prst="ellipse">
            <a:avLst/>
          </a:prstGeom>
          <a:solidFill>
            <a:srgbClr val="23262B"/>
          </a:solidFill>
          <a:ln/>
        </p:spPr>
        <p:txBody>
          <a:bodyPr/>
          <a:lstStyle/>
          <a:p>
            <a:endParaRPr lang="en-US"/>
          </a:p>
        </p:txBody>
      </p:sp>
      <p:sp>
        <p:nvSpPr>
          <p:cNvPr id="28" name="Text 26"/>
          <p:cNvSpPr/>
          <p:nvPr/>
        </p:nvSpPr>
        <p:spPr>
          <a:xfrm>
            <a:off x="7114032" y="2084832"/>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29" name="Text 27"/>
          <p:cNvSpPr/>
          <p:nvPr/>
        </p:nvSpPr>
        <p:spPr>
          <a:xfrm>
            <a:off x="7077456" y="2761488"/>
            <a:ext cx="1545336" cy="548640"/>
          </a:xfrm>
          <a:prstGeom prst="rect">
            <a:avLst/>
          </a:prstGeom>
          <a:noFill/>
          <a:ln/>
        </p:spPr>
        <p:txBody>
          <a:bodyPr wrap="square" lIns="0" tIns="0" rIns="0" bIns="0" rtlCol="0" anchor="t"/>
          <a:lstStyle/>
          <a:p>
            <a:pPr marL="0" indent="0" algn="l">
              <a:lnSpc>
                <a:spcPct val="100000"/>
              </a:lnSpc>
              <a:buNone/>
            </a:pPr>
            <a:r>
              <a:rPr lang="en-US" sz="1400" b="1" dirty="0">
                <a:solidFill>
                  <a:srgbClr val="23262B"/>
                </a:solidFill>
                <a:latin typeface="Trebuchet MS" pitchFamily="34" charset="0"/>
                <a:ea typeface="Trebuchet MS" pitchFamily="34" charset="-122"/>
                <a:cs typeface="Trebuchet MS" pitchFamily="34" charset="-120"/>
              </a:rPr>
              <a:t>Submit &amp; report</a:t>
            </a:r>
            <a:endParaRPr lang="en-US" sz="1400" dirty="0"/>
          </a:p>
        </p:txBody>
      </p:sp>
      <p:sp>
        <p:nvSpPr>
          <p:cNvPr id="30" name="Text 28"/>
          <p:cNvSpPr/>
          <p:nvPr/>
        </p:nvSpPr>
        <p:spPr>
          <a:xfrm>
            <a:off x="7077456" y="3273552"/>
            <a:ext cx="1545336" cy="777240"/>
          </a:xfrm>
          <a:prstGeom prst="rect">
            <a:avLst/>
          </a:prstGeom>
          <a:noFill/>
          <a:ln/>
        </p:spPr>
        <p:txBody>
          <a:bodyPr wrap="square" lIns="0" tIns="0" rIns="0" bIns="0" rtlCol="0" anchor="t"/>
          <a:lstStyle/>
          <a:p>
            <a:pPr marL="0" indent="0" algn="l">
              <a:lnSpc>
                <a:spcPct val="105000"/>
              </a:lnSpc>
              <a:buNone/>
            </a:pPr>
            <a:r>
              <a:rPr lang="en-US" sz="1050" dirty="0">
                <a:solidFill>
                  <a:srgbClr val="555E6B"/>
                </a:solidFill>
                <a:latin typeface="Calibri" pitchFamily="34" charset="0"/>
                <a:ea typeface="Calibri" pitchFamily="34" charset="-122"/>
                <a:cs typeface="Calibri" pitchFamily="34" charset="-120"/>
              </a:rPr>
              <a:t>Confirm inventory; the result is logged and findings are shared with supervisors.</a:t>
            </a:r>
            <a:endParaRPr lang="en-US" sz="1050" dirty="0"/>
          </a:p>
        </p:txBody>
      </p:sp>
      <p:sp>
        <p:nvSpPr>
          <p:cNvPr id="31" name="Shape 29"/>
          <p:cNvSpPr/>
          <p:nvPr/>
        </p:nvSpPr>
        <p:spPr>
          <a:xfrm>
            <a:off x="548640" y="4855464"/>
            <a:ext cx="73152" cy="73152"/>
          </a:xfrm>
          <a:prstGeom prst="ellipse">
            <a:avLst/>
          </a:prstGeom>
          <a:solidFill>
            <a:srgbClr val="D81E2C"/>
          </a:solidFill>
          <a:ln/>
        </p:spPr>
        <p:txBody>
          <a:bodyPr/>
          <a:lstStyle/>
          <a:p>
            <a:endParaRPr lang="en-US"/>
          </a:p>
        </p:txBody>
      </p:sp>
      <p:sp>
        <p:nvSpPr>
          <p:cNvPr id="32" name="Text 30"/>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33" name="Text 31"/>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50B1F583-8FA1-8B9E-C925-92CB4D94615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3627E97-45A1-F181-F6ED-54882105AEC7}"/>
              </a:ext>
            </a:extLst>
          </p:cNvPr>
          <p:cNvSpPr/>
          <p:nvPr/>
        </p:nvSpPr>
        <p:spPr>
          <a:xfrm>
            <a:off x="548640" y="457200"/>
            <a:ext cx="4572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81E2C"/>
                </a:solidFill>
                <a:effectLst/>
                <a:uLnTx/>
                <a:uFillTx/>
                <a:latin typeface="Consolas" pitchFamily="34" charset="0"/>
                <a:ea typeface="Consolas" pitchFamily="34" charset="-122"/>
                <a:cs typeface="Consolas" pitchFamily="34" charset="-120"/>
              </a:rPr>
              <a:t>FEATURE 01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9C5A785-1183-41FC-D51D-D1CF790F5C54}"/>
              </a:ext>
            </a:extLst>
          </p:cNvPr>
          <p:cNvSpPr/>
          <p:nvPr/>
        </p:nvSpPr>
        <p:spPr>
          <a:xfrm>
            <a:off x="548640" y="749808"/>
            <a:ext cx="329184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Login &amp; Stations</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2C9078D0-DF53-9FB4-26C5-4D9A89AAE20C}"/>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2C33A9CE-070D-6A7C-A97E-8CA0F54706C5}"/>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EB6FB0B1-639E-48BD-901E-FCBE1B91DE0B}"/>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05</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Picture 20">
            <a:extLst>
              <a:ext uri="{FF2B5EF4-FFF2-40B4-BE49-F238E27FC236}">
                <a16:creationId xmlns:a16="http://schemas.microsoft.com/office/drawing/2014/main" id="{36A92477-3CE5-AC0D-275F-2C7316FC1F42}"/>
              </a:ext>
            </a:extLst>
          </p:cNvPr>
          <p:cNvPicPr>
            <a:picLocks noChangeAspect="1"/>
          </p:cNvPicPr>
          <p:nvPr/>
        </p:nvPicPr>
        <p:blipFill>
          <a:blip r:embed="rId3"/>
          <a:stretch>
            <a:fillRect/>
          </a:stretch>
        </p:blipFill>
        <p:spPr>
          <a:xfrm>
            <a:off x="548640" y="1395851"/>
            <a:ext cx="1458262" cy="2843784"/>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43C03EB7-0093-B1F3-2FBA-FC444B70D59E}"/>
              </a:ext>
            </a:extLst>
          </p:cNvPr>
          <p:cNvPicPr>
            <a:picLocks noChangeAspect="1"/>
          </p:cNvPicPr>
          <p:nvPr/>
        </p:nvPicPr>
        <p:blipFill>
          <a:blip r:embed="rId4"/>
          <a:stretch>
            <a:fillRect/>
          </a:stretch>
        </p:blipFill>
        <p:spPr>
          <a:xfrm>
            <a:off x="2228065" y="1395851"/>
            <a:ext cx="1454639" cy="2843784"/>
          </a:xfrm>
          <a:prstGeom prst="rect">
            <a:avLst/>
          </a:prstGeom>
          <a:ln>
            <a:no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B439DFD8-AB72-B98C-8E14-CD5BEC227942}"/>
              </a:ext>
            </a:extLst>
          </p:cNvPr>
          <p:cNvPicPr>
            <a:picLocks noChangeAspect="1"/>
          </p:cNvPicPr>
          <p:nvPr/>
        </p:nvPicPr>
        <p:blipFill>
          <a:blip r:embed="rId5"/>
          <a:stretch>
            <a:fillRect/>
          </a:stretch>
        </p:blipFill>
        <p:spPr>
          <a:xfrm>
            <a:off x="3856693" y="1395851"/>
            <a:ext cx="1466867" cy="2843784"/>
          </a:xfrm>
          <a:prstGeom prst="rect">
            <a:avLst/>
          </a:prstGeom>
          <a:ln>
            <a:noFill/>
          </a:ln>
          <a:effectLst>
            <a:outerShdw blurRad="292100" dist="139700" dir="2700000" algn="tl" rotWithShape="0">
              <a:srgbClr val="333333">
                <a:alpha val="65000"/>
              </a:srgbClr>
            </a:outerShdw>
          </a:effectLst>
        </p:spPr>
      </p:pic>
      <p:pic>
        <p:nvPicPr>
          <p:cNvPr id="27" name="Picture 26">
            <a:extLst>
              <a:ext uri="{FF2B5EF4-FFF2-40B4-BE49-F238E27FC236}">
                <a16:creationId xmlns:a16="http://schemas.microsoft.com/office/drawing/2014/main" id="{9DA43E58-01A6-4070-0952-B7E89F25BD83}"/>
              </a:ext>
            </a:extLst>
          </p:cNvPr>
          <p:cNvPicPr>
            <a:picLocks noChangeAspect="1"/>
          </p:cNvPicPr>
          <p:nvPr/>
        </p:nvPicPr>
        <p:blipFill>
          <a:blip r:embed="rId6"/>
          <a:stretch>
            <a:fillRect/>
          </a:stretch>
        </p:blipFill>
        <p:spPr>
          <a:xfrm>
            <a:off x="5497549" y="1395851"/>
            <a:ext cx="1463407" cy="2843784"/>
          </a:xfrm>
          <a:prstGeom prst="rect">
            <a:avLst/>
          </a:prstGeom>
          <a:ln>
            <a:noFill/>
          </a:ln>
          <a:effectLst>
            <a:outerShdw blurRad="292100" dist="139700" dir="2700000" algn="tl" rotWithShape="0">
              <a:srgbClr val="333333">
                <a:alpha val="65000"/>
              </a:srgbClr>
            </a:outerShdw>
          </a:effectLst>
        </p:spPr>
      </p:pic>
      <p:pic>
        <p:nvPicPr>
          <p:cNvPr id="29" name="Picture 28">
            <a:extLst>
              <a:ext uri="{FF2B5EF4-FFF2-40B4-BE49-F238E27FC236}">
                <a16:creationId xmlns:a16="http://schemas.microsoft.com/office/drawing/2014/main" id="{48126CF9-BADB-E707-4A86-49EEFD9FBFC1}"/>
              </a:ext>
            </a:extLst>
          </p:cNvPr>
          <p:cNvPicPr>
            <a:picLocks noChangeAspect="1"/>
          </p:cNvPicPr>
          <p:nvPr/>
        </p:nvPicPr>
        <p:blipFill>
          <a:blip r:embed="rId7"/>
          <a:stretch>
            <a:fillRect/>
          </a:stretch>
        </p:blipFill>
        <p:spPr>
          <a:xfrm>
            <a:off x="7134945" y="1395851"/>
            <a:ext cx="1463407" cy="2843784"/>
          </a:xfrm>
          <a:prstGeom prst="rect">
            <a:avLst/>
          </a:prstGeom>
          <a:ln>
            <a:noFill/>
          </a:ln>
          <a:effectLst>
            <a:outerShdw blurRad="292100" dist="139700" dir="2700000" algn="tl" rotWithShape="0">
              <a:srgbClr val="333333">
                <a:alpha val="65000"/>
              </a:srgbClr>
            </a:outerShdw>
          </a:effectLst>
        </p:spPr>
      </p:pic>
      <p:sp>
        <p:nvSpPr>
          <p:cNvPr id="30" name="Arrow: Right 29">
            <a:extLst>
              <a:ext uri="{FF2B5EF4-FFF2-40B4-BE49-F238E27FC236}">
                <a16:creationId xmlns:a16="http://schemas.microsoft.com/office/drawing/2014/main" id="{8B3AFE2F-A905-019F-A4A0-AAB22654DE21}"/>
              </a:ext>
            </a:extLst>
          </p:cNvPr>
          <p:cNvSpPr/>
          <p:nvPr/>
        </p:nvSpPr>
        <p:spPr>
          <a:xfrm>
            <a:off x="548640" y="4323522"/>
            <a:ext cx="1458262" cy="531941"/>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Login</a:t>
            </a:r>
          </a:p>
        </p:txBody>
      </p:sp>
      <p:sp>
        <p:nvSpPr>
          <p:cNvPr id="31" name="Arrow: Right 30">
            <a:extLst>
              <a:ext uri="{FF2B5EF4-FFF2-40B4-BE49-F238E27FC236}">
                <a16:creationId xmlns:a16="http://schemas.microsoft.com/office/drawing/2014/main" id="{3D0F6A8A-8D7E-694B-72DB-76BBB340CFB3}"/>
              </a:ext>
            </a:extLst>
          </p:cNvPr>
          <p:cNvSpPr/>
          <p:nvPr/>
        </p:nvSpPr>
        <p:spPr>
          <a:xfrm>
            <a:off x="2534478" y="4323521"/>
            <a:ext cx="4426478" cy="531941"/>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Introductory tutorial</a:t>
            </a:r>
          </a:p>
        </p:txBody>
      </p:sp>
      <p:sp>
        <p:nvSpPr>
          <p:cNvPr id="32" name="Arrow: Right 31">
            <a:extLst>
              <a:ext uri="{FF2B5EF4-FFF2-40B4-BE49-F238E27FC236}">
                <a16:creationId xmlns:a16="http://schemas.microsoft.com/office/drawing/2014/main" id="{307F6170-AF72-EDDD-BE7E-674FE7D1C30D}"/>
              </a:ext>
            </a:extLst>
          </p:cNvPr>
          <p:cNvSpPr/>
          <p:nvPr/>
        </p:nvSpPr>
        <p:spPr>
          <a:xfrm>
            <a:off x="7137517" y="4323520"/>
            <a:ext cx="1458262" cy="531941"/>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Dashboard</a:t>
            </a:r>
          </a:p>
        </p:txBody>
      </p:sp>
      <p:sp>
        <p:nvSpPr>
          <p:cNvPr id="33" name="Rectangle: Rounded Corners 32">
            <a:extLst>
              <a:ext uri="{FF2B5EF4-FFF2-40B4-BE49-F238E27FC236}">
                <a16:creationId xmlns:a16="http://schemas.microsoft.com/office/drawing/2014/main" id="{0AEB0BFB-C1AF-500C-184D-DD1413C8FD17}"/>
              </a:ext>
            </a:extLst>
          </p:cNvPr>
          <p:cNvSpPr/>
          <p:nvPr/>
        </p:nvSpPr>
        <p:spPr>
          <a:xfrm>
            <a:off x="1145511" y="117102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34" name="Rectangle: Rounded Corners 33">
            <a:extLst>
              <a:ext uri="{FF2B5EF4-FFF2-40B4-BE49-F238E27FC236}">
                <a16:creationId xmlns:a16="http://schemas.microsoft.com/office/drawing/2014/main" id="{4C168FB5-C703-3339-8B7F-1A8EC733E6B4}"/>
              </a:ext>
            </a:extLst>
          </p:cNvPr>
          <p:cNvSpPr/>
          <p:nvPr/>
        </p:nvSpPr>
        <p:spPr>
          <a:xfrm>
            <a:off x="2821313" y="117102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35" name="Rectangle: Rounded Corners 34">
            <a:extLst>
              <a:ext uri="{FF2B5EF4-FFF2-40B4-BE49-F238E27FC236}">
                <a16:creationId xmlns:a16="http://schemas.microsoft.com/office/drawing/2014/main" id="{C1346B5F-1F4F-6D21-03E3-628EF539DFCB}"/>
              </a:ext>
            </a:extLst>
          </p:cNvPr>
          <p:cNvSpPr/>
          <p:nvPr/>
        </p:nvSpPr>
        <p:spPr>
          <a:xfrm>
            <a:off x="4462169" y="118414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36" name="Rectangle: Rounded Corners 35">
            <a:extLst>
              <a:ext uri="{FF2B5EF4-FFF2-40B4-BE49-F238E27FC236}">
                <a16:creationId xmlns:a16="http://schemas.microsoft.com/office/drawing/2014/main" id="{36FF2F37-67B8-8830-259A-9A484F47E067}"/>
              </a:ext>
            </a:extLst>
          </p:cNvPr>
          <p:cNvSpPr/>
          <p:nvPr/>
        </p:nvSpPr>
        <p:spPr>
          <a:xfrm>
            <a:off x="6099565" y="119666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37" name="Rectangle: Rounded Corners 36">
            <a:extLst>
              <a:ext uri="{FF2B5EF4-FFF2-40B4-BE49-F238E27FC236}">
                <a16:creationId xmlns:a16="http://schemas.microsoft.com/office/drawing/2014/main" id="{0C55A5B9-E972-F54D-39CE-4DCF6DA126AB}"/>
              </a:ext>
            </a:extLst>
          </p:cNvPr>
          <p:cNvSpPr/>
          <p:nvPr/>
        </p:nvSpPr>
        <p:spPr>
          <a:xfrm>
            <a:off x="7733969" y="1175401"/>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Tree>
    <p:extLst>
      <p:ext uri="{BB962C8B-B14F-4D97-AF65-F5344CB8AC3E}">
        <p14:creationId xmlns:p14="http://schemas.microsoft.com/office/powerpoint/2010/main" val="1876715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FEATURE 01</a:t>
            </a:r>
            <a:endParaRPr lang="en-US" sz="1100" dirty="0"/>
          </a:p>
        </p:txBody>
      </p:sp>
      <p:sp>
        <p:nvSpPr>
          <p:cNvPr id="3" name="Text 1"/>
          <p:cNvSpPr/>
          <p:nvPr/>
        </p:nvSpPr>
        <p:spPr>
          <a:xfrm>
            <a:off x="548640" y="749808"/>
            <a:ext cx="3291840"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Shift readiness dashboard</a:t>
            </a:r>
            <a:endParaRPr lang="en-US" sz="2500" dirty="0"/>
          </a:p>
        </p:txBody>
      </p:sp>
      <p:sp>
        <p:nvSpPr>
          <p:cNvPr id="4" name="Text 2"/>
          <p:cNvSpPr/>
          <p:nvPr/>
        </p:nvSpPr>
        <p:spPr>
          <a:xfrm>
            <a:off x="548640" y="1691640"/>
            <a:ext cx="3291840" cy="685800"/>
          </a:xfrm>
          <a:prstGeom prst="rect">
            <a:avLst/>
          </a:prstGeom>
          <a:noFill/>
          <a:ln/>
        </p:spPr>
        <p:txBody>
          <a:bodyPr wrap="square" lIns="0" tIns="0" rIns="0" bIns="0" rtlCol="0" anchor="t"/>
          <a:lstStyle/>
          <a:p>
            <a:pPr marL="0" indent="0" algn="l">
              <a:lnSpc>
                <a:spcPct val="112000"/>
              </a:lnSpc>
              <a:buNone/>
            </a:pPr>
            <a:r>
              <a:rPr lang="en-US" sz="1300" dirty="0">
                <a:solidFill>
                  <a:srgbClr val="555E6B"/>
                </a:solidFill>
                <a:latin typeface="Calibri" pitchFamily="34" charset="0"/>
                <a:ea typeface="Calibri" pitchFamily="34" charset="-122"/>
                <a:cs typeface="Calibri" pitchFamily="34" charset="-120"/>
              </a:rPr>
              <a:t>The home view makes it easy for responders and supervisors to access what they need.</a:t>
            </a:r>
            <a:endParaRPr lang="en-US" sz="1300" dirty="0"/>
          </a:p>
        </p:txBody>
      </p:sp>
      <p:sp>
        <p:nvSpPr>
          <p:cNvPr id="5" name="Text 3"/>
          <p:cNvSpPr/>
          <p:nvPr/>
        </p:nvSpPr>
        <p:spPr>
          <a:xfrm>
            <a:off x="548640" y="2468880"/>
            <a:ext cx="3291840"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Check the truck – daily inventory</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Log Items Used – easy decrement after a run</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Color-coded to identify station and most important tasks</a:t>
            </a:r>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Organized for ease of use</a:t>
            </a:r>
            <a:endParaRPr lang="en-US" sz="1250" dirty="0"/>
          </a:p>
        </p:txBody>
      </p:sp>
      <p:sp>
        <p:nvSpPr>
          <p:cNvPr id="15" name="Shape 13"/>
          <p:cNvSpPr/>
          <p:nvPr/>
        </p:nvSpPr>
        <p:spPr>
          <a:xfrm>
            <a:off x="548640" y="4855464"/>
            <a:ext cx="73152" cy="73152"/>
          </a:xfrm>
          <a:prstGeom prst="ellipse">
            <a:avLst/>
          </a:prstGeom>
          <a:solidFill>
            <a:srgbClr val="D81E2C"/>
          </a:solidFill>
          <a:ln/>
        </p:spPr>
        <p:txBody>
          <a:bodyPr/>
          <a:lstStyle/>
          <a:p>
            <a:endParaRPr lang="en-US"/>
          </a:p>
        </p:txBody>
      </p:sp>
      <p:sp>
        <p:nvSpPr>
          <p:cNvPr id="16" name="Text 14"/>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7" name="Text 15"/>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05</a:t>
            </a:r>
            <a:endParaRPr lang="en-US" sz="950" dirty="0"/>
          </a:p>
        </p:txBody>
      </p:sp>
      <p:pic>
        <p:nvPicPr>
          <p:cNvPr id="19" name="Picture 18">
            <a:extLst>
              <a:ext uri="{FF2B5EF4-FFF2-40B4-BE49-F238E27FC236}">
                <a16:creationId xmlns:a16="http://schemas.microsoft.com/office/drawing/2014/main" id="{E2B5DD03-79C2-7604-733D-21347CAA7841}"/>
              </a:ext>
            </a:extLst>
          </p:cNvPr>
          <p:cNvPicPr>
            <a:picLocks noChangeAspect="1"/>
          </p:cNvPicPr>
          <p:nvPr/>
        </p:nvPicPr>
        <p:blipFill>
          <a:blip r:embed="rId3"/>
          <a:stretch>
            <a:fillRect/>
          </a:stretch>
        </p:blipFill>
        <p:spPr>
          <a:xfrm>
            <a:off x="4011429" y="457200"/>
            <a:ext cx="2201620" cy="4288735"/>
          </a:xfrm>
          <a:prstGeom prst="rect">
            <a:avLst/>
          </a:prstGeom>
          <a:ln>
            <a:noFill/>
          </a:ln>
          <a:effectLst>
            <a:outerShdw blurRad="292100" dist="139700" dir="2700000" algn="tl" rotWithShape="0">
              <a:srgbClr val="333333">
                <a:alpha val="65000"/>
              </a:srgbClr>
            </a:outerShdw>
          </a:effectLst>
        </p:spPr>
      </p:pic>
      <p:pic>
        <p:nvPicPr>
          <p:cNvPr id="21" name="Picture 20">
            <a:extLst>
              <a:ext uri="{FF2B5EF4-FFF2-40B4-BE49-F238E27FC236}">
                <a16:creationId xmlns:a16="http://schemas.microsoft.com/office/drawing/2014/main" id="{776AB0A5-C36E-8360-EA7A-C2462A2F6F01}"/>
              </a:ext>
            </a:extLst>
          </p:cNvPr>
          <p:cNvPicPr>
            <a:picLocks noChangeAspect="1"/>
          </p:cNvPicPr>
          <p:nvPr/>
        </p:nvPicPr>
        <p:blipFill>
          <a:blip r:embed="rId4"/>
          <a:stretch>
            <a:fillRect/>
          </a:stretch>
        </p:blipFill>
        <p:spPr>
          <a:xfrm>
            <a:off x="6519073" y="457200"/>
            <a:ext cx="2212359" cy="4288735"/>
          </a:xfrm>
          <a:prstGeom prst="rect">
            <a:avLst/>
          </a:prstGeom>
          <a:ln>
            <a:noFill/>
          </a:ln>
          <a:effectLst>
            <a:outerShdw blurRad="292100" dist="139700" dir="2700000" algn="tl" rotWithShape="0">
              <a:srgbClr val="333333">
                <a:alpha val="65000"/>
              </a:srgbClr>
            </a:outerShdw>
          </a:effectLst>
        </p:spPr>
      </p:pic>
      <p:sp>
        <p:nvSpPr>
          <p:cNvPr id="22" name="Rectangle: Rounded Corners 21">
            <a:extLst>
              <a:ext uri="{FF2B5EF4-FFF2-40B4-BE49-F238E27FC236}">
                <a16:creationId xmlns:a16="http://schemas.microsoft.com/office/drawing/2014/main" id="{C9337442-7CD7-7576-A8D8-90C8326E4CED}"/>
              </a:ext>
            </a:extLst>
          </p:cNvPr>
          <p:cNvSpPr/>
          <p:nvPr/>
        </p:nvSpPr>
        <p:spPr>
          <a:xfrm>
            <a:off x="7870041" y="24649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a:t>
            </a:r>
          </a:p>
        </p:txBody>
      </p:sp>
      <p:sp>
        <p:nvSpPr>
          <p:cNvPr id="23" name="Rectangle: Rounded Corners 22">
            <a:extLst>
              <a:ext uri="{FF2B5EF4-FFF2-40B4-BE49-F238E27FC236}">
                <a16:creationId xmlns:a16="http://schemas.microsoft.com/office/drawing/2014/main" id="{756E3512-38B3-4507-B485-88D8A4D32D20}"/>
              </a:ext>
            </a:extLst>
          </p:cNvPr>
          <p:cNvSpPr/>
          <p:nvPr/>
        </p:nvSpPr>
        <p:spPr>
          <a:xfrm>
            <a:off x="5351658" y="250466"/>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24" name="Right Brace 23">
            <a:extLst>
              <a:ext uri="{FF2B5EF4-FFF2-40B4-BE49-F238E27FC236}">
                <a16:creationId xmlns:a16="http://schemas.microsoft.com/office/drawing/2014/main" id="{3E7F37C2-7243-1E53-B058-8942CE861BBE}"/>
              </a:ext>
            </a:extLst>
          </p:cNvPr>
          <p:cNvSpPr/>
          <p:nvPr/>
        </p:nvSpPr>
        <p:spPr>
          <a:xfrm>
            <a:off x="8645055" y="1838739"/>
            <a:ext cx="324012" cy="1361661"/>
          </a:xfrm>
          <a:prstGeom prst="rightBrace">
            <a:avLst>
              <a:gd name="adj1" fmla="val 8333"/>
              <a:gd name="adj2" fmla="val 49457"/>
            </a:avLst>
          </a:prstGeom>
          <a:noFill/>
          <a:ln w="28575">
            <a:solidFill>
              <a:srgbClr val="D81E2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5F2"/>
        </a:solidFill>
        <a:effectLst/>
      </p:bgPr>
    </p:bg>
    <p:spTree>
      <p:nvGrpSpPr>
        <p:cNvPr id="1" name=""/>
        <p:cNvGrpSpPr/>
        <p:nvPr/>
      </p:nvGrpSpPr>
      <p:grpSpPr>
        <a:xfrm>
          <a:off x="0" y="0"/>
          <a:ext cx="0" cy="0"/>
          <a:chOff x="0" y="0"/>
          <a:chExt cx="0" cy="0"/>
        </a:xfrm>
      </p:grpSpPr>
      <p:sp>
        <p:nvSpPr>
          <p:cNvPr id="26" name="Arrow: Right 25">
            <a:extLst>
              <a:ext uri="{FF2B5EF4-FFF2-40B4-BE49-F238E27FC236}">
                <a16:creationId xmlns:a16="http://schemas.microsoft.com/office/drawing/2014/main" id="{68C375AA-5A94-49D3-9D7F-D12D8523E2D1}"/>
              </a:ext>
            </a:extLst>
          </p:cNvPr>
          <p:cNvSpPr/>
          <p:nvPr/>
        </p:nvSpPr>
        <p:spPr>
          <a:xfrm>
            <a:off x="548640" y="4330071"/>
            <a:ext cx="7677379" cy="300978"/>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0"/>
          <p:cNvSpPr/>
          <p:nvPr/>
        </p:nvSpPr>
        <p:spPr>
          <a:xfrm>
            <a:off x="5512407" y="457200"/>
            <a:ext cx="3357273"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FEATURE 02</a:t>
            </a:r>
            <a:endParaRPr lang="en-US" sz="1100" dirty="0"/>
          </a:p>
        </p:txBody>
      </p:sp>
      <p:sp>
        <p:nvSpPr>
          <p:cNvPr id="3" name="Text 1"/>
          <p:cNvSpPr/>
          <p:nvPr/>
        </p:nvSpPr>
        <p:spPr>
          <a:xfrm>
            <a:off x="5496339" y="749808"/>
            <a:ext cx="3099021"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Ambulance Daily Check</a:t>
            </a:r>
            <a:endParaRPr lang="en-US" sz="2500" dirty="0"/>
          </a:p>
        </p:txBody>
      </p:sp>
      <p:sp>
        <p:nvSpPr>
          <p:cNvPr id="4" name="Text 2"/>
          <p:cNvSpPr/>
          <p:nvPr/>
        </p:nvSpPr>
        <p:spPr>
          <a:xfrm>
            <a:off x="5496339" y="1691640"/>
            <a:ext cx="3099021" cy="685800"/>
          </a:xfrm>
          <a:prstGeom prst="rect">
            <a:avLst/>
          </a:prstGeom>
          <a:noFill/>
          <a:ln/>
        </p:spPr>
        <p:txBody>
          <a:bodyPr wrap="square" lIns="0" tIns="0" rIns="0" bIns="0" rtlCol="0" anchor="t"/>
          <a:lstStyle/>
          <a:p>
            <a:pPr marL="0" indent="0" algn="l">
              <a:lnSpc>
                <a:spcPct val="112000"/>
              </a:lnSpc>
              <a:buNone/>
            </a:pPr>
            <a:r>
              <a:rPr lang="en-US" sz="1300" dirty="0">
                <a:solidFill>
                  <a:srgbClr val="555E6B"/>
                </a:solidFill>
                <a:latin typeface="Calibri" pitchFamily="34" charset="0"/>
                <a:ea typeface="Calibri" pitchFamily="34" charset="-122"/>
                <a:cs typeface="Calibri" pitchFamily="34" charset="-120"/>
              </a:rPr>
              <a:t>Guided, item-by-item checklists confirm every required supply is present and counted.</a:t>
            </a:r>
            <a:endParaRPr lang="en-US" sz="1300" dirty="0"/>
          </a:p>
        </p:txBody>
      </p:sp>
      <p:sp>
        <p:nvSpPr>
          <p:cNvPr id="5" name="Text 3"/>
          <p:cNvSpPr/>
          <p:nvPr/>
        </p:nvSpPr>
        <p:spPr>
          <a:xfrm>
            <a:off x="5496339" y="2468880"/>
            <a:ext cx="3099021"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Checklists tailored to each unit type</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Tap to confirm, flag, or note a shortage or damaged item</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Progress saved as the crew works through it</a:t>
            </a:r>
            <a:endParaRPr lang="en-US" sz="1250" dirty="0"/>
          </a:p>
        </p:txBody>
      </p:sp>
      <p:sp>
        <p:nvSpPr>
          <p:cNvPr id="15" name="Shape 13"/>
          <p:cNvSpPr/>
          <p:nvPr/>
        </p:nvSpPr>
        <p:spPr>
          <a:xfrm>
            <a:off x="548640" y="4855464"/>
            <a:ext cx="73152" cy="73152"/>
          </a:xfrm>
          <a:prstGeom prst="ellipse">
            <a:avLst/>
          </a:prstGeom>
          <a:solidFill>
            <a:srgbClr val="D81E2C"/>
          </a:solidFill>
          <a:ln/>
        </p:spPr>
        <p:txBody>
          <a:bodyPr/>
          <a:lstStyle/>
          <a:p>
            <a:endParaRPr lang="en-US"/>
          </a:p>
        </p:txBody>
      </p:sp>
      <p:sp>
        <p:nvSpPr>
          <p:cNvPr id="16" name="Text 14"/>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7" name="Text 15"/>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06</a:t>
            </a:r>
            <a:endParaRPr lang="en-US" sz="950" dirty="0"/>
          </a:p>
        </p:txBody>
      </p:sp>
      <p:pic>
        <p:nvPicPr>
          <p:cNvPr id="19" name="Picture 18">
            <a:extLst>
              <a:ext uri="{FF2B5EF4-FFF2-40B4-BE49-F238E27FC236}">
                <a16:creationId xmlns:a16="http://schemas.microsoft.com/office/drawing/2014/main" id="{111547DC-4296-C266-330B-E5986E453455}"/>
              </a:ext>
            </a:extLst>
          </p:cNvPr>
          <p:cNvPicPr>
            <a:picLocks noChangeAspect="1"/>
          </p:cNvPicPr>
          <p:nvPr/>
        </p:nvPicPr>
        <p:blipFill>
          <a:blip r:embed="rId3"/>
          <a:stretch>
            <a:fillRect/>
          </a:stretch>
        </p:blipFill>
        <p:spPr>
          <a:xfrm>
            <a:off x="274320" y="489800"/>
            <a:ext cx="2048655" cy="3990760"/>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AB28A0F7-1E7F-0976-CC25-04D9387481CA}"/>
              </a:ext>
            </a:extLst>
          </p:cNvPr>
          <p:cNvPicPr>
            <a:picLocks noChangeAspect="1"/>
          </p:cNvPicPr>
          <p:nvPr/>
        </p:nvPicPr>
        <p:blipFill>
          <a:blip r:embed="rId4"/>
          <a:stretch>
            <a:fillRect/>
          </a:stretch>
        </p:blipFill>
        <p:spPr>
          <a:xfrm>
            <a:off x="2773019" y="493776"/>
            <a:ext cx="2048655" cy="3999987"/>
          </a:xfrm>
          <a:prstGeom prst="rect">
            <a:avLst/>
          </a:prstGeom>
          <a:ln>
            <a:noFill/>
          </a:ln>
          <a:effectLst>
            <a:outerShdw blurRad="292100" dist="139700" dir="2700000" algn="tl" rotWithShape="0">
              <a:srgbClr val="333333">
                <a:alpha val="65000"/>
              </a:srgbClr>
            </a:outerShdw>
          </a:effectLst>
        </p:spPr>
      </p:pic>
      <p:sp>
        <p:nvSpPr>
          <p:cNvPr id="24" name="Rectangle: Rounded Corners 23">
            <a:extLst>
              <a:ext uri="{FF2B5EF4-FFF2-40B4-BE49-F238E27FC236}">
                <a16:creationId xmlns:a16="http://schemas.microsoft.com/office/drawing/2014/main" id="{1BAB9747-9851-096E-C1F8-D990177C9642}"/>
              </a:ext>
            </a:extLst>
          </p:cNvPr>
          <p:cNvSpPr/>
          <p:nvPr/>
        </p:nvSpPr>
        <p:spPr>
          <a:xfrm>
            <a:off x="1461584" y="27034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25" name="Rectangle: Rounded Corners 24">
            <a:extLst>
              <a:ext uri="{FF2B5EF4-FFF2-40B4-BE49-F238E27FC236}">
                <a16:creationId xmlns:a16="http://schemas.microsoft.com/office/drawing/2014/main" id="{D958409F-1992-2A25-7AE2-55BCD4DCDBDF}"/>
              </a:ext>
            </a:extLst>
          </p:cNvPr>
          <p:cNvSpPr/>
          <p:nvPr/>
        </p:nvSpPr>
        <p:spPr>
          <a:xfrm>
            <a:off x="3960283" y="280922"/>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grpSp>
        <p:nvGrpSpPr>
          <p:cNvPr id="27" name="Group 26">
            <a:extLst>
              <a:ext uri="{FF2B5EF4-FFF2-40B4-BE49-F238E27FC236}">
                <a16:creationId xmlns:a16="http://schemas.microsoft.com/office/drawing/2014/main" id="{DD0DD109-3B91-5577-BCC6-C685208142C8}"/>
              </a:ext>
            </a:extLst>
          </p:cNvPr>
          <p:cNvGrpSpPr/>
          <p:nvPr/>
        </p:nvGrpSpPr>
        <p:grpSpPr>
          <a:xfrm>
            <a:off x="2044415" y="4224119"/>
            <a:ext cx="305596" cy="539287"/>
            <a:chOff x="1205000" y="3935000"/>
            <a:chExt cx="323000" cy="570000"/>
          </a:xfrm>
        </p:grpSpPr>
        <p:sp>
          <p:nvSpPr>
            <p:cNvPr id="31" name="Click Line 1"/>
            <p:cNvSpPr/>
            <p:nvPr/>
          </p:nvSpPr>
          <p:spPr>
            <a:xfrm>
              <a:off x="1300000" y="3935000"/>
              <a:ext cx="1" cy="70000"/>
            </a:xfrm>
            <a:prstGeom prst="line">
              <a:avLst/>
            </a:prstGeom>
            <a:ln w="22000" cap="rnd">
              <a:solidFill>
                <a:schemeClr val="bg1"/>
              </a:solidFill>
            </a:ln>
          </p:spPr>
          <p:txBody>
            <a:bodyPr/>
            <a:lstStyle/>
            <a:p>
              <a:endParaRPr lang="en-US"/>
            </a:p>
          </p:txBody>
        </p:sp>
        <p:sp>
          <p:nvSpPr>
            <p:cNvPr id="32" name="Click Line 2"/>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33" name="Click Line 3"/>
            <p:cNvSpPr/>
            <p:nvPr/>
          </p:nvSpPr>
          <p:spPr>
            <a:xfrm>
              <a:off x="1345000" y="3960000"/>
              <a:ext cx="55000" cy="55000"/>
            </a:xfrm>
            <a:prstGeom prst="line">
              <a:avLst/>
            </a:prstGeom>
            <a:ln w="22000" cap="rnd">
              <a:solidFill>
                <a:schemeClr val="bg1"/>
              </a:solidFill>
            </a:ln>
          </p:spPr>
          <p:txBody>
            <a:bodyPr/>
            <a:lstStyle/>
            <a:p>
              <a:endParaRPr lang="en-US"/>
            </a:p>
          </p:txBody>
        </p:sp>
        <p:sp>
          <p:nvSpPr>
            <p:cNvPr id="30" name="Click Curso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6B9E1258-1156-BE9F-3F57-97FBB5B71412}"/>
            </a:ext>
          </a:extLst>
        </p:cNvPr>
        <p:cNvGrpSpPr/>
        <p:nvPr/>
      </p:nvGrpSpPr>
      <p:grpSpPr>
        <a:xfrm>
          <a:off x="0" y="0"/>
          <a:ext cx="0" cy="0"/>
          <a:chOff x="0" y="0"/>
          <a:chExt cx="0" cy="0"/>
        </a:xfrm>
      </p:grpSpPr>
      <p:sp>
        <p:nvSpPr>
          <p:cNvPr id="26" name="Arrow: Right 25">
            <a:extLst>
              <a:ext uri="{FF2B5EF4-FFF2-40B4-BE49-F238E27FC236}">
                <a16:creationId xmlns:a16="http://schemas.microsoft.com/office/drawing/2014/main" id="{03E479C0-ED78-36EC-9C7C-AA98737EBA9D}"/>
              </a:ext>
            </a:extLst>
          </p:cNvPr>
          <p:cNvSpPr/>
          <p:nvPr/>
        </p:nvSpPr>
        <p:spPr>
          <a:xfrm>
            <a:off x="548640" y="4455370"/>
            <a:ext cx="8396577" cy="300978"/>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Shape 13">
            <a:extLst>
              <a:ext uri="{FF2B5EF4-FFF2-40B4-BE49-F238E27FC236}">
                <a16:creationId xmlns:a16="http://schemas.microsoft.com/office/drawing/2014/main" id="{6C5C6449-ABAE-AFDE-836F-5DC9C9093318}"/>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76A30442-2656-F74C-FDE0-C7A43CFDE46F}"/>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8C4B62C4-F608-D084-9DB4-8ACE9F279EA6}"/>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06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0AD7F86-7557-AD09-AA52-960C12EF860E}"/>
              </a:ext>
            </a:extLst>
          </p:cNvPr>
          <p:cNvPicPr>
            <a:picLocks noChangeAspect="1"/>
          </p:cNvPicPr>
          <p:nvPr/>
        </p:nvPicPr>
        <p:blipFill>
          <a:blip r:embed="rId3"/>
          <a:stretch>
            <a:fillRect/>
          </a:stretch>
        </p:blipFill>
        <p:spPr>
          <a:xfrm>
            <a:off x="198783" y="765948"/>
            <a:ext cx="1956816" cy="3811618"/>
          </a:xfrm>
          <a:prstGeom prst="rect">
            <a:avLst/>
          </a:prstGeom>
          <a:ln>
            <a:noFill/>
          </a:ln>
          <a:effectLst>
            <a:outerShdw blurRad="292100" dist="139700" dir="2700000" algn="tl" rotWithShape="0">
              <a:srgbClr val="333333">
                <a:alpha val="65000"/>
              </a:srgbClr>
            </a:outerShdw>
          </a:effectLst>
        </p:spPr>
      </p:pic>
      <p:sp>
        <p:nvSpPr>
          <p:cNvPr id="8" name="Rectangle: Rounded Corners 7">
            <a:extLst>
              <a:ext uri="{FF2B5EF4-FFF2-40B4-BE49-F238E27FC236}">
                <a16:creationId xmlns:a16="http://schemas.microsoft.com/office/drawing/2014/main" id="{3B87E706-C91A-E4C8-84E8-15B701374EB3}"/>
              </a:ext>
            </a:extLst>
          </p:cNvPr>
          <p:cNvSpPr/>
          <p:nvPr/>
        </p:nvSpPr>
        <p:spPr>
          <a:xfrm>
            <a:off x="1294208" y="56593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9" name="Text 1">
            <a:extLst>
              <a:ext uri="{FF2B5EF4-FFF2-40B4-BE49-F238E27FC236}">
                <a16:creationId xmlns:a16="http://schemas.microsoft.com/office/drawing/2014/main" id="{F686B48B-7A3A-F335-68D5-F05190B3F6A9}"/>
              </a:ext>
            </a:extLst>
          </p:cNvPr>
          <p:cNvSpPr/>
          <p:nvPr/>
        </p:nvSpPr>
        <p:spPr>
          <a:xfrm>
            <a:off x="5396948" y="131594"/>
            <a:ext cx="3548269" cy="434340"/>
          </a:xfrm>
          <a:prstGeom prst="rect">
            <a:avLst/>
          </a:prstGeom>
          <a:noFill/>
          <a:ln/>
        </p:spPr>
        <p:txBody>
          <a:bodyPr wrap="square" lIns="0" tIns="0" rIns="0" bIns="0" rtlCol="0" anchor="t"/>
          <a:lstStyle/>
          <a:p>
            <a:pPr marL="0" indent="0" algn="r">
              <a:lnSpc>
                <a:spcPct val="100000"/>
              </a:lnSpc>
              <a:buNone/>
            </a:pPr>
            <a:r>
              <a:rPr lang="en-US" sz="2500" b="1" dirty="0">
                <a:solidFill>
                  <a:srgbClr val="23262B"/>
                </a:solidFill>
                <a:latin typeface="Trebuchet MS" pitchFamily="34" charset="0"/>
                <a:ea typeface="Trebuchet MS" pitchFamily="34" charset="-122"/>
                <a:cs typeface="Trebuchet MS" pitchFamily="34" charset="-120"/>
              </a:rPr>
              <a:t>Ambulance Daily Check</a:t>
            </a:r>
            <a:endParaRPr lang="en-US" sz="2500" dirty="0"/>
          </a:p>
        </p:txBody>
      </p:sp>
      <p:pic>
        <p:nvPicPr>
          <p:cNvPr id="11" name="Picture 10">
            <a:extLst>
              <a:ext uri="{FF2B5EF4-FFF2-40B4-BE49-F238E27FC236}">
                <a16:creationId xmlns:a16="http://schemas.microsoft.com/office/drawing/2014/main" id="{49490C05-3C12-1224-931C-E8A99B46E2DA}"/>
              </a:ext>
            </a:extLst>
          </p:cNvPr>
          <p:cNvPicPr>
            <a:picLocks noChangeAspect="1"/>
          </p:cNvPicPr>
          <p:nvPr/>
        </p:nvPicPr>
        <p:blipFill>
          <a:blip r:embed="rId4"/>
          <a:stretch>
            <a:fillRect/>
          </a:stretch>
        </p:blipFill>
        <p:spPr>
          <a:xfrm>
            <a:off x="2438115" y="765948"/>
            <a:ext cx="1961452" cy="3811618"/>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C68E22B4-8E62-9FB5-9273-27A8E4E1570D}"/>
              </a:ext>
            </a:extLst>
          </p:cNvPr>
          <p:cNvPicPr>
            <a:picLocks noChangeAspect="1"/>
          </p:cNvPicPr>
          <p:nvPr/>
        </p:nvPicPr>
        <p:blipFill>
          <a:blip r:embed="rId5"/>
          <a:stretch>
            <a:fillRect/>
          </a:stretch>
        </p:blipFill>
        <p:spPr>
          <a:xfrm>
            <a:off x="4682083" y="765948"/>
            <a:ext cx="1952179" cy="381161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8599AAEA-0945-9F4A-B138-71CBFDC8D90C}"/>
              </a:ext>
            </a:extLst>
          </p:cNvPr>
          <p:cNvPicPr>
            <a:picLocks noChangeAspect="1"/>
          </p:cNvPicPr>
          <p:nvPr/>
        </p:nvPicPr>
        <p:blipFill>
          <a:blip r:embed="rId6"/>
          <a:stretch>
            <a:fillRect/>
          </a:stretch>
        </p:blipFill>
        <p:spPr>
          <a:xfrm>
            <a:off x="6916778" y="757381"/>
            <a:ext cx="1967876" cy="3828752"/>
          </a:xfrm>
          <a:prstGeom prst="rect">
            <a:avLst/>
          </a:prstGeom>
          <a:ln>
            <a:noFill/>
          </a:ln>
          <a:effectLst>
            <a:outerShdw blurRad="292100" dist="139700" dir="2700000" algn="tl" rotWithShape="0">
              <a:srgbClr val="333333">
                <a:alpha val="65000"/>
              </a:srgbClr>
            </a:outerShdw>
          </a:effectLst>
        </p:spPr>
      </p:pic>
      <p:sp>
        <p:nvSpPr>
          <p:cNvPr id="23" name="Rectangle: Rounded Corners 22">
            <a:extLst>
              <a:ext uri="{FF2B5EF4-FFF2-40B4-BE49-F238E27FC236}">
                <a16:creationId xmlns:a16="http://schemas.microsoft.com/office/drawing/2014/main" id="{948C259C-ACDD-697F-BC4C-CDD8A19A8869}"/>
              </a:ext>
            </a:extLst>
          </p:cNvPr>
          <p:cNvSpPr/>
          <p:nvPr/>
        </p:nvSpPr>
        <p:spPr>
          <a:xfrm>
            <a:off x="3538176" y="56593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24" name="Rectangle: Rounded Corners 23">
            <a:extLst>
              <a:ext uri="{FF2B5EF4-FFF2-40B4-BE49-F238E27FC236}">
                <a16:creationId xmlns:a16="http://schemas.microsoft.com/office/drawing/2014/main" id="{8A7203ED-4776-5584-565A-0E8F7B588B2B}"/>
              </a:ext>
            </a:extLst>
          </p:cNvPr>
          <p:cNvSpPr/>
          <p:nvPr/>
        </p:nvSpPr>
        <p:spPr>
          <a:xfrm>
            <a:off x="5772871" y="55601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25" name="Rectangle: Rounded Corners 24">
            <a:extLst>
              <a:ext uri="{FF2B5EF4-FFF2-40B4-BE49-F238E27FC236}">
                <a16:creationId xmlns:a16="http://schemas.microsoft.com/office/drawing/2014/main" id="{F66A15F2-55CC-F201-3340-0004EA625FEA}"/>
              </a:ext>
            </a:extLst>
          </p:cNvPr>
          <p:cNvSpPr/>
          <p:nvPr/>
        </p:nvSpPr>
        <p:spPr>
          <a:xfrm>
            <a:off x="8023263" y="536136"/>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grpSp>
        <p:nvGrpSpPr>
          <p:cNvPr id="29" name="Group 28">
            <a:extLst>
              <a:ext uri="{FF2B5EF4-FFF2-40B4-BE49-F238E27FC236}">
                <a16:creationId xmlns:a16="http://schemas.microsoft.com/office/drawing/2014/main" id="{9A4822EB-BBA5-1A48-8054-1636AEDA5E04}"/>
              </a:ext>
            </a:extLst>
          </p:cNvPr>
          <p:cNvGrpSpPr/>
          <p:nvPr/>
        </p:nvGrpSpPr>
        <p:grpSpPr>
          <a:xfrm>
            <a:off x="1727487" y="2759803"/>
            <a:ext cx="305596" cy="539287"/>
            <a:chOff x="1205000" y="3935000"/>
            <a:chExt cx="323000" cy="570000"/>
          </a:xfrm>
        </p:grpSpPr>
        <p:sp>
          <p:nvSpPr>
            <p:cNvPr id="30" name="Click Line 1">
              <a:extLst>
                <a:ext uri="{FF2B5EF4-FFF2-40B4-BE49-F238E27FC236}">
                  <a16:creationId xmlns:a16="http://schemas.microsoft.com/office/drawing/2014/main" id="{5881DFA0-A7F2-34CD-8295-4F2E606A6D10}"/>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31" name="Click Line 2">
              <a:extLst>
                <a:ext uri="{FF2B5EF4-FFF2-40B4-BE49-F238E27FC236}">
                  <a16:creationId xmlns:a16="http://schemas.microsoft.com/office/drawing/2014/main" id="{6610BBF5-E171-E6BE-8E6F-9F4B84539619}"/>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32" name="Click Line 3">
              <a:extLst>
                <a:ext uri="{FF2B5EF4-FFF2-40B4-BE49-F238E27FC236}">
                  <a16:creationId xmlns:a16="http://schemas.microsoft.com/office/drawing/2014/main" id="{510727A4-3868-A2FB-92FF-ADD020EB8CB9}"/>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33" name="Click Cursor">
              <a:extLst>
                <a:ext uri="{FF2B5EF4-FFF2-40B4-BE49-F238E27FC236}">
                  <a16:creationId xmlns:a16="http://schemas.microsoft.com/office/drawing/2014/main" id="{3C369193-43E2-2BC9-E41F-1D7D38CB8232}"/>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grpSp>
        <p:nvGrpSpPr>
          <p:cNvPr id="44" name="Group 43">
            <a:extLst>
              <a:ext uri="{FF2B5EF4-FFF2-40B4-BE49-F238E27FC236}">
                <a16:creationId xmlns:a16="http://schemas.microsoft.com/office/drawing/2014/main" id="{AE5C3584-DB67-4A50-D257-FD42FBB95E10}"/>
              </a:ext>
            </a:extLst>
          </p:cNvPr>
          <p:cNvGrpSpPr/>
          <p:nvPr/>
        </p:nvGrpSpPr>
        <p:grpSpPr>
          <a:xfrm>
            <a:off x="5806705" y="4217061"/>
            <a:ext cx="305596" cy="539287"/>
            <a:chOff x="1205000" y="3935000"/>
            <a:chExt cx="323000" cy="570000"/>
          </a:xfrm>
        </p:grpSpPr>
        <p:sp>
          <p:nvSpPr>
            <p:cNvPr id="45" name="Click Line 1">
              <a:extLst>
                <a:ext uri="{FF2B5EF4-FFF2-40B4-BE49-F238E27FC236}">
                  <a16:creationId xmlns:a16="http://schemas.microsoft.com/office/drawing/2014/main" id="{FE5C0033-FD6B-7298-D6CF-6F8B2221D671}"/>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46" name="Click Line 2">
              <a:extLst>
                <a:ext uri="{FF2B5EF4-FFF2-40B4-BE49-F238E27FC236}">
                  <a16:creationId xmlns:a16="http://schemas.microsoft.com/office/drawing/2014/main" id="{80ED9926-C468-AB08-EE9C-5A4C195109AE}"/>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47" name="Click Line 3">
              <a:extLst>
                <a:ext uri="{FF2B5EF4-FFF2-40B4-BE49-F238E27FC236}">
                  <a16:creationId xmlns:a16="http://schemas.microsoft.com/office/drawing/2014/main" id="{D9893602-17B6-157D-7D4B-C146C84CBE55}"/>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48" name="Click Cursor">
              <a:extLst>
                <a:ext uri="{FF2B5EF4-FFF2-40B4-BE49-F238E27FC236}">
                  <a16:creationId xmlns:a16="http://schemas.microsoft.com/office/drawing/2014/main" id="{3497D93F-DD58-438A-51BC-94EBB8A99BCA}"/>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Tree>
    <p:extLst>
      <p:ext uri="{BB962C8B-B14F-4D97-AF65-F5344CB8AC3E}">
        <p14:creationId xmlns:p14="http://schemas.microsoft.com/office/powerpoint/2010/main" val="2329483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320EB-B35F-E5AF-5259-C5B5CE19D3C3}"/>
            </a:ext>
          </a:extLst>
        </p:cNvPr>
        <p:cNvGrpSpPr/>
        <p:nvPr/>
      </p:nvGrpSpPr>
      <p:grpSpPr>
        <a:xfrm>
          <a:off x="0" y="0"/>
          <a:ext cx="0" cy="0"/>
          <a:chOff x="0" y="0"/>
          <a:chExt cx="0" cy="0"/>
        </a:xfrm>
      </p:grpSpPr>
      <p:sp>
        <p:nvSpPr>
          <p:cNvPr id="15" name="Shape 13">
            <a:extLst>
              <a:ext uri="{FF2B5EF4-FFF2-40B4-BE49-F238E27FC236}">
                <a16:creationId xmlns:a16="http://schemas.microsoft.com/office/drawing/2014/main" id="{E26B2FD2-02E1-B345-9CB9-5E0AF6585CFB}"/>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6877B57B-D0B2-00F1-38B0-DC43152D8DD8}"/>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B0E61529-1B3C-8DEE-668D-21A497F340EA}"/>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06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1">
            <a:extLst>
              <a:ext uri="{FF2B5EF4-FFF2-40B4-BE49-F238E27FC236}">
                <a16:creationId xmlns:a16="http://schemas.microsoft.com/office/drawing/2014/main" id="{06E224D7-DCAD-A761-C78D-E5D67F27AEC5}"/>
              </a:ext>
            </a:extLst>
          </p:cNvPr>
          <p:cNvSpPr/>
          <p:nvPr/>
        </p:nvSpPr>
        <p:spPr>
          <a:xfrm>
            <a:off x="5396948" y="131594"/>
            <a:ext cx="3548269" cy="434340"/>
          </a:xfrm>
          <a:prstGeom prst="rect">
            <a:avLst/>
          </a:prstGeom>
          <a:noFill/>
          <a:ln/>
        </p:spPr>
        <p:txBody>
          <a:bodyPr wrap="square" lIns="0" tIns="0" rIns="0" bIns="0" rtlCol="0" anchor="t"/>
          <a:lstStyle/>
          <a:p>
            <a:pPr marL="0" indent="0" algn="r">
              <a:lnSpc>
                <a:spcPct val="100000"/>
              </a:lnSpc>
              <a:buNone/>
            </a:pPr>
            <a:r>
              <a:rPr lang="en-US" sz="2500" b="1" dirty="0">
                <a:solidFill>
                  <a:srgbClr val="23262B"/>
                </a:solidFill>
                <a:latin typeface="Trebuchet MS" pitchFamily="34" charset="0"/>
                <a:ea typeface="Trebuchet MS" pitchFamily="34" charset="-122"/>
                <a:cs typeface="Trebuchet MS" pitchFamily="34" charset="-120"/>
              </a:rPr>
              <a:t>Ambulance Daily Check</a:t>
            </a:r>
            <a:endParaRPr lang="en-US" sz="2500" dirty="0"/>
          </a:p>
        </p:txBody>
      </p:sp>
      <p:sp>
        <p:nvSpPr>
          <p:cNvPr id="2" name="Arrow: Right 1">
            <a:extLst>
              <a:ext uri="{FF2B5EF4-FFF2-40B4-BE49-F238E27FC236}">
                <a16:creationId xmlns:a16="http://schemas.microsoft.com/office/drawing/2014/main" id="{D71067E1-E7C3-4F83-0502-5101EFBE927E}"/>
              </a:ext>
            </a:extLst>
          </p:cNvPr>
          <p:cNvSpPr/>
          <p:nvPr/>
        </p:nvSpPr>
        <p:spPr>
          <a:xfrm>
            <a:off x="548640" y="4455370"/>
            <a:ext cx="8396577" cy="300978"/>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a:extLst>
              <a:ext uri="{FF2B5EF4-FFF2-40B4-BE49-F238E27FC236}">
                <a16:creationId xmlns:a16="http://schemas.microsoft.com/office/drawing/2014/main" id="{7DE0DFEE-48BC-B259-02DA-E744711CD063}"/>
              </a:ext>
            </a:extLst>
          </p:cNvPr>
          <p:cNvPicPr>
            <a:picLocks noChangeAspect="1"/>
          </p:cNvPicPr>
          <p:nvPr/>
        </p:nvPicPr>
        <p:blipFill>
          <a:blip r:embed="rId3"/>
          <a:stretch>
            <a:fillRect/>
          </a:stretch>
        </p:blipFill>
        <p:spPr>
          <a:xfrm>
            <a:off x="198783" y="766258"/>
            <a:ext cx="1961452" cy="3829723"/>
          </a:xfrm>
          <a:prstGeom prst="rect">
            <a:avLst/>
          </a:prstGeom>
          <a:ln>
            <a:noFill/>
          </a:ln>
          <a:effectLst>
            <a:outerShdw blurRad="292100" dist="139700" dir="2700000" algn="tl" rotWithShape="0">
              <a:srgbClr val="333333">
                <a:alpha val="65000"/>
              </a:srgbClr>
            </a:outerShdw>
          </a:effectLst>
        </p:spPr>
      </p:pic>
      <p:sp>
        <p:nvSpPr>
          <p:cNvPr id="3" name="Rectangle: Rounded Corners 2">
            <a:extLst>
              <a:ext uri="{FF2B5EF4-FFF2-40B4-BE49-F238E27FC236}">
                <a16:creationId xmlns:a16="http://schemas.microsoft.com/office/drawing/2014/main" id="{BC11164C-DFE8-ABDE-3911-B78FBBDBDBB7}"/>
              </a:ext>
            </a:extLst>
          </p:cNvPr>
          <p:cNvSpPr/>
          <p:nvPr/>
        </p:nvSpPr>
        <p:spPr>
          <a:xfrm>
            <a:off x="1294208" y="555995"/>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pic>
        <p:nvPicPr>
          <p:cNvPr id="5" name="Picture 4">
            <a:extLst>
              <a:ext uri="{FF2B5EF4-FFF2-40B4-BE49-F238E27FC236}">
                <a16:creationId xmlns:a16="http://schemas.microsoft.com/office/drawing/2014/main" id="{A9B4455B-3EFF-FDC1-4992-BD5274EF715F}"/>
              </a:ext>
            </a:extLst>
          </p:cNvPr>
          <p:cNvPicPr>
            <a:picLocks noChangeAspect="1"/>
          </p:cNvPicPr>
          <p:nvPr/>
        </p:nvPicPr>
        <p:blipFill>
          <a:blip r:embed="rId4"/>
          <a:stretch>
            <a:fillRect/>
          </a:stretch>
        </p:blipFill>
        <p:spPr>
          <a:xfrm>
            <a:off x="2362818" y="739717"/>
            <a:ext cx="1961564" cy="3829723"/>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4EDECA6D-6D82-D82C-B1D0-11276FD58346}"/>
              </a:ext>
            </a:extLst>
          </p:cNvPr>
          <p:cNvPicPr>
            <a:picLocks noChangeAspect="1"/>
          </p:cNvPicPr>
          <p:nvPr/>
        </p:nvPicPr>
        <p:blipFill>
          <a:blip r:embed="rId5"/>
          <a:stretch>
            <a:fillRect/>
          </a:stretch>
        </p:blipFill>
        <p:spPr>
          <a:xfrm>
            <a:off x="4531602" y="748813"/>
            <a:ext cx="1968506" cy="3829723"/>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021A4242-CB4D-EA0D-4042-2C0D84F90A65}"/>
              </a:ext>
            </a:extLst>
          </p:cNvPr>
          <p:cNvPicPr>
            <a:picLocks noChangeAspect="1"/>
          </p:cNvPicPr>
          <p:nvPr/>
        </p:nvPicPr>
        <p:blipFill>
          <a:blip r:embed="rId6"/>
          <a:stretch>
            <a:fillRect/>
          </a:stretch>
        </p:blipFill>
        <p:spPr>
          <a:xfrm>
            <a:off x="6738409" y="730621"/>
            <a:ext cx="1968506" cy="3838819"/>
          </a:xfrm>
          <a:prstGeom prst="rect">
            <a:avLst/>
          </a:prstGeom>
          <a:ln>
            <a:noFill/>
          </a:ln>
          <a:effectLst>
            <a:outerShdw blurRad="292100" dist="139700" dir="2700000" algn="tl" rotWithShape="0">
              <a:srgbClr val="333333">
                <a:alpha val="65000"/>
              </a:srgbClr>
            </a:outerShdw>
          </a:effectLst>
        </p:spPr>
      </p:pic>
      <p:sp>
        <p:nvSpPr>
          <p:cNvPr id="14" name="Rectangle: Rounded Corners 13">
            <a:extLst>
              <a:ext uri="{FF2B5EF4-FFF2-40B4-BE49-F238E27FC236}">
                <a16:creationId xmlns:a16="http://schemas.microsoft.com/office/drawing/2014/main" id="{166F7A61-7B89-7230-042D-80402982F296}"/>
              </a:ext>
            </a:extLst>
          </p:cNvPr>
          <p:cNvSpPr/>
          <p:nvPr/>
        </p:nvSpPr>
        <p:spPr>
          <a:xfrm>
            <a:off x="3451794" y="531765"/>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19" name="Rectangle: Rounded Corners 18">
            <a:extLst>
              <a:ext uri="{FF2B5EF4-FFF2-40B4-BE49-F238E27FC236}">
                <a16:creationId xmlns:a16="http://schemas.microsoft.com/office/drawing/2014/main" id="{D843C2DE-4DBF-85D6-5489-EC0B092F826F}"/>
              </a:ext>
            </a:extLst>
          </p:cNvPr>
          <p:cNvSpPr/>
          <p:nvPr/>
        </p:nvSpPr>
        <p:spPr>
          <a:xfrm>
            <a:off x="5638716" y="537802"/>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
        <p:nvSpPr>
          <p:cNvPr id="20" name="Rectangle: Rounded Corners 19">
            <a:extLst>
              <a:ext uri="{FF2B5EF4-FFF2-40B4-BE49-F238E27FC236}">
                <a16:creationId xmlns:a16="http://schemas.microsoft.com/office/drawing/2014/main" id="{7FEB6A44-CB0E-B60D-4764-5B50072C1268}"/>
              </a:ext>
            </a:extLst>
          </p:cNvPr>
          <p:cNvSpPr/>
          <p:nvPr/>
        </p:nvSpPr>
        <p:spPr>
          <a:xfrm>
            <a:off x="7825638" y="526891"/>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grpSp>
        <p:nvGrpSpPr>
          <p:cNvPr id="21" name="Group 20">
            <a:extLst>
              <a:ext uri="{FF2B5EF4-FFF2-40B4-BE49-F238E27FC236}">
                <a16:creationId xmlns:a16="http://schemas.microsoft.com/office/drawing/2014/main" id="{B811F3DF-270E-3E32-899E-338A22269000}"/>
              </a:ext>
            </a:extLst>
          </p:cNvPr>
          <p:cNvGrpSpPr/>
          <p:nvPr/>
        </p:nvGrpSpPr>
        <p:grpSpPr>
          <a:xfrm>
            <a:off x="8401319" y="4123607"/>
            <a:ext cx="305596" cy="539287"/>
            <a:chOff x="1205000" y="3935000"/>
            <a:chExt cx="323000" cy="570000"/>
          </a:xfrm>
        </p:grpSpPr>
        <p:sp>
          <p:nvSpPr>
            <p:cNvPr id="23" name="Click Line 1">
              <a:extLst>
                <a:ext uri="{FF2B5EF4-FFF2-40B4-BE49-F238E27FC236}">
                  <a16:creationId xmlns:a16="http://schemas.microsoft.com/office/drawing/2014/main" id="{88BF852A-9FED-DC89-0E1A-291DB3BCCD89}"/>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24" name="Click Line 2">
              <a:extLst>
                <a:ext uri="{FF2B5EF4-FFF2-40B4-BE49-F238E27FC236}">
                  <a16:creationId xmlns:a16="http://schemas.microsoft.com/office/drawing/2014/main" id="{8716E528-5B3E-C504-EBA3-47A51DF8964E}"/>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25" name="Click Line 3">
              <a:extLst>
                <a:ext uri="{FF2B5EF4-FFF2-40B4-BE49-F238E27FC236}">
                  <a16:creationId xmlns:a16="http://schemas.microsoft.com/office/drawing/2014/main" id="{4F0CA612-9F28-465E-9A97-634C299B8F6B}"/>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26" name="Click Cursor">
              <a:extLst>
                <a:ext uri="{FF2B5EF4-FFF2-40B4-BE49-F238E27FC236}">
                  <a16:creationId xmlns:a16="http://schemas.microsoft.com/office/drawing/2014/main" id="{1FAC28DF-428B-E93C-AC9A-2C1337742583}"/>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grpSp>
        <p:nvGrpSpPr>
          <p:cNvPr id="27" name="Group 26">
            <a:extLst>
              <a:ext uri="{FF2B5EF4-FFF2-40B4-BE49-F238E27FC236}">
                <a16:creationId xmlns:a16="http://schemas.microsoft.com/office/drawing/2014/main" id="{8B0BB06F-454B-010F-CDA2-BB4F643C50EB}"/>
              </a:ext>
            </a:extLst>
          </p:cNvPr>
          <p:cNvGrpSpPr/>
          <p:nvPr/>
        </p:nvGrpSpPr>
        <p:grpSpPr>
          <a:xfrm>
            <a:off x="6162676" y="4147260"/>
            <a:ext cx="305596" cy="539287"/>
            <a:chOff x="1205000" y="3935000"/>
            <a:chExt cx="323000" cy="570000"/>
          </a:xfrm>
        </p:grpSpPr>
        <p:sp>
          <p:nvSpPr>
            <p:cNvPr id="29" name="Click Line 1">
              <a:extLst>
                <a:ext uri="{FF2B5EF4-FFF2-40B4-BE49-F238E27FC236}">
                  <a16:creationId xmlns:a16="http://schemas.microsoft.com/office/drawing/2014/main" id="{C08DE4FE-5E60-4FEC-3FDD-A1B34D08437D}"/>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30" name="Click Line 2">
              <a:extLst>
                <a:ext uri="{FF2B5EF4-FFF2-40B4-BE49-F238E27FC236}">
                  <a16:creationId xmlns:a16="http://schemas.microsoft.com/office/drawing/2014/main" id="{77CE36D9-98B2-DC4B-726E-47BBC511E0BE}"/>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31" name="Click Line 3">
              <a:extLst>
                <a:ext uri="{FF2B5EF4-FFF2-40B4-BE49-F238E27FC236}">
                  <a16:creationId xmlns:a16="http://schemas.microsoft.com/office/drawing/2014/main" id="{9E6BEF0D-6324-EA4A-9508-ABD8106F30B1}"/>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32" name="Click Cursor">
              <a:extLst>
                <a:ext uri="{FF2B5EF4-FFF2-40B4-BE49-F238E27FC236}">
                  <a16:creationId xmlns:a16="http://schemas.microsoft.com/office/drawing/2014/main" id="{3DF7C3C6-B0FC-FE12-4A51-8B080D6887D7}"/>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Tree>
    <p:extLst>
      <p:ext uri="{BB962C8B-B14F-4D97-AF65-F5344CB8AC3E}">
        <p14:creationId xmlns:p14="http://schemas.microsoft.com/office/powerpoint/2010/main" val="386413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55B5E5AF-94E4-CB14-0084-0A151B64BB3D}"/>
            </a:ext>
          </a:extLst>
        </p:cNvPr>
        <p:cNvGrpSpPr/>
        <p:nvPr/>
      </p:nvGrpSpPr>
      <p:grpSpPr>
        <a:xfrm>
          <a:off x="0" y="0"/>
          <a:ext cx="0" cy="0"/>
          <a:chOff x="0" y="0"/>
          <a:chExt cx="0" cy="0"/>
        </a:xfrm>
      </p:grpSpPr>
      <p:sp>
        <p:nvSpPr>
          <p:cNvPr id="26" name="Arrow: Right 25">
            <a:extLst>
              <a:ext uri="{FF2B5EF4-FFF2-40B4-BE49-F238E27FC236}">
                <a16:creationId xmlns:a16="http://schemas.microsoft.com/office/drawing/2014/main" id="{4DBFC26D-0E52-A37B-35F3-75004E9FA43A}"/>
              </a:ext>
            </a:extLst>
          </p:cNvPr>
          <p:cNvSpPr/>
          <p:nvPr/>
        </p:nvSpPr>
        <p:spPr>
          <a:xfrm>
            <a:off x="117988" y="4455370"/>
            <a:ext cx="8827229" cy="300978"/>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F1010C21-1388-9425-1F26-E908CDD9F4AB}"/>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650B18D2-19DD-904C-DF5D-BE3E38F3CC07}"/>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D0BA0FA0-9E4C-2BE2-7077-479230D34FB7}"/>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06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C4AD3566-D27F-04DC-5E7D-93E2C67601EE}"/>
              </a:ext>
            </a:extLst>
          </p:cNvPr>
          <p:cNvSpPr/>
          <p:nvPr/>
        </p:nvSpPr>
        <p:spPr>
          <a:xfrm>
            <a:off x="1294208" y="56593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sp>
        <p:nvSpPr>
          <p:cNvPr id="9" name="Text 1">
            <a:extLst>
              <a:ext uri="{FF2B5EF4-FFF2-40B4-BE49-F238E27FC236}">
                <a16:creationId xmlns:a16="http://schemas.microsoft.com/office/drawing/2014/main" id="{1D2E690E-C914-845B-A8E1-18FA173F2743}"/>
              </a:ext>
            </a:extLst>
          </p:cNvPr>
          <p:cNvSpPr/>
          <p:nvPr/>
        </p:nvSpPr>
        <p:spPr>
          <a:xfrm>
            <a:off x="5396948" y="131594"/>
            <a:ext cx="3548269" cy="434340"/>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Ambulance Daily Check</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Rectangle: Rounded Corners 22">
            <a:extLst>
              <a:ext uri="{FF2B5EF4-FFF2-40B4-BE49-F238E27FC236}">
                <a16:creationId xmlns:a16="http://schemas.microsoft.com/office/drawing/2014/main" id="{6EE866BB-1741-B31C-28E3-120D6A08F12D}"/>
              </a:ext>
            </a:extLst>
          </p:cNvPr>
          <p:cNvSpPr/>
          <p:nvPr/>
        </p:nvSpPr>
        <p:spPr>
          <a:xfrm>
            <a:off x="3538176" y="56593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sp>
        <p:nvSpPr>
          <p:cNvPr id="24" name="Rectangle: Rounded Corners 23">
            <a:extLst>
              <a:ext uri="{FF2B5EF4-FFF2-40B4-BE49-F238E27FC236}">
                <a16:creationId xmlns:a16="http://schemas.microsoft.com/office/drawing/2014/main" id="{CBFA01E7-4783-4542-0937-0E295ED8F9C3}"/>
              </a:ext>
            </a:extLst>
          </p:cNvPr>
          <p:cNvSpPr/>
          <p:nvPr/>
        </p:nvSpPr>
        <p:spPr>
          <a:xfrm>
            <a:off x="5772871" y="55601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sp>
        <p:nvSpPr>
          <p:cNvPr id="25" name="Rectangle: Rounded Corners 24">
            <a:extLst>
              <a:ext uri="{FF2B5EF4-FFF2-40B4-BE49-F238E27FC236}">
                <a16:creationId xmlns:a16="http://schemas.microsoft.com/office/drawing/2014/main" id="{3F3C7B04-2FB2-8274-DFCB-D2517F5DF186}"/>
              </a:ext>
            </a:extLst>
          </p:cNvPr>
          <p:cNvSpPr/>
          <p:nvPr/>
        </p:nvSpPr>
        <p:spPr>
          <a:xfrm>
            <a:off x="8023263" y="536136"/>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pic>
        <p:nvPicPr>
          <p:cNvPr id="3" name="Picture 2">
            <a:extLst>
              <a:ext uri="{FF2B5EF4-FFF2-40B4-BE49-F238E27FC236}">
                <a16:creationId xmlns:a16="http://schemas.microsoft.com/office/drawing/2014/main" id="{40D831AC-0397-E9DC-50DB-76F6E4C5F3FA}"/>
              </a:ext>
            </a:extLst>
          </p:cNvPr>
          <p:cNvPicPr>
            <a:picLocks noChangeAspect="1"/>
          </p:cNvPicPr>
          <p:nvPr/>
        </p:nvPicPr>
        <p:blipFill>
          <a:blip r:embed="rId3"/>
          <a:stretch>
            <a:fillRect/>
          </a:stretch>
        </p:blipFill>
        <p:spPr>
          <a:xfrm>
            <a:off x="198907" y="765948"/>
            <a:ext cx="1956692" cy="3811618"/>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62FFF1B9-89CA-4E4B-DF9D-7BDD3BFE9502}"/>
              </a:ext>
            </a:extLst>
          </p:cNvPr>
          <p:cNvPicPr>
            <a:picLocks noChangeAspect="1"/>
          </p:cNvPicPr>
          <p:nvPr/>
        </p:nvPicPr>
        <p:blipFill>
          <a:blip r:embed="rId4"/>
          <a:stretch>
            <a:fillRect/>
          </a:stretch>
        </p:blipFill>
        <p:spPr>
          <a:xfrm>
            <a:off x="2447388" y="784363"/>
            <a:ext cx="1952179" cy="381161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A2A024CD-07CE-79F5-EBEA-C3D47075AF60}"/>
              </a:ext>
            </a:extLst>
          </p:cNvPr>
          <p:cNvPicPr>
            <a:picLocks noChangeAspect="1"/>
          </p:cNvPicPr>
          <p:nvPr/>
        </p:nvPicPr>
        <p:blipFill>
          <a:blip r:embed="rId5"/>
          <a:stretch>
            <a:fillRect/>
          </a:stretch>
        </p:blipFill>
        <p:spPr>
          <a:xfrm>
            <a:off x="4677569" y="765948"/>
            <a:ext cx="1956693" cy="3811620"/>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32391A43-F606-1DB8-06CC-D1725065CE8C}"/>
              </a:ext>
            </a:extLst>
          </p:cNvPr>
          <p:cNvPicPr>
            <a:picLocks noChangeAspect="1"/>
          </p:cNvPicPr>
          <p:nvPr/>
        </p:nvPicPr>
        <p:blipFill>
          <a:blip r:embed="rId6"/>
          <a:stretch>
            <a:fillRect/>
          </a:stretch>
        </p:blipFill>
        <p:spPr>
          <a:xfrm>
            <a:off x="6864349" y="748814"/>
            <a:ext cx="1970886" cy="3811618"/>
          </a:xfrm>
          <a:prstGeom prst="rect">
            <a:avLst/>
          </a:prstGeom>
          <a:ln>
            <a:noFill/>
          </a:ln>
          <a:effectLst>
            <a:outerShdw blurRad="292100" dist="139700" dir="2700000" algn="tl" rotWithShape="0">
              <a:srgbClr val="333333">
                <a:alpha val="65000"/>
              </a:srgbClr>
            </a:outerShdw>
          </a:effectLst>
        </p:spPr>
      </p:pic>
      <p:grpSp>
        <p:nvGrpSpPr>
          <p:cNvPr id="14" name="Group 13">
            <a:extLst>
              <a:ext uri="{FF2B5EF4-FFF2-40B4-BE49-F238E27FC236}">
                <a16:creationId xmlns:a16="http://schemas.microsoft.com/office/drawing/2014/main" id="{C1E523CE-4813-EE30-5315-FEF7E4836DD0}"/>
              </a:ext>
            </a:extLst>
          </p:cNvPr>
          <p:cNvGrpSpPr/>
          <p:nvPr/>
        </p:nvGrpSpPr>
        <p:grpSpPr>
          <a:xfrm>
            <a:off x="3970030" y="4106252"/>
            <a:ext cx="305596" cy="539287"/>
            <a:chOff x="1205000" y="3935000"/>
            <a:chExt cx="323000" cy="570000"/>
          </a:xfrm>
        </p:grpSpPr>
        <p:sp>
          <p:nvSpPr>
            <p:cNvPr id="19" name="Click Line 1">
              <a:extLst>
                <a:ext uri="{FF2B5EF4-FFF2-40B4-BE49-F238E27FC236}">
                  <a16:creationId xmlns:a16="http://schemas.microsoft.com/office/drawing/2014/main" id="{99A91B9A-F7F5-FFA0-AB24-4C231D9CC4A7}"/>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20" name="Click Line 2">
              <a:extLst>
                <a:ext uri="{FF2B5EF4-FFF2-40B4-BE49-F238E27FC236}">
                  <a16:creationId xmlns:a16="http://schemas.microsoft.com/office/drawing/2014/main" id="{1803B65B-83C9-E463-0B76-2BC803CFA609}"/>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21" name="Click Line 3">
              <a:extLst>
                <a:ext uri="{FF2B5EF4-FFF2-40B4-BE49-F238E27FC236}">
                  <a16:creationId xmlns:a16="http://schemas.microsoft.com/office/drawing/2014/main" id="{3E91D301-0E2C-CD0E-EA81-C4C841BA6361}"/>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27" name="Click Cursor">
              <a:extLst>
                <a:ext uri="{FF2B5EF4-FFF2-40B4-BE49-F238E27FC236}">
                  <a16:creationId xmlns:a16="http://schemas.microsoft.com/office/drawing/2014/main" id="{51FD0121-EA0F-C64B-E6C1-7B824A19928A}"/>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grpSp>
        <p:nvGrpSpPr>
          <p:cNvPr id="28" name="Group 27">
            <a:extLst>
              <a:ext uri="{FF2B5EF4-FFF2-40B4-BE49-F238E27FC236}">
                <a16:creationId xmlns:a16="http://schemas.microsoft.com/office/drawing/2014/main" id="{32826269-EF81-D144-1356-403AEE12389F}"/>
              </a:ext>
            </a:extLst>
          </p:cNvPr>
          <p:cNvGrpSpPr/>
          <p:nvPr/>
        </p:nvGrpSpPr>
        <p:grpSpPr>
          <a:xfrm>
            <a:off x="5961317" y="3266698"/>
            <a:ext cx="305596" cy="539287"/>
            <a:chOff x="1205000" y="3935000"/>
            <a:chExt cx="323000" cy="570000"/>
          </a:xfrm>
        </p:grpSpPr>
        <p:sp>
          <p:nvSpPr>
            <p:cNvPr id="29" name="Click Line 1">
              <a:extLst>
                <a:ext uri="{FF2B5EF4-FFF2-40B4-BE49-F238E27FC236}">
                  <a16:creationId xmlns:a16="http://schemas.microsoft.com/office/drawing/2014/main" id="{C4F7AC30-E160-F095-06D9-97D9700C41FF}"/>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30" name="Click Line 2">
              <a:extLst>
                <a:ext uri="{FF2B5EF4-FFF2-40B4-BE49-F238E27FC236}">
                  <a16:creationId xmlns:a16="http://schemas.microsoft.com/office/drawing/2014/main" id="{05A7E294-B12B-EAA2-7E86-DA73B3733A00}"/>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31" name="Click Line 3">
              <a:extLst>
                <a:ext uri="{FF2B5EF4-FFF2-40B4-BE49-F238E27FC236}">
                  <a16:creationId xmlns:a16="http://schemas.microsoft.com/office/drawing/2014/main" id="{3431CD7D-7D44-8880-1457-ABE79E87F2F2}"/>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32" name="Click Cursor">
              <a:extLst>
                <a:ext uri="{FF2B5EF4-FFF2-40B4-BE49-F238E27FC236}">
                  <a16:creationId xmlns:a16="http://schemas.microsoft.com/office/drawing/2014/main" id="{940A833F-064A-73D8-57EF-B4BB410E5352}"/>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grpSp>
        <p:nvGrpSpPr>
          <p:cNvPr id="33" name="Group 32">
            <a:extLst>
              <a:ext uri="{FF2B5EF4-FFF2-40B4-BE49-F238E27FC236}">
                <a16:creationId xmlns:a16="http://schemas.microsoft.com/office/drawing/2014/main" id="{445C15C9-C26C-4ECD-97AD-8185C3E407B8}"/>
              </a:ext>
            </a:extLst>
          </p:cNvPr>
          <p:cNvGrpSpPr/>
          <p:nvPr/>
        </p:nvGrpSpPr>
        <p:grpSpPr>
          <a:xfrm>
            <a:off x="8301160" y="3716069"/>
            <a:ext cx="305596" cy="539287"/>
            <a:chOff x="1205000" y="3935000"/>
            <a:chExt cx="323000" cy="570000"/>
          </a:xfrm>
        </p:grpSpPr>
        <p:sp>
          <p:nvSpPr>
            <p:cNvPr id="34" name="Click Line 1">
              <a:extLst>
                <a:ext uri="{FF2B5EF4-FFF2-40B4-BE49-F238E27FC236}">
                  <a16:creationId xmlns:a16="http://schemas.microsoft.com/office/drawing/2014/main" id="{F3E641B1-91B4-E18F-9AC5-79A128B9BE54}"/>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35" name="Click Line 2">
              <a:extLst>
                <a:ext uri="{FF2B5EF4-FFF2-40B4-BE49-F238E27FC236}">
                  <a16:creationId xmlns:a16="http://schemas.microsoft.com/office/drawing/2014/main" id="{B04E2722-E1C6-640F-AD25-06B2DBFD90B2}"/>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36" name="Click Line 3">
              <a:extLst>
                <a:ext uri="{FF2B5EF4-FFF2-40B4-BE49-F238E27FC236}">
                  <a16:creationId xmlns:a16="http://schemas.microsoft.com/office/drawing/2014/main" id="{9235F4A8-24BF-7A69-7087-EC2A4D624788}"/>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37" name="Click Cursor">
              <a:extLst>
                <a:ext uri="{FF2B5EF4-FFF2-40B4-BE49-F238E27FC236}">
                  <a16:creationId xmlns:a16="http://schemas.microsoft.com/office/drawing/2014/main" id="{D380EBBC-35D9-D501-4F92-4D594F85ACB7}"/>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Tree>
    <p:extLst>
      <p:ext uri="{BB962C8B-B14F-4D97-AF65-F5344CB8AC3E}">
        <p14:creationId xmlns:p14="http://schemas.microsoft.com/office/powerpoint/2010/main" val="380161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FEATURE 03</a:t>
            </a:r>
            <a:endParaRPr lang="en-US" sz="1100" dirty="0"/>
          </a:p>
        </p:txBody>
      </p:sp>
      <p:sp>
        <p:nvSpPr>
          <p:cNvPr id="3" name="Text 1"/>
          <p:cNvSpPr/>
          <p:nvPr/>
        </p:nvSpPr>
        <p:spPr>
          <a:xfrm>
            <a:off x="548640" y="749808"/>
            <a:ext cx="3291840"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Check History</a:t>
            </a:r>
            <a:endParaRPr lang="en-US" sz="2500" dirty="0"/>
          </a:p>
        </p:txBody>
      </p:sp>
      <p:sp>
        <p:nvSpPr>
          <p:cNvPr id="4" name="Text 2"/>
          <p:cNvSpPr/>
          <p:nvPr/>
        </p:nvSpPr>
        <p:spPr>
          <a:xfrm>
            <a:off x="548640" y="1691640"/>
            <a:ext cx="3291840" cy="685800"/>
          </a:xfrm>
          <a:prstGeom prst="rect">
            <a:avLst/>
          </a:prstGeom>
          <a:noFill/>
          <a:ln/>
        </p:spPr>
        <p:txBody>
          <a:bodyPr wrap="square" lIns="0" tIns="0" rIns="0" bIns="0" rtlCol="0" anchor="t"/>
          <a:lstStyle/>
          <a:p>
            <a:pPr marL="0" indent="0" algn="l">
              <a:lnSpc>
                <a:spcPct val="112000"/>
              </a:lnSpc>
              <a:buNone/>
            </a:pPr>
            <a:r>
              <a:rPr lang="en-US" sz="1300" dirty="0">
                <a:solidFill>
                  <a:srgbClr val="555E6B"/>
                </a:solidFill>
                <a:latin typeface="Calibri" pitchFamily="34" charset="0"/>
                <a:ea typeface="Calibri" pitchFamily="34" charset="-122"/>
                <a:cs typeface="Calibri" pitchFamily="34" charset="-120"/>
              </a:rPr>
              <a:t>EMS </a:t>
            </a:r>
            <a:r>
              <a:rPr lang="en-US" sz="1300" dirty="0" err="1">
                <a:solidFill>
                  <a:srgbClr val="555E6B"/>
                </a:solidFill>
                <a:latin typeface="Calibri" pitchFamily="34" charset="0"/>
                <a:ea typeface="Calibri" pitchFamily="34" charset="-122"/>
                <a:cs typeface="Calibri" pitchFamily="34" charset="-120"/>
              </a:rPr>
              <a:t>ReadyKit</a:t>
            </a:r>
            <a:r>
              <a:rPr lang="en-US" sz="1300" dirty="0">
                <a:solidFill>
                  <a:srgbClr val="555E6B"/>
                </a:solidFill>
                <a:latin typeface="Calibri" pitchFamily="34" charset="0"/>
                <a:ea typeface="Calibri" pitchFamily="34" charset="-122"/>
                <a:cs typeface="Calibri" pitchFamily="34" charset="-120"/>
              </a:rPr>
              <a:t> allows responders to see what they’ve done.</a:t>
            </a:r>
            <a:endParaRPr lang="en-US" sz="1300" dirty="0"/>
          </a:p>
        </p:txBody>
      </p:sp>
      <p:sp>
        <p:nvSpPr>
          <p:cNvPr id="5" name="Text 3"/>
          <p:cNvSpPr/>
          <p:nvPr/>
        </p:nvSpPr>
        <p:spPr>
          <a:xfrm>
            <a:off x="548640" y="2468880"/>
            <a:ext cx="3291840"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Daily checks</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Jump bag checks</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Station checks</a:t>
            </a:r>
          </a:p>
          <a:p>
            <a:pPr marL="285750" indent="-285750" algn="l">
              <a:spcAft>
                <a:spcPts val="800"/>
              </a:spcAft>
              <a:buSzPct val="100000"/>
              <a:buFont typeface="Arial" panose="020B0604020202020204" pitchFamily="34" charset="0"/>
              <a:buChar char="•"/>
            </a:pPr>
            <a:r>
              <a:rPr lang="en-US" sz="1250" dirty="0">
                <a:solidFill>
                  <a:srgbClr val="23262B"/>
                </a:solidFill>
                <a:latin typeface="Calibri" pitchFamily="34" charset="0"/>
                <a:ea typeface="Calibri" pitchFamily="34" charset="-122"/>
                <a:cs typeface="Calibri" pitchFamily="34" charset="-120"/>
              </a:rPr>
              <a:t>Note: </a:t>
            </a:r>
          </a:p>
          <a:p>
            <a:pPr marL="635000" lvl="1" indent="-177800">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Responders do not see All Checks or Deleted.</a:t>
            </a:r>
          </a:p>
          <a:p>
            <a:pPr marL="635000" lvl="1" indent="-177800">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Responders can see the Check Details information, but not the V&amp;E Status</a:t>
            </a:r>
            <a:endParaRPr lang="en-US" sz="1250" dirty="0"/>
          </a:p>
        </p:txBody>
      </p:sp>
      <p:sp>
        <p:nvSpPr>
          <p:cNvPr id="15" name="Shape 13"/>
          <p:cNvSpPr/>
          <p:nvPr/>
        </p:nvSpPr>
        <p:spPr>
          <a:xfrm>
            <a:off x="548640" y="4855464"/>
            <a:ext cx="73152" cy="73152"/>
          </a:xfrm>
          <a:prstGeom prst="ellipse">
            <a:avLst/>
          </a:prstGeom>
          <a:solidFill>
            <a:srgbClr val="D81E2C"/>
          </a:solidFill>
          <a:ln/>
        </p:spPr>
        <p:txBody>
          <a:bodyPr/>
          <a:lstStyle/>
          <a:p>
            <a:endParaRPr lang="en-US"/>
          </a:p>
        </p:txBody>
      </p:sp>
      <p:sp>
        <p:nvSpPr>
          <p:cNvPr id="16" name="Text 14"/>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7" name="Text 15"/>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07</a:t>
            </a:r>
            <a:endParaRPr lang="en-US" sz="950" dirty="0"/>
          </a:p>
        </p:txBody>
      </p:sp>
      <p:pic>
        <p:nvPicPr>
          <p:cNvPr id="21" name="Picture 20">
            <a:extLst>
              <a:ext uri="{FF2B5EF4-FFF2-40B4-BE49-F238E27FC236}">
                <a16:creationId xmlns:a16="http://schemas.microsoft.com/office/drawing/2014/main" id="{40A6094E-D976-567A-E282-43BAD20948AA}"/>
              </a:ext>
            </a:extLst>
          </p:cNvPr>
          <p:cNvPicPr>
            <a:picLocks noChangeAspect="1"/>
          </p:cNvPicPr>
          <p:nvPr/>
        </p:nvPicPr>
        <p:blipFill>
          <a:blip r:embed="rId3"/>
          <a:stretch>
            <a:fillRect/>
          </a:stretch>
        </p:blipFill>
        <p:spPr>
          <a:xfrm>
            <a:off x="4143682" y="534924"/>
            <a:ext cx="2162472" cy="4201668"/>
          </a:xfrm>
          <a:prstGeom prst="rect">
            <a:avLst/>
          </a:prstGeom>
          <a:ln>
            <a:noFill/>
          </a:ln>
          <a:effectLst>
            <a:outerShdw blurRad="292100" dist="139700" dir="2700000" algn="tl" rotWithShape="0">
              <a:srgbClr val="333333">
                <a:alpha val="65000"/>
              </a:srgbClr>
            </a:outerShdw>
          </a:effectLst>
        </p:spPr>
      </p:pic>
      <p:sp>
        <p:nvSpPr>
          <p:cNvPr id="22" name="Rectangle: Rounded Corners 21">
            <a:extLst>
              <a:ext uri="{FF2B5EF4-FFF2-40B4-BE49-F238E27FC236}">
                <a16:creationId xmlns:a16="http://schemas.microsoft.com/office/drawing/2014/main" id="{22BB558A-9044-107A-FB84-551DFC6EE403}"/>
              </a:ext>
            </a:extLst>
          </p:cNvPr>
          <p:cNvSpPr/>
          <p:nvPr/>
        </p:nvSpPr>
        <p:spPr>
          <a:xfrm>
            <a:off x="5444763" y="32600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a:t>
            </a:r>
          </a:p>
        </p:txBody>
      </p:sp>
      <p:pic>
        <p:nvPicPr>
          <p:cNvPr id="24" name="Picture 23">
            <a:extLst>
              <a:ext uri="{FF2B5EF4-FFF2-40B4-BE49-F238E27FC236}">
                <a16:creationId xmlns:a16="http://schemas.microsoft.com/office/drawing/2014/main" id="{9773D1F4-EF21-A5D9-1AC8-B41D91CE9A42}"/>
              </a:ext>
            </a:extLst>
          </p:cNvPr>
          <p:cNvPicPr>
            <a:picLocks noChangeAspect="1"/>
          </p:cNvPicPr>
          <p:nvPr/>
        </p:nvPicPr>
        <p:blipFill>
          <a:blip r:embed="rId4"/>
          <a:stretch>
            <a:fillRect/>
          </a:stretch>
        </p:blipFill>
        <p:spPr>
          <a:xfrm>
            <a:off x="6609356" y="534925"/>
            <a:ext cx="2167123" cy="4201668"/>
          </a:xfrm>
          <a:prstGeom prst="rect">
            <a:avLst/>
          </a:prstGeom>
          <a:ln>
            <a:noFill/>
          </a:ln>
          <a:effectLst>
            <a:outerShdw blurRad="292100" dist="139700" dir="2700000" algn="tl" rotWithShape="0">
              <a:srgbClr val="333333">
                <a:alpha val="65000"/>
              </a:srgbClr>
            </a:outerShdw>
          </a:effectLst>
        </p:spPr>
      </p:pic>
      <p:sp>
        <p:nvSpPr>
          <p:cNvPr id="25" name="Rectangle: Rounded Corners 24">
            <a:extLst>
              <a:ext uri="{FF2B5EF4-FFF2-40B4-BE49-F238E27FC236}">
                <a16:creationId xmlns:a16="http://schemas.microsoft.com/office/drawing/2014/main" id="{8E65868C-A9A8-700E-5C96-51B3585038F6}"/>
              </a:ext>
            </a:extLst>
          </p:cNvPr>
          <p:cNvSpPr/>
          <p:nvPr/>
        </p:nvSpPr>
        <p:spPr>
          <a:xfrm>
            <a:off x="7923924" y="32600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a:t>
            </a:r>
          </a:p>
        </p:txBody>
      </p:sp>
      <p:grpSp>
        <p:nvGrpSpPr>
          <p:cNvPr id="26" name="Group 25">
            <a:extLst>
              <a:ext uri="{FF2B5EF4-FFF2-40B4-BE49-F238E27FC236}">
                <a16:creationId xmlns:a16="http://schemas.microsoft.com/office/drawing/2014/main" id="{ECE1B0ED-E2B3-9E39-F216-F83EC4F28772}"/>
              </a:ext>
            </a:extLst>
          </p:cNvPr>
          <p:cNvGrpSpPr/>
          <p:nvPr/>
        </p:nvGrpSpPr>
        <p:grpSpPr>
          <a:xfrm>
            <a:off x="5809984" y="2144018"/>
            <a:ext cx="305596" cy="539287"/>
            <a:chOff x="1205000" y="3935000"/>
            <a:chExt cx="323000" cy="570000"/>
          </a:xfrm>
        </p:grpSpPr>
        <p:sp>
          <p:nvSpPr>
            <p:cNvPr id="27" name="Click Line 1">
              <a:extLst>
                <a:ext uri="{FF2B5EF4-FFF2-40B4-BE49-F238E27FC236}">
                  <a16:creationId xmlns:a16="http://schemas.microsoft.com/office/drawing/2014/main" id="{D4724BF1-0026-3FA3-ED96-4F53DCC71016}"/>
                </a:ext>
              </a:extLst>
            </p:cNvPr>
            <p:cNvSpPr/>
            <p:nvPr/>
          </p:nvSpPr>
          <p:spPr>
            <a:xfrm>
              <a:off x="1300000" y="3935000"/>
              <a:ext cx="1" cy="70000"/>
            </a:xfrm>
            <a:prstGeom prst="line">
              <a:avLst/>
            </a:prstGeom>
            <a:ln w="22000" cap="rnd">
              <a:solidFill>
                <a:schemeClr val="tx1"/>
              </a:solidFill>
            </a:ln>
          </p:spPr>
          <p:txBody>
            <a:bodyPr/>
            <a:lstStyle/>
            <a:p>
              <a:endParaRPr lang="en-US"/>
            </a:p>
          </p:txBody>
        </p:sp>
        <p:sp>
          <p:nvSpPr>
            <p:cNvPr id="28" name="Click Line 2">
              <a:extLst>
                <a:ext uri="{FF2B5EF4-FFF2-40B4-BE49-F238E27FC236}">
                  <a16:creationId xmlns:a16="http://schemas.microsoft.com/office/drawing/2014/main" id="{A1939E00-7446-BA13-64F3-15BA00EC223B}"/>
                </a:ext>
              </a:extLst>
            </p:cNvPr>
            <p:cNvSpPr/>
            <p:nvPr/>
          </p:nvSpPr>
          <p:spPr>
            <a:xfrm flipH="1">
              <a:off x="1205000" y="3960000"/>
              <a:ext cx="55000" cy="55000"/>
            </a:xfrm>
            <a:prstGeom prst="line">
              <a:avLst/>
            </a:prstGeom>
            <a:ln w="22000" cap="rnd">
              <a:solidFill>
                <a:schemeClr val="tx1"/>
              </a:solidFill>
            </a:ln>
          </p:spPr>
          <p:txBody>
            <a:bodyPr/>
            <a:lstStyle/>
            <a:p>
              <a:endParaRPr lang="en-US"/>
            </a:p>
          </p:txBody>
        </p:sp>
        <p:sp>
          <p:nvSpPr>
            <p:cNvPr id="29" name="Click Line 3">
              <a:extLst>
                <a:ext uri="{FF2B5EF4-FFF2-40B4-BE49-F238E27FC236}">
                  <a16:creationId xmlns:a16="http://schemas.microsoft.com/office/drawing/2014/main" id="{5BE6308B-E626-BC14-8993-B50B4B6F8BDC}"/>
                </a:ext>
              </a:extLst>
            </p:cNvPr>
            <p:cNvSpPr/>
            <p:nvPr/>
          </p:nvSpPr>
          <p:spPr>
            <a:xfrm>
              <a:off x="1345000" y="3960000"/>
              <a:ext cx="55000" cy="55000"/>
            </a:xfrm>
            <a:prstGeom prst="line">
              <a:avLst/>
            </a:prstGeom>
            <a:ln w="22000" cap="rnd">
              <a:solidFill>
                <a:schemeClr val="tx1"/>
              </a:solidFill>
            </a:ln>
          </p:spPr>
          <p:txBody>
            <a:bodyPr/>
            <a:lstStyle/>
            <a:p>
              <a:endParaRPr lang="en-US"/>
            </a:p>
          </p:txBody>
        </p:sp>
        <p:sp>
          <p:nvSpPr>
            <p:cNvPr id="30" name="Click Cursor">
              <a:extLst>
                <a:ext uri="{FF2B5EF4-FFF2-40B4-BE49-F238E27FC236}">
                  <a16:creationId xmlns:a16="http://schemas.microsoft.com/office/drawing/2014/main" id="{8D5668A3-D806-B2C0-4333-9322E6216758}"/>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303520" y="457200"/>
            <a:ext cx="356616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FEATURE 04</a:t>
            </a:r>
            <a:endParaRPr lang="en-US" sz="1100" dirty="0"/>
          </a:p>
        </p:txBody>
      </p:sp>
      <p:sp>
        <p:nvSpPr>
          <p:cNvPr id="3" name="Text 1"/>
          <p:cNvSpPr/>
          <p:nvPr/>
        </p:nvSpPr>
        <p:spPr>
          <a:xfrm>
            <a:off x="5303520" y="749808"/>
            <a:ext cx="3291840"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Station Inventory</a:t>
            </a:r>
            <a:endParaRPr lang="en-US" sz="2500" dirty="0"/>
          </a:p>
        </p:txBody>
      </p:sp>
      <p:sp>
        <p:nvSpPr>
          <p:cNvPr id="4" name="Text 2"/>
          <p:cNvSpPr/>
          <p:nvPr/>
        </p:nvSpPr>
        <p:spPr>
          <a:xfrm>
            <a:off x="5303520" y="1691640"/>
            <a:ext cx="3291840" cy="685800"/>
          </a:xfrm>
          <a:prstGeom prst="rect">
            <a:avLst/>
          </a:prstGeom>
          <a:noFill/>
          <a:ln/>
        </p:spPr>
        <p:txBody>
          <a:bodyPr wrap="square" lIns="0" tIns="0" rIns="0" bIns="0" rtlCol="0" anchor="t"/>
          <a:lstStyle/>
          <a:p>
            <a:pPr>
              <a:lnSpc>
                <a:spcPct val="112000"/>
              </a:lnSpc>
            </a:pPr>
            <a:r>
              <a:rPr lang="en-US" sz="1300" dirty="0">
                <a:solidFill>
                  <a:srgbClr val="555E6B"/>
                </a:solidFill>
                <a:latin typeface="Calibri" pitchFamily="34" charset="0"/>
                <a:ea typeface="Calibri" pitchFamily="34" charset="-122"/>
                <a:cs typeface="Calibri" pitchFamily="34" charset="-120"/>
              </a:rPr>
              <a:t>EMS </a:t>
            </a:r>
            <a:r>
              <a:rPr lang="en-US" sz="1300" dirty="0" err="1">
                <a:solidFill>
                  <a:srgbClr val="555E6B"/>
                </a:solidFill>
                <a:latin typeface="Calibri" pitchFamily="34" charset="0"/>
                <a:ea typeface="Calibri" pitchFamily="34" charset="-122"/>
                <a:cs typeface="Calibri" pitchFamily="34" charset="-120"/>
              </a:rPr>
              <a:t>ReadyKit</a:t>
            </a:r>
            <a:r>
              <a:rPr lang="en-US" sz="1300" dirty="0">
                <a:solidFill>
                  <a:srgbClr val="555E6B"/>
                </a:solidFill>
                <a:latin typeface="Calibri" pitchFamily="34" charset="0"/>
                <a:ea typeface="Calibri" pitchFamily="34" charset="-122"/>
                <a:cs typeface="Calibri" pitchFamily="34" charset="-120"/>
              </a:rPr>
              <a:t> tracks inventory end to end — station supply room to ambulance and jump bags — so crews never run short.</a:t>
            </a:r>
            <a:endParaRPr lang="en-US" sz="1300" dirty="0"/>
          </a:p>
        </p:txBody>
      </p:sp>
      <p:sp>
        <p:nvSpPr>
          <p:cNvPr id="5" name="Text 3"/>
          <p:cNvSpPr/>
          <p:nvPr/>
        </p:nvSpPr>
        <p:spPr>
          <a:xfrm>
            <a:off x="5303520" y="2468880"/>
            <a:ext cx="3291840"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Items used from the ambulance are reduced from ambulance stock</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Items used from the jump bag are reduced from the current jump bag stock</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Items are pulled from station supply to restock ambulance and jump bags</a:t>
            </a:r>
          </a:p>
          <a:p>
            <a:pPr marL="177800" indent="-177800" algn="l">
              <a:spcAft>
                <a:spcPts val="800"/>
              </a:spcAft>
              <a:buSzPct val="100000"/>
              <a:buChar char="–"/>
            </a:pPr>
            <a:r>
              <a:rPr lang="en-US" sz="1250" b="1" dirty="0">
                <a:solidFill>
                  <a:srgbClr val="23262B"/>
                </a:solidFill>
                <a:latin typeface="Calibri" pitchFamily="34" charset="0"/>
                <a:ea typeface="Calibri" pitchFamily="34" charset="-122"/>
                <a:cs typeface="Calibri" pitchFamily="34" charset="-120"/>
              </a:rPr>
              <a:t>Usage Log </a:t>
            </a:r>
            <a:r>
              <a:rPr lang="en-US" sz="1250" dirty="0">
                <a:solidFill>
                  <a:srgbClr val="23262B"/>
                </a:solidFill>
                <a:latin typeface="Calibri" pitchFamily="34" charset="0"/>
                <a:ea typeface="Calibri" pitchFamily="34" charset="-122"/>
                <a:cs typeface="Calibri" pitchFamily="34" charset="-120"/>
              </a:rPr>
              <a:t>tracks items decremented after using Log Items Used</a:t>
            </a:r>
            <a:endParaRPr lang="en-US" sz="1250" dirty="0"/>
          </a:p>
        </p:txBody>
      </p:sp>
      <p:sp>
        <p:nvSpPr>
          <p:cNvPr id="15" name="Shape 13"/>
          <p:cNvSpPr/>
          <p:nvPr/>
        </p:nvSpPr>
        <p:spPr>
          <a:xfrm>
            <a:off x="548640" y="4855464"/>
            <a:ext cx="73152" cy="73152"/>
          </a:xfrm>
          <a:prstGeom prst="ellipse">
            <a:avLst/>
          </a:prstGeom>
          <a:solidFill>
            <a:srgbClr val="D81E2C"/>
          </a:solidFill>
          <a:ln/>
        </p:spPr>
        <p:txBody>
          <a:bodyPr/>
          <a:lstStyle/>
          <a:p>
            <a:endParaRPr lang="en-US"/>
          </a:p>
        </p:txBody>
      </p:sp>
      <p:sp>
        <p:nvSpPr>
          <p:cNvPr id="16" name="Text 14"/>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7" name="Text 15"/>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08</a:t>
            </a:r>
            <a:endParaRPr lang="en-US" sz="950" dirty="0"/>
          </a:p>
        </p:txBody>
      </p:sp>
      <p:pic>
        <p:nvPicPr>
          <p:cNvPr id="19" name="Picture 18">
            <a:extLst>
              <a:ext uri="{FF2B5EF4-FFF2-40B4-BE49-F238E27FC236}">
                <a16:creationId xmlns:a16="http://schemas.microsoft.com/office/drawing/2014/main" id="{CEEAD365-1FBC-ADEB-04B7-FCA1160BBC5D}"/>
              </a:ext>
            </a:extLst>
          </p:cNvPr>
          <p:cNvPicPr>
            <a:picLocks noChangeAspect="1"/>
          </p:cNvPicPr>
          <p:nvPr/>
        </p:nvPicPr>
        <p:blipFill>
          <a:blip r:embed="rId3"/>
          <a:stretch>
            <a:fillRect/>
          </a:stretch>
        </p:blipFill>
        <p:spPr>
          <a:xfrm>
            <a:off x="1214618" y="492782"/>
            <a:ext cx="2019475" cy="3952196"/>
          </a:xfrm>
          <a:prstGeom prst="rect">
            <a:avLst/>
          </a:prstGeom>
          <a:ln>
            <a:noFill/>
          </a:ln>
          <a:effectLst>
            <a:outerShdw blurRad="292100" dist="139700" dir="2700000" algn="tl" rotWithShape="0">
              <a:srgbClr val="333333">
                <a:alpha val="65000"/>
              </a:srgbClr>
            </a:outerShdw>
          </a:effectLst>
        </p:spPr>
      </p:pic>
      <p:sp>
        <p:nvSpPr>
          <p:cNvPr id="20" name="Rectangle: Rounded Corners 19">
            <a:extLst>
              <a:ext uri="{FF2B5EF4-FFF2-40B4-BE49-F238E27FC236}">
                <a16:creationId xmlns:a16="http://schemas.microsoft.com/office/drawing/2014/main" id="{64CBE6CC-2F33-E684-15DD-A608405EC97B}"/>
              </a:ext>
            </a:extLst>
          </p:cNvPr>
          <p:cNvSpPr/>
          <p:nvPr/>
        </p:nvSpPr>
        <p:spPr>
          <a:xfrm>
            <a:off x="2372702" y="277501"/>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All Roles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413E1181-415E-99EB-4081-B89B3A41CDAF}"/>
            </a:ext>
          </a:extLst>
        </p:cNvPr>
        <p:cNvGrpSpPr/>
        <p:nvPr/>
      </p:nvGrpSpPr>
      <p:grpSpPr>
        <a:xfrm>
          <a:off x="0" y="0"/>
          <a:ext cx="0" cy="0"/>
          <a:chOff x="0" y="0"/>
          <a:chExt cx="0" cy="0"/>
        </a:xfrm>
      </p:grpSpPr>
      <p:sp>
        <p:nvSpPr>
          <p:cNvPr id="10" name="Arrow: Right 9">
            <a:extLst>
              <a:ext uri="{FF2B5EF4-FFF2-40B4-BE49-F238E27FC236}">
                <a16:creationId xmlns:a16="http://schemas.microsoft.com/office/drawing/2014/main" id="{E80704C0-6713-65A5-F358-5803187DED4D}"/>
              </a:ext>
            </a:extLst>
          </p:cNvPr>
          <p:cNvSpPr/>
          <p:nvPr/>
        </p:nvSpPr>
        <p:spPr>
          <a:xfrm>
            <a:off x="3127911" y="4524943"/>
            <a:ext cx="5817305" cy="300978"/>
          </a:xfrm>
          <a:prstGeom prst="rightArrow">
            <a:avLst/>
          </a:prstGeom>
          <a:solidFill>
            <a:srgbClr val="D81E2C"/>
          </a:solidFill>
          <a:ln>
            <a:solidFill>
              <a:srgbClr val="D81E2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rPr>
              <a:t>Count Supplies</a:t>
            </a:r>
          </a:p>
        </p:txBody>
      </p:sp>
      <p:sp>
        <p:nvSpPr>
          <p:cNvPr id="3" name="Text 1">
            <a:extLst>
              <a:ext uri="{FF2B5EF4-FFF2-40B4-BE49-F238E27FC236}">
                <a16:creationId xmlns:a16="http://schemas.microsoft.com/office/drawing/2014/main" id="{1D9782A6-86C6-1D27-7447-265A1E02FD9D}"/>
              </a:ext>
            </a:extLst>
          </p:cNvPr>
          <p:cNvSpPr/>
          <p:nvPr/>
        </p:nvSpPr>
        <p:spPr>
          <a:xfrm>
            <a:off x="5303520" y="162406"/>
            <a:ext cx="3291840" cy="413070"/>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Tracking Inventory</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9BEE2847-EFE8-E0E7-4451-A254CD1F987B}"/>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C46A049D-9A7D-2333-9343-A48CDAF1AF7B}"/>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B3141820-8408-7638-7993-783EF8D04FFD}"/>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08</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6B7EE791-6F64-626E-E327-F95EF981E04F}"/>
              </a:ext>
            </a:extLst>
          </p:cNvPr>
          <p:cNvSpPr/>
          <p:nvPr/>
        </p:nvSpPr>
        <p:spPr>
          <a:xfrm>
            <a:off x="1537547" y="556989"/>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pic>
        <p:nvPicPr>
          <p:cNvPr id="9" name="Picture 8">
            <a:extLst>
              <a:ext uri="{FF2B5EF4-FFF2-40B4-BE49-F238E27FC236}">
                <a16:creationId xmlns:a16="http://schemas.microsoft.com/office/drawing/2014/main" id="{DB8004D3-D0F3-4C0D-87A0-D5BB5FDB192D}"/>
              </a:ext>
            </a:extLst>
          </p:cNvPr>
          <p:cNvPicPr>
            <a:picLocks noChangeAspect="1"/>
          </p:cNvPicPr>
          <p:nvPr/>
        </p:nvPicPr>
        <p:blipFill>
          <a:blip r:embed="rId3"/>
          <a:stretch>
            <a:fillRect/>
          </a:stretch>
        </p:blipFill>
        <p:spPr>
          <a:xfrm>
            <a:off x="442502" y="784396"/>
            <a:ext cx="1944509" cy="3787405"/>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C607905E-7169-F2C5-15B2-0C2208A04452}"/>
              </a:ext>
            </a:extLst>
          </p:cNvPr>
          <p:cNvPicPr>
            <a:picLocks noChangeAspect="1"/>
          </p:cNvPicPr>
          <p:nvPr/>
        </p:nvPicPr>
        <p:blipFill>
          <a:blip r:embed="rId4"/>
          <a:stretch>
            <a:fillRect/>
          </a:stretch>
        </p:blipFill>
        <p:spPr>
          <a:xfrm>
            <a:off x="2561045" y="808576"/>
            <a:ext cx="1944509" cy="3787405"/>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52055805-1DBE-7208-829F-F81F8EC0D93F}"/>
              </a:ext>
            </a:extLst>
          </p:cNvPr>
          <p:cNvPicPr>
            <a:picLocks noChangeAspect="1"/>
          </p:cNvPicPr>
          <p:nvPr/>
        </p:nvPicPr>
        <p:blipFill>
          <a:blip r:embed="rId5"/>
          <a:stretch>
            <a:fillRect/>
          </a:stretch>
        </p:blipFill>
        <p:spPr>
          <a:xfrm>
            <a:off x="4716986" y="813836"/>
            <a:ext cx="1944509" cy="3792023"/>
          </a:xfrm>
          <a:prstGeom prst="rect">
            <a:avLst/>
          </a:prstGeom>
          <a:ln>
            <a:noFill/>
          </a:ln>
          <a:effectLst>
            <a:outerShdw blurRad="292100" dist="139700" dir="2700000" algn="tl" rotWithShape="0">
              <a:srgbClr val="333333">
                <a:alpha val="65000"/>
              </a:srgbClr>
            </a:outerShdw>
          </a:effectLst>
        </p:spPr>
      </p:pic>
      <p:grpSp>
        <p:nvGrpSpPr>
          <p:cNvPr id="18" name="Group 17">
            <a:extLst>
              <a:ext uri="{FF2B5EF4-FFF2-40B4-BE49-F238E27FC236}">
                <a16:creationId xmlns:a16="http://schemas.microsoft.com/office/drawing/2014/main" id="{30222F6C-CE66-69CF-B162-2FACC94C6E80}"/>
              </a:ext>
            </a:extLst>
          </p:cNvPr>
          <p:cNvGrpSpPr/>
          <p:nvPr/>
        </p:nvGrpSpPr>
        <p:grpSpPr>
          <a:xfrm>
            <a:off x="4108634" y="4396643"/>
            <a:ext cx="305596" cy="539287"/>
            <a:chOff x="1205000" y="3935000"/>
            <a:chExt cx="323000" cy="570000"/>
          </a:xfrm>
        </p:grpSpPr>
        <p:sp>
          <p:nvSpPr>
            <p:cNvPr id="21" name="Click Line 1">
              <a:extLst>
                <a:ext uri="{FF2B5EF4-FFF2-40B4-BE49-F238E27FC236}">
                  <a16:creationId xmlns:a16="http://schemas.microsoft.com/office/drawing/2014/main" id="{82B670E0-829C-97E2-C54F-B03C32466AF1}"/>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22" name="Click Line 2">
              <a:extLst>
                <a:ext uri="{FF2B5EF4-FFF2-40B4-BE49-F238E27FC236}">
                  <a16:creationId xmlns:a16="http://schemas.microsoft.com/office/drawing/2014/main" id="{84B0A54B-EE42-9116-9D4B-1D9927725E71}"/>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23" name="Click Line 3">
              <a:extLst>
                <a:ext uri="{FF2B5EF4-FFF2-40B4-BE49-F238E27FC236}">
                  <a16:creationId xmlns:a16="http://schemas.microsoft.com/office/drawing/2014/main" id="{177FF6B4-1A5C-2229-D64E-B3A3F583EB6F}"/>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24" name="Click Cursor">
              <a:extLst>
                <a:ext uri="{FF2B5EF4-FFF2-40B4-BE49-F238E27FC236}">
                  <a16:creationId xmlns:a16="http://schemas.microsoft.com/office/drawing/2014/main" id="{C0B0D408-703F-51D9-5586-715554D9DEFE}"/>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grpSp>
        <p:nvGrpSpPr>
          <p:cNvPr id="25" name="Group 24">
            <a:extLst>
              <a:ext uri="{FF2B5EF4-FFF2-40B4-BE49-F238E27FC236}">
                <a16:creationId xmlns:a16="http://schemas.microsoft.com/office/drawing/2014/main" id="{2C7C77FC-58BF-E446-8E55-558649129BA4}"/>
              </a:ext>
            </a:extLst>
          </p:cNvPr>
          <p:cNvGrpSpPr/>
          <p:nvPr/>
        </p:nvGrpSpPr>
        <p:grpSpPr>
          <a:xfrm>
            <a:off x="6309791" y="4160113"/>
            <a:ext cx="305596" cy="539287"/>
            <a:chOff x="1205000" y="3935000"/>
            <a:chExt cx="323000" cy="570000"/>
          </a:xfrm>
        </p:grpSpPr>
        <p:sp>
          <p:nvSpPr>
            <p:cNvPr id="26" name="Click Line 1">
              <a:extLst>
                <a:ext uri="{FF2B5EF4-FFF2-40B4-BE49-F238E27FC236}">
                  <a16:creationId xmlns:a16="http://schemas.microsoft.com/office/drawing/2014/main" id="{DCC7B672-F029-DD7C-B300-BC11D75BEB34}"/>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27" name="Click Line 2">
              <a:extLst>
                <a:ext uri="{FF2B5EF4-FFF2-40B4-BE49-F238E27FC236}">
                  <a16:creationId xmlns:a16="http://schemas.microsoft.com/office/drawing/2014/main" id="{5689DC3B-4CA2-038C-3730-ADC3E5114585}"/>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28" name="Click Line 3">
              <a:extLst>
                <a:ext uri="{FF2B5EF4-FFF2-40B4-BE49-F238E27FC236}">
                  <a16:creationId xmlns:a16="http://schemas.microsoft.com/office/drawing/2014/main" id="{91D14098-23D6-5226-E9D4-DDCA04E5E85C}"/>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29" name="Click Cursor">
              <a:extLst>
                <a:ext uri="{FF2B5EF4-FFF2-40B4-BE49-F238E27FC236}">
                  <a16:creationId xmlns:a16="http://schemas.microsoft.com/office/drawing/2014/main" id="{C20F1DD5-DCE1-6C67-E563-314F587E5EF8}"/>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pic>
        <p:nvPicPr>
          <p:cNvPr id="31" name="Picture 30">
            <a:extLst>
              <a:ext uri="{FF2B5EF4-FFF2-40B4-BE49-F238E27FC236}">
                <a16:creationId xmlns:a16="http://schemas.microsoft.com/office/drawing/2014/main" id="{E406651D-C97E-9793-1B47-465E588E3553}"/>
              </a:ext>
            </a:extLst>
          </p:cNvPr>
          <p:cNvPicPr>
            <a:picLocks noChangeAspect="1"/>
          </p:cNvPicPr>
          <p:nvPr/>
        </p:nvPicPr>
        <p:blipFill>
          <a:blip r:embed="rId6"/>
          <a:stretch>
            <a:fillRect/>
          </a:stretch>
        </p:blipFill>
        <p:spPr>
          <a:xfrm>
            <a:off x="6831101" y="842589"/>
            <a:ext cx="1944509" cy="3782786"/>
          </a:xfrm>
          <a:prstGeom prst="rect">
            <a:avLst/>
          </a:prstGeom>
          <a:ln>
            <a:noFill/>
          </a:ln>
          <a:effectLst>
            <a:outerShdw blurRad="292100" dist="139700" dir="2700000" algn="tl" rotWithShape="0">
              <a:srgbClr val="333333">
                <a:alpha val="65000"/>
              </a:srgbClr>
            </a:outerShdw>
          </a:effectLst>
        </p:spPr>
      </p:pic>
      <p:grpSp>
        <p:nvGrpSpPr>
          <p:cNvPr id="32" name="Group 31">
            <a:extLst>
              <a:ext uri="{FF2B5EF4-FFF2-40B4-BE49-F238E27FC236}">
                <a16:creationId xmlns:a16="http://schemas.microsoft.com/office/drawing/2014/main" id="{7D0DE7D7-1297-1EB4-9010-F70A6C35125B}"/>
              </a:ext>
            </a:extLst>
          </p:cNvPr>
          <p:cNvGrpSpPr/>
          <p:nvPr/>
        </p:nvGrpSpPr>
        <p:grpSpPr>
          <a:xfrm>
            <a:off x="8535176" y="4234676"/>
            <a:ext cx="305596" cy="539287"/>
            <a:chOff x="1205000" y="3935000"/>
            <a:chExt cx="323000" cy="570000"/>
          </a:xfrm>
        </p:grpSpPr>
        <p:sp>
          <p:nvSpPr>
            <p:cNvPr id="33" name="Click Line 1">
              <a:extLst>
                <a:ext uri="{FF2B5EF4-FFF2-40B4-BE49-F238E27FC236}">
                  <a16:creationId xmlns:a16="http://schemas.microsoft.com/office/drawing/2014/main" id="{32CEA631-3D7A-C52A-7B81-431A2CBB0805}"/>
                </a:ext>
              </a:extLst>
            </p:cNvPr>
            <p:cNvSpPr/>
            <p:nvPr/>
          </p:nvSpPr>
          <p:spPr>
            <a:xfrm>
              <a:off x="1300000" y="3935000"/>
              <a:ext cx="1" cy="70000"/>
            </a:xfrm>
            <a:prstGeom prst="line">
              <a:avLst/>
            </a:prstGeom>
            <a:ln w="22000" cap="rnd">
              <a:solidFill>
                <a:schemeClr val="bg1"/>
              </a:solidFill>
            </a:ln>
          </p:spPr>
          <p:txBody>
            <a:bodyPr/>
            <a:lstStyle/>
            <a:p>
              <a:endParaRPr lang="en-US"/>
            </a:p>
          </p:txBody>
        </p:sp>
        <p:sp>
          <p:nvSpPr>
            <p:cNvPr id="34" name="Click Line 2">
              <a:extLst>
                <a:ext uri="{FF2B5EF4-FFF2-40B4-BE49-F238E27FC236}">
                  <a16:creationId xmlns:a16="http://schemas.microsoft.com/office/drawing/2014/main" id="{B06CFCD5-9C25-03F4-B64A-7E23B1D6141A}"/>
                </a:ext>
              </a:extLst>
            </p:cNvPr>
            <p:cNvSpPr/>
            <p:nvPr/>
          </p:nvSpPr>
          <p:spPr>
            <a:xfrm flipH="1">
              <a:off x="1205000" y="3960000"/>
              <a:ext cx="55000" cy="55000"/>
            </a:xfrm>
            <a:prstGeom prst="line">
              <a:avLst/>
            </a:prstGeom>
            <a:ln w="22000" cap="rnd">
              <a:solidFill>
                <a:schemeClr val="bg1"/>
              </a:solidFill>
            </a:ln>
          </p:spPr>
          <p:txBody>
            <a:bodyPr/>
            <a:lstStyle/>
            <a:p>
              <a:endParaRPr lang="en-US"/>
            </a:p>
          </p:txBody>
        </p:sp>
        <p:sp>
          <p:nvSpPr>
            <p:cNvPr id="35" name="Click Line 3">
              <a:extLst>
                <a:ext uri="{FF2B5EF4-FFF2-40B4-BE49-F238E27FC236}">
                  <a16:creationId xmlns:a16="http://schemas.microsoft.com/office/drawing/2014/main" id="{00A22167-9589-D950-8EF3-072CF64D2189}"/>
                </a:ext>
              </a:extLst>
            </p:cNvPr>
            <p:cNvSpPr/>
            <p:nvPr/>
          </p:nvSpPr>
          <p:spPr>
            <a:xfrm>
              <a:off x="1345000" y="3960000"/>
              <a:ext cx="55000" cy="55000"/>
            </a:xfrm>
            <a:prstGeom prst="line">
              <a:avLst/>
            </a:prstGeom>
            <a:ln w="22000" cap="rnd">
              <a:solidFill>
                <a:schemeClr val="bg1"/>
              </a:solidFill>
            </a:ln>
          </p:spPr>
          <p:txBody>
            <a:bodyPr/>
            <a:lstStyle/>
            <a:p>
              <a:endParaRPr lang="en-US"/>
            </a:p>
          </p:txBody>
        </p:sp>
        <p:sp>
          <p:nvSpPr>
            <p:cNvPr id="36" name="Click Cursor">
              <a:extLst>
                <a:ext uri="{FF2B5EF4-FFF2-40B4-BE49-F238E27FC236}">
                  <a16:creationId xmlns:a16="http://schemas.microsoft.com/office/drawing/2014/main" id="{52692DF0-45BE-0F9A-1C49-5096069CB483}"/>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
        <p:nvSpPr>
          <p:cNvPr id="37" name="Rectangle: Rounded Corners 36">
            <a:extLst>
              <a:ext uri="{FF2B5EF4-FFF2-40B4-BE49-F238E27FC236}">
                <a16:creationId xmlns:a16="http://schemas.microsoft.com/office/drawing/2014/main" id="{C29F3452-579D-FE3D-2DDA-3A0FBA3D107A}"/>
              </a:ext>
            </a:extLst>
          </p:cNvPr>
          <p:cNvSpPr/>
          <p:nvPr/>
        </p:nvSpPr>
        <p:spPr>
          <a:xfrm>
            <a:off x="3635844" y="562264"/>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sp>
        <p:nvSpPr>
          <p:cNvPr id="38" name="Rectangle: Rounded Corners 37">
            <a:extLst>
              <a:ext uri="{FF2B5EF4-FFF2-40B4-BE49-F238E27FC236}">
                <a16:creationId xmlns:a16="http://schemas.microsoft.com/office/drawing/2014/main" id="{CFA6A4B4-C20F-3B1F-F377-40224FA00F5E}"/>
              </a:ext>
            </a:extLst>
          </p:cNvPr>
          <p:cNvSpPr/>
          <p:nvPr/>
        </p:nvSpPr>
        <p:spPr>
          <a:xfrm>
            <a:off x="5800104" y="578065"/>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sp>
        <p:nvSpPr>
          <p:cNvPr id="39" name="Rectangle: Rounded Corners 38">
            <a:extLst>
              <a:ext uri="{FF2B5EF4-FFF2-40B4-BE49-F238E27FC236}">
                <a16:creationId xmlns:a16="http://schemas.microsoft.com/office/drawing/2014/main" id="{3D859237-8986-BDAA-E655-14315966424A}"/>
              </a:ext>
            </a:extLst>
          </p:cNvPr>
          <p:cNvSpPr/>
          <p:nvPr/>
        </p:nvSpPr>
        <p:spPr>
          <a:xfrm>
            <a:off x="7898401" y="601516"/>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All Roles</a:t>
            </a:r>
          </a:p>
        </p:txBody>
      </p:sp>
    </p:spTree>
    <p:extLst>
      <p:ext uri="{BB962C8B-B14F-4D97-AF65-F5344CB8AC3E}">
        <p14:creationId xmlns:p14="http://schemas.microsoft.com/office/powerpoint/2010/main" val="3677976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FEATURE 05</a:t>
            </a:r>
            <a:endParaRPr lang="en-US" sz="1100" dirty="0"/>
          </a:p>
        </p:txBody>
      </p:sp>
      <p:sp>
        <p:nvSpPr>
          <p:cNvPr id="3" name="Text 1"/>
          <p:cNvSpPr/>
          <p:nvPr/>
        </p:nvSpPr>
        <p:spPr>
          <a:xfrm>
            <a:off x="548640" y="749808"/>
            <a:ext cx="3474720"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Supervisor’s Compliance Dashboard</a:t>
            </a:r>
            <a:endParaRPr lang="en-US" sz="2500" dirty="0"/>
          </a:p>
        </p:txBody>
      </p:sp>
      <p:sp>
        <p:nvSpPr>
          <p:cNvPr id="4" name="Text 2"/>
          <p:cNvSpPr/>
          <p:nvPr/>
        </p:nvSpPr>
        <p:spPr>
          <a:xfrm>
            <a:off x="548640" y="1691640"/>
            <a:ext cx="3291840" cy="685800"/>
          </a:xfrm>
          <a:prstGeom prst="rect">
            <a:avLst/>
          </a:prstGeom>
          <a:noFill/>
          <a:ln/>
        </p:spPr>
        <p:txBody>
          <a:bodyPr wrap="square" lIns="0" tIns="0" rIns="0" bIns="0" rtlCol="0" anchor="t"/>
          <a:lstStyle/>
          <a:p>
            <a:pPr marL="0" indent="0" algn="l">
              <a:lnSpc>
                <a:spcPct val="112000"/>
              </a:lnSpc>
              <a:buNone/>
            </a:pPr>
            <a:r>
              <a:rPr lang="en-US" sz="1300" dirty="0">
                <a:solidFill>
                  <a:srgbClr val="555E6B"/>
                </a:solidFill>
                <a:latin typeface="Calibri" pitchFamily="34" charset="0"/>
                <a:ea typeface="Calibri" pitchFamily="34" charset="-122"/>
                <a:cs typeface="Calibri" pitchFamily="34" charset="-120"/>
              </a:rPr>
              <a:t>Easy visibility into all the important stuff.</a:t>
            </a:r>
            <a:endParaRPr lang="en-US" sz="1300" dirty="0"/>
          </a:p>
        </p:txBody>
      </p:sp>
      <p:sp>
        <p:nvSpPr>
          <p:cNvPr id="5" name="Text 3"/>
          <p:cNvSpPr/>
          <p:nvPr/>
        </p:nvSpPr>
        <p:spPr>
          <a:xfrm>
            <a:off x="548640" y="2468880"/>
            <a:ext cx="3291840"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Ambulances and jump bags checked – pass and fail</a:t>
            </a:r>
          </a:p>
          <a:p>
            <a:pPr marL="635000" lvl="1" indent="-177800">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Weekly and monthly views</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Damaged and low items</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Vehicle concerns surfaced first.</a:t>
            </a:r>
            <a:endParaRPr lang="en-US" sz="1250" dirty="0"/>
          </a:p>
        </p:txBody>
      </p:sp>
      <p:sp>
        <p:nvSpPr>
          <p:cNvPr id="15" name="Shape 13"/>
          <p:cNvSpPr/>
          <p:nvPr/>
        </p:nvSpPr>
        <p:spPr>
          <a:xfrm>
            <a:off x="548640" y="4855464"/>
            <a:ext cx="73152" cy="73152"/>
          </a:xfrm>
          <a:prstGeom prst="ellipse">
            <a:avLst/>
          </a:prstGeom>
          <a:solidFill>
            <a:srgbClr val="D81E2C"/>
          </a:solidFill>
          <a:ln/>
        </p:spPr>
        <p:txBody>
          <a:bodyPr/>
          <a:lstStyle/>
          <a:p>
            <a:endParaRPr lang="en-US"/>
          </a:p>
        </p:txBody>
      </p:sp>
      <p:sp>
        <p:nvSpPr>
          <p:cNvPr id="16" name="Text 14"/>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7" name="Text 15"/>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09</a:t>
            </a:r>
            <a:endParaRPr lang="en-US" sz="950" dirty="0"/>
          </a:p>
        </p:txBody>
      </p:sp>
      <p:pic>
        <p:nvPicPr>
          <p:cNvPr id="19" name="Picture 18">
            <a:extLst>
              <a:ext uri="{FF2B5EF4-FFF2-40B4-BE49-F238E27FC236}">
                <a16:creationId xmlns:a16="http://schemas.microsoft.com/office/drawing/2014/main" id="{638C6698-AE48-5C5C-58C6-FD1DB579CD8F}"/>
              </a:ext>
            </a:extLst>
          </p:cNvPr>
          <p:cNvPicPr>
            <a:picLocks noChangeAspect="1"/>
          </p:cNvPicPr>
          <p:nvPr/>
        </p:nvPicPr>
        <p:blipFill>
          <a:blip r:embed="rId3"/>
          <a:stretch>
            <a:fillRect/>
          </a:stretch>
        </p:blipFill>
        <p:spPr>
          <a:xfrm>
            <a:off x="4285744" y="596348"/>
            <a:ext cx="2097159" cy="4070372"/>
          </a:xfrm>
          <a:prstGeom prst="rect">
            <a:avLst/>
          </a:prstGeom>
          <a:ln>
            <a:noFill/>
          </a:ln>
          <a:effectLst>
            <a:outerShdw blurRad="292100" dist="139700" dir="2700000" algn="tl" rotWithShape="0">
              <a:srgbClr val="333333">
                <a:alpha val="65000"/>
              </a:srgbClr>
            </a:outerShdw>
          </a:effectLst>
        </p:spPr>
      </p:pic>
      <p:pic>
        <p:nvPicPr>
          <p:cNvPr id="21" name="Picture 20">
            <a:extLst>
              <a:ext uri="{FF2B5EF4-FFF2-40B4-BE49-F238E27FC236}">
                <a16:creationId xmlns:a16="http://schemas.microsoft.com/office/drawing/2014/main" id="{62E01AE7-80FF-92F5-C969-030979A6D232}"/>
              </a:ext>
            </a:extLst>
          </p:cNvPr>
          <p:cNvPicPr>
            <a:picLocks noChangeAspect="1"/>
          </p:cNvPicPr>
          <p:nvPr/>
        </p:nvPicPr>
        <p:blipFill>
          <a:blip r:embed="rId4"/>
          <a:stretch>
            <a:fillRect/>
          </a:stretch>
        </p:blipFill>
        <p:spPr>
          <a:xfrm>
            <a:off x="6678408" y="596348"/>
            <a:ext cx="2102433" cy="4085580"/>
          </a:xfrm>
          <a:prstGeom prst="rect">
            <a:avLst/>
          </a:prstGeom>
          <a:ln>
            <a:noFill/>
          </a:ln>
          <a:effectLst>
            <a:outerShdw blurRad="292100" dist="139700" dir="2700000" algn="tl" rotWithShape="0">
              <a:srgbClr val="333333">
                <a:alpha val="65000"/>
              </a:srgbClr>
            </a:outerShdw>
          </a:effectLst>
        </p:spPr>
      </p:pic>
      <p:sp>
        <p:nvSpPr>
          <p:cNvPr id="22" name="Rectangle: Rounded Corners 21">
            <a:extLst>
              <a:ext uri="{FF2B5EF4-FFF2-40B4-BE49-F238E27FC236}">
                <a16:creationId xmlns:a16="http://schemas.microsoft.com/office/drawing/2014/main" id="{5BC6955C-A463-1704-9525-EDDCCBA18D17}"/>
              </a:ext>
            </a:extLst>
          </p:cNvPr>
          <p:cNvSpPr/>
          <p:nvPr/>
        </p:nvSpPr>
        <p:spPr>
          <a:xfrm>
            <a:off x="5521512" y="38534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a:t>
            </a:r>
          </a:p>
        </p:txBody>
      </p:sp>
      <p:sp>
        <p:nvSpPr>
          <p:cNvPr id="23" name="Rectangle: Rounded Corners 22">
            <a:extLst>
              <a:ext uri="{FF2B5EF4-FFF2-40B4-BE49-F238E27FC236}">
                <a16:creationId xmlns:a16="http://schemas.microsoft.com/office/drawing/2014/main" id="{92F43D52-1D44-D5A7-A0E9-385ACA46D5C9}"/>
              </a:ext>
            </a:extLst>
          </p:cNvPr>
          <p:cNvSpPr/>
          <p:nvPr/>
        </p:nvSpPr>
        <p:spPr>
          <a:xfrm>
            <a:off x="7919450" y="38534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Supervisor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6D336C7C-924D-C8E5-5132-03697ED1BB7B}"/>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481F5975-7017-2B89-AA15-6DB422F9693D}"/>
              </a:ext>
            </a:extLst>
          </p:cNvPr>
          <p:cNvSpPr txBox="1"/>
          <p:nvPr/>
        </p:nvSpPr>
        <p:spPr>
          <a:xfrm rot="16200000">
            <a:off x="4377237" y="2603705"/>
            <a:ext cx="3760073" cy="369332"/>
          </a:xfrm>
          <a:prstGeom prst="rect">
            <a:avLst/>
          </a:prstGeom>
          <a:solidFill>
            <a:schemeClr val="bg1">
              <a:lumMod val="85000"/>
            </a:schemeClr>
          </a:solidFill>
        </p:spPr>
        <p:txBody>
          <a:bodyPr wrap="square" rtlCol="0">
            <a:spAutoFit/>
          </a:bodyPr>
          <a:lstStyle/>
          <a:p>
            <a:r>
              <a:rPr lang="en-US" dirty="0"/>
              <a:t>Monthly View</a:t>
            </a:r>
          </a:p>
        </p:txBody>
      </p:sp>
      <p:sp>
        <p:nvSpPr>
          <p:cNvPr id="18" name="TextBox 17">
            <a:extLst>
              <a:ext uri="{FF2B5EF4-FFF2-40B4-BE49-F238E27FC236}">
                <a16:creationId xmlns:a16="http://schemas.microsoft.com/office/drawing/2014/main" id="{72D9D829-2AF5-D7F2-3E4D-ED7CAEB7A813}"/>
              </a:ext>
            </a:extLst>
          </p:cNvPr>
          <p:cNvSpPr txBox="1"/>
          <p:nvPr/>
        </p:nvSpPr>
        <p:spPr>
          <a:xfrm rot="16200000">
            <a:off x="1572714" y="2592257"/>
            <a:ext cx="3760072" cy="369332"/>
          </a:xfrm>
          <a:prstGeom prst="rect">
            <a:avLst/>
          </a:prstGeom>
          <a:solidFill>
            <a:schemeClr val="bg1">
              <a:lumMod val="85000"/>
            </a:schemeClr>
          </a:solidFill>
        </p:spPr>
        <p:txBody>
          <a:bodyPr wrap="square" rtlCol="0">
            <a:spAutoFit/>
          </a:bodyPr>
          <a:lstStyle/>
          <a:p>
            <a:r>
              <a:rPr lang="en-US" dirty="0"/>
              <a:t>Notification of daily checks</a:t>
            </a:r>
          </a:p>
        </p:txBody>
      </p:sp>
      <p:sp>
        <p:nvSpPr>
          <p:cNvPr id="14" name="TextBox 13">
            <a:extLst>
              <a:ext uri="{FF2B5EF4-FFF2-40B4-BE49-F238E27FC236}">
                <a16:creationId xmlns:a16="http://schemas.microsoft.com/office/drawing/2014/main" id="{2DF1190B-5800-C233-C0E4-3CAEF0513C62}"/>
              </a:ext>
            </a:extLst>
          </p:cNvPr>
          <p:cNvSpPr txBox="1"/>
          <p:nvPr/>
        </p:nvSpPr>
        <p:spPr>
          <a:xfrm rot="16200000">
            <a:off x="-1146730" y="2580805"/>
            <a:ext cx="3760072" cy="369332"/>
          </a:xfrm>
          <a:prstGeom prst="rect">
            <a:avLst/>
          </a:prstGeom>
          <a:solidFill>
            <a:schemeClr val="bg1">
              <a:lumMod val="85000"/>
            </a:schemeClr>
          </a:solidFill>
        </p:spPr>
        <p:txBody>
          <a:bodyPr wrap="square" rtlCol="0">
            <a:spAutoFit/>
          </a:bodyPr>
          <a:lstStyle/>
          <a:p>
            <a:r>
              <a:rPr lang="en-US" dirty="0"/>
              <a:t>Supply alert</a:t>
            </a:r>
          </a:p>
        </p:txBody>
      </p:sp>
      <p:sp>
        <p:nvSpPr>
          <p:cNvPr id="3" name="Text 1">
            <a:extLst>
              <a:ext uri="{FF2B5EF4-FFF2-40B4-BE49-F238E27FC236}">
                <a16:creationId xmlns:a16="http://schemas.microsoft.com/office/drawing/2014/main" id="{0087F969-889B-8E28-479F-A42322A76E3C}"/>
              </a:ext>
            </a:extLst>
          </p:cNvPr>
          <p:cNvSpPr/>
          <p:nvPr/>
        </p:nvSpPr>
        <p:spPr>
          <a:xfrm>
            <a:off x="3582852" y="211753"/>
            <a:ext cx="5421198" cy="46276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Supervisor’s Compliance Dashboard</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8361BCA4-A154-99E7-9EDA-4C41A1E9E498}"/>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F24E6778-0CB9-2982-2854-2BE7E9FEC6D9}"/>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BE86FD78-86EB-FF8C-B90C-E7807287FFC3}"/>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09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Rectangle: Rounded Corners 21">
            <a:extLst>
              <a:ext uri="{FF2B5EF4-FFF2-40B4-BE49-F238E27FC236}">
                <a16:creationId xmlns:a16="http://schemas.microsoft.com/office/drawing/2014/main" id="{5D4031ED-9380-4882-65AE-04D6936BFE41}"/>
              </a:ext>
            </a:extLst>
          </p:cNvPr>
          <p:cNvSpPr/>
          <p:nvPr/>
        </p:nvSpPr>
        <p:spPr>
          <a:xfrm>
            <a:off x="1949479" y="674521"/>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pic>
        <p:nvPicPr>
          <p:cNvPr id="7" name="Picture 6">
            <a:extLst>
              <a:ext uri="{FF2B5EF4-FFF2-40B4-BE49-F238E27FC236}">
                <a16:creationId xmlns:a16="http://schemas.microsoft.com/office/drawing/2014/main" id="{A0F664BA-7BCF-00FB-0FFE-91E968856C19}"/>
              </a:ext>
            </a:extLst>
          </p:cNvPr>
          <p:cNvPicPr>
            <a:picLocks noChangeAspect="1"/>
          </p:cNvPicPr>
          <p:nvPr/>
        </p:nvPicPr>
        <p:blipFill>
          <a:blip r:embed="rId3"/>
          <a:stretch>
            <a:fillRect/>
          </a:stretch>
        </p:blipFill>
        <p:spPr>
          <a:xfrm>
            <a:off x="870051" y="896887"/>
            <a:ext cx="1940819" cy="3771521"/>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B9EA84E6-B0B7-02D7-F462-FEF41E19A084}"/>
              </a:ext>
            </a:extLst>
          </p:cNvPr>
          <p:cNvPicPr>
            <a:picLocks noChangeAspect="1"/>
          </p:cNvPicPr>
          <p:nvPr/>
        </p:nvPicPr>
        <p:blipFill>
          <a:blip r:embed="rId4"/>
          <a:stretch>
            <a:fillRect/>
          </a:stretch>
        </p:blipFill>
        <p:spPr>
          <a:xfrm>
            <a:off x="3582852" y="896887"/>
            <a:ext cx="1945553" cy="3771521"/>
          </a:xfrm>
          <a:prstGeom prst="rect">
            <a:avLst/>
          </a:prstGeom>
          <a:ln>
            <a:noFill/>
          </a:ln>
          <a:effectLst>
            <a:outerShdw blurRad="292100" dist="139700" dir="2700000" algn="tl" rotWithShape="0">
              <a:srgbClr val="333333">
                <a:alpha val="65000"/>
              </a:srgbClr>
            </a:outerShdw>
          </a:effectLst>
        </p:spPr>
      </p:pic>
      <p:sp>
        <p:nvSpPr>
          <p:cNvPr id="10" name="Rectangle: Rounded Corners 9">
            <a:extLst>
              <a:ext uri="{FF2B5EF4-FFF2-40B4-BE49-F238E27FC236}">
                <a16:creationId xmlns:a16="http://schemas.microsoft.com/office/drawing/2014/main" id="{4F9664AC-D99E-6E58-41A4-ED912A90587A}"/>
              </a:ext>
            </a:extLst>
          </p:cNvPr>
          <p:cNvSpPr/>
          <p:nvPr/>
        </p:nvSpPr>
        <p:spPr>
          <a:xfrm>
            <a:off x="4667014" y="674519"/>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pic>
        <p:nvPicPr>
          <p:cNvPr id="12" name="Picture 11">
            <a:extLst>
              <a:ext uri="{FF2B5EF4-FFF2-40B4-BE49-F238E27FC236}">
                <a16:creationId xmlns:a16="http://schemas.microsoft.com/office/drawing/2014/main" id="{25E3CB45-213E-E437-6435-2B9C84230C13}"/>
              </a:ext>
            </a:extLst>
          </p:cNvPr>
          <p:cNvPicPr>
            <a:picLocks noChangeAspect="1"/>
          </p:cNvPicPr>
          <p:nvPr/>
        </p:nvPicPr>
        <p:blipFill>
          <a:blip r:embed="rId5"/>
          <a:stretch>
            <a:fillRect/>
          </a:stretch>
        </p:blipFill>
        <p:spPr>
          <a:xfrm>
            <a:off x="6416495" y="885435"/>
            <a:ext cx="1936108" cy="3771522"/>
          </a:xfrm>
          <a:prstGeom prst="rect">
            <a:avLst/>
          </a:prstGeom>
          <a:ln>
            <a:noFill/>
          </a:ln>
          <a:effectLst>
            <a:outerShdw blurRad="292100" dist="139700" dir="2700000" algn="tl" rotWithShape="0">
              <a:srgbClr val="333333">
                <a:alpha val="65000"/>
              </a:srgbClr>
            </a:outerShdw>
          </a:effectLst>
        </p:spPr>
      </p:pic>
      <p:sp>
        <p:nvSpPr>
          <p:cNvPr id="13" name="Rectangle: Rounded Corners 12">
            <a:extLst>
              <a:ext uri="{FF2B5EF4-FFF2-40B4-BE49-F238E27FC236}">
                <a16:creationId xmlns:a16="http://schemas.microsoft.com/office/drawing/2014/main" id="{56A7ACDC-63A0-720E-FF70-14C83378E753}"/>
              </a:ext>
            </a:extLst>
          </p:cNvPr>
          <p:cNvSpPr/>
          <p:nvPr/>
        </p:nvSpPr>
        <p:spPr>
          <a:xfrm>
            <a:off x="7491212" y="674519"/>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Tree>
    <p:extLst>
      <p:ext uri="{BB962C8B-B14F-4D97-AF65-F5344CB8AC3E}">
        <p14:creationId xmlns:p14="http://schemas.microsoft.com/office/powerpoint/2010/main" val="16275956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303520" y="457200"/>
            <a:ext cx="356616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FEATURE 06</a:t>
            </a:r>
            <a:endParaRPr lang="en-US" sz="1100" dirty="0"/>
          </a:p>
        </p:txBody>
      </p:sp>
      <p:sp>
        <p:nvSpPr>
          <p:cNvPr id="3" name="Text 1"/>
          <p:cNvSpPr/>
          <p:nvPr/>
        </p:nvSpPr>
        <p:spPr>
          <a:xfrm>
            <a:off x="5303520" y="749808"/>
            <a:ext cx="3291840"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Station Administration</a:t>
            </a:r>
            <a:endParaRPr lang="en-US" sz="2500" dirty="0"/>
          </a:p>
        </p:txBody>
      </p:sp>
      <p:sp>
        <p:nvSpPr>
          <p:cNvPr id="4" name="Text 2"/>
          <p:cNvSpPr/>
          <p:nvPr/>
        </p:nvSpPr>
        <p:spPr>
          <a:xfrm>
            <a:off x="5303520" y="1691640"/>
            <a:ext cx="3291840" cy="685800"/>
          </a:xfrm>
          <a:prstGeom prst="rect">
            <a:avLst/>
          </a:prstGeom>
          <a:noFill/>
          <a:ln/>
        </p:spPr>
        <p:txBody>
          <a:bodyPr wrap="square" lIns="0" tIns="0" rIns="0" bIns="0" rtlCol="0" anchor="t"/>
          <a:lstStyle/>
          <a:p>
            <a:pPr marL="0" indent="0" algn="l">
              <a:lnSpc>
                <a:spcPct val="112000"/>
              </a:lnSpc>
              <a:buNone/>
            </a:pPr>
            <a:r>
              <a:rPr lang="en-US" sz="1300" dirty="0">
                <a:solidFill>
                  <a:srgbClr val="555E6B"/>
                </a:solidFill>
                <a:latin typeface="Calibri" pitchFamily="34" charset="0"/>
                <a:ea typeface="Calibri" pitchFamily="34" charset="-122"/>
                <a:cs typeface="Calibri" pitchFamily="34" charset="-120"/>
              </a:rPr>
              <a:t>Supervisors can add members, items, vehicles, jump bags and station supplies in one location.</a:t>
            </a:r>
            <a:endParaRPr lang="en-US" sz="1300" dirty="0"/>
          </a:p>
        </p:txBody>
      </p:sp>
      <p:sp>
        <p:nvSpPr>
          <p:cNvPr id="5" name="Text 3"/>
          <p:cNvSpPr/>
          <p:nvPr/>
        </p:nvSpPr>
        <p:spPr>
          <a:xfrm>
            <a:off x="5303520" y="2468880"/>
            <a:ext cx="3291840"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Central dashboard for setting up a station</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Unique members, items, vehicles and jump bags per station</a:t>
            </a:r>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Items Catalog shows where items are stored in the station, vehicles and jump bags.</a:t>
            </a:r>
            <a:endParaRPr lang="en-US" sz="1250" dirty="0"/>
          </a:p>
        </p:txBody>
      </p:sp>
      <p:sp>
        <p:nvSpPr>
          <p:cNvPr id="15" name="Shape 13"/>
          <p:cNvSpPr/>
          <p:nvPr/>
        </p:nvSpPr>
        <p:spPr>
          <a:xfrm>
            <a:off x="548640" y="4855464"/>
            <a:ext cx="73152" cy="73152"/>
          </a:xfrm>
          <a:prstGeom prst="ellipse">
            <a:avLst/>
          </a:prstGeom>
          <a:solidFill>
            <a:srgbClr val="D81E2C"/>
          </a:solidFill>
          <a:ln/>
        </p:spPr>
        <p:txBody>
          <a:bodyPr/>
          <a:lstStyle/>
          <a:p>
            <a:endParaRPr lang="en-US"/>
          </a:p>
        </p:txBody>
      </p:sp>
      <p:sp>
        <p:nvSpPr>
          <p:cNvPr id="16" name="Text 14"/>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17" name="Text 15"/>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10</a:t>
            </a:r>
            <a:endParaRPr lang="en-US" sz="950" dirty="0"/>
          </a:p>
        </p:txBody>
      </p:sp>
      <p:pic>
        <p:nvPicPr>
          <p:cNvPr id="19" name="Picture 18">
            <a:extLst>
              <a:ext uri="{FF2B5EF4-FFF2-40B4-BE49-F238E27FC236}">
                <a16:creationId xmlns:a16="http://schemas.microsoft.com/office/drawing/2014/main" id="{29BB6662-F001-DBE7-D193-0465850C11C4}"/>
              </a:ext>
            </a:extLst>
          </p:cNvPr>
          <p:cNvPicPr>
            <a:picLocks noChangeAspect="1"/>
          </p:cNvPicPr>
          <p:nvPr/>
        </p:nvPicPr>
        <p:blipFill>
          <a:blip r:embed="rId3"/>
          <a:stretch>
            <a:fillRect/>
          </a:stretch>
        </p:blipFill>
        <p:spPr>
          <a:xfrm>
            <a:off x="383978" y="749807"/>
            <a:ext cx="1984796" cy="3856979"/>
          </a:xfrm>
          <a:prstGeom prst="rect">
            <a:avLst/>
          </a:prstGeom>
          <a:ln>
            <a:noFill/>
          </a:ln>
          <a:effectLst>
            <a:outerShdw blurRad="292100" dist="139700" dir="2700000" algn="tl" rotWithShape="0">
              <a:srgbClr val="333333">
                <a:alpha val="65000"/>
              </a:srgbClr>
            </a:outerShdw>
          </a:effectLst>
        </p:spPr>
      </p:pic>
      <p:sp>
        <p:nvSpPr>
          <p:cNvPr id="20" name="Rectangle: Rounded Corners 19">
            <a:extLst>
              <a:ext uri="{FF2B5EF4-FFF2-40B4-BE49-F238E27FC236}">
                <a16:creationId xmlns:a16="http://schemas.microsoft.com/office/drawing/2014/main" id="{7F1257DC-FB17-4111-2196-9264647BE636}"/>
              </a:ext>
            </a:extLst>
          </p:cNvPr>
          <p:cNvSpPr/>
          <p:nvPr/>
        </p:nvSpPr>
        <p:spPr>
          <a:xfrm>
            <a:off x="1507383" y="52279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pic>
        <p:nvPicPr>
          <p:cNvPr id="22" name="Picture 21">
            <a:extLst>
              <a:ext uri="{FF2B5EF4-FFF2-40B4-BE49-F238E27FC236}">
                <a16:creationId xmlns:a16="http://schemas.microsoft.com/office/drawing/2014/main" id="{AE927E75-4E61-EA19-521D-2344C5AA9FBE}"/>
              </a:ext>
            </a:extLst>
          </p:cNvPr>
          <p:cNvPicPr>
            <a:picLocks noChangeAspect="1"/>
          </p:cNvPicPr>
          <p:nvPr/>
        </p:nvPicPr>
        <p:blipFill>
          <a:blip r:embed="rId4"/>
          <a:stretch>
            <a:fillRect/>
          </a:stretch>
        </p:blipFill>
        <p:spPr>
          <a:xfrm>
            <a:off x="2845737" y="749807"/>
            <a:ext cx="1989488" cy="3856980"/>
          </a:xfrm>
          <a:prstGeom prst="rect">
            <a:avLst/>
          </a:prstGeom>
          <a:ln>
            <a:noFill/>
          </a:ln>
          <a:effectLst>
            <a:outerShdw blurRad="292100" dist="139700" dir="2700000" algn="tl" rotWithShape="0">
              <a:srgbClr val="333333">
                <a:alpha val="65000"/>
              </a:srgbClr>
            </a:outerShdw>
          </a:effectLst>
        </p:spPr>
      </p:pic>
      <p:sp>
        <p:nvSpPr>
          <p:cNvPr id="23" name="Rectangle: Rounded Corners 22">
            <a:extLst>
              <a:ext uri="{FF2B5EF4-FFF2-40B4-BE49-F238E27FC236}">
                <a16:creationId xmlns:a16="http://schemas.microsoft.com/office/drawing/2014/main" id="{9A84300D-B2B4-DA1C-E81E-324D903231D8}"/>
              </a:ext>
            </a:extLst>
          </p:cNvPr>
          <p:cNvSpPr/>
          <p:nvPr/>
        </p:nvSpPr>
        <p:spPr>
          <a:xfrm>
            <a:off x="3987034" y="52279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64CAD798-79DF-E878-87CB-2FD11E3056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357D2B-085F-A3F0-6E04-D291BE599C23}"/>
              </a:ext>
            </a:extLst>
          </p:cNvPr>
          <p:cNvSpPr txBox="1"/>
          <p:nvPr/>
        </p:nvSpPr>
        <p:spPr>
          <a:xfrm rot="16200000">
            <a:off x="3133450" y="3584240"/>
            <a:ext cx="1771490" cy="369332"/>
          </a:xfrm>
          <a:prstGeom prst="rect">
            <a:avLst/>
          </a:prstGeom>
          <a:solidFill>
            <a:schemeClr val="bg1">
              <a:lumMod val="85000"/>
            </a:schemeClr>
          </a:solidFill>
        </p:spPr>
        <p:txBody>
          <a:bodyPr wrap="square" rtlCol="0">
            <a:spAutoFit/>
          </a:bodyPr>
          <a:lstStyle/>
          <a:p>
            <a:r>
              <a:rPr lang="en-US" dirty="0"/>
              <a:t>CSV Add</a:t>
            </a:r>
          </a:p>
        </p:txBody>
      </p:sp>
      <p:sp>
        <p:nvSpPr>
          <p:cNvPr id="15" name="Shape 13">
            <a:extLst>
              <a:ext uri="{FF2B5EF4-FFF2-40B4-BE49-F238E27FC236}">
                <a16:creationId xmlns:a16="http://schemas.microsoft.com/office/drawing/2014/main" id="{F8A32F2D-C68B-6847-5EDB-F0A9B520F25E}"/>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308844E4-AC26-B31F-459E-D50FB508B478}"/>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25788A1D-1511-F1BB-3E4C-377FD35EDA4D}"/>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42C50E1-812C-0508-3666-1262B496C50C}"/>
              </a:ext>
            </a:extLst>
          </p:cNvPr>
          <p:cNvPicPr>
            <a:picLocks noChangeAspect="1"/>
          </p:cNvPicPr>
          <p:nvPr/>
        </p:nvPicPr>
        <p:blipFill>
          <a:blip r:embed="rId3"/>
          <a:stretch>
            <a:fillRect/>
          </a:stretch>
        </p:blipFill>
        <p:spPr>
          <a:xfrm>
            <a:off x="4203860" y="819471"/>
            <a:ext cx="1975839" cy="3835180"/>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0F1C4E8C-8382-F9A2-5148-BF2A41DEAB13}"/>
              </a:ext>
            </a:extLst>
          </p:cNvPr>
          <p:cNvPicPr>
            <a:picLocks noChangeAspect="1"/>
          </p:cNvPicPr>
          <p:nvPr/>
        </p:nvPicPr>
        <p:blipFill>
          <a:blip r:embed="rId4"/>
          <a:stretch>
            <a:fillRect/>
          </a:stretch>
        </p:blipFill>
        <p:spPr>
          <a:xfrm>
            <a:off x="6623551" y="819471"/>
            <a:ext cx="1975839" cy="3839575"/>
          </a:xfrm>
          <a:prstGeom prst="rect">
            <a:avLst/>
          </a:prstGeom>
          <a:ln>
            <a:noFill/>
          </a:ln>
          <a:effectLst>
            <a:outerShdw blurRad="292100" dist="139700" dir="2700000" algn="tl" rotWithShape="0">
              <a:srgbClr val="333333">
                <a:alpha val="65000"/>
              </a:srgbClr>
            </a:outerShdw>
          </a:effectLst>
        </p:spPr>
      </p:pic>
      <p:sp>
        <p:nvSpPr>
          <p:cNvPr id="10" name="Rectangle: Rounded Corners 9">
            <a:extLst>
              <a:ext uri="{FF2B5EF4-FFF2-40B4-BE49-F238E27FC236}">
                <a16:creationId xmlns:a16="http://schemas.microsoft.com/office/drawing/2014/main" id="{812064AE-10CC-CF62-B4FB-404A38D5E1D3}"/>
              </a:ext>
            </a:extLst>
          </p:cNvPr>
          <p:cNvSpPr/>
          <p:nvPr/>
        </p:nvSpPr>
        <p:spPr>
          <a:xfrm>
            <a:off x="5299225" y="590007"/>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11" name="Rectangle: Rounded Corners 10">
            <a:extLst>
              <a:ext uri="{FF2B5EF4-FFF2-40B4-BE49-F238E27FC236}">
                <a16:creationId xmlns:a16="http://schemas.microsoft.com/office/drawing/2014/main" id="{7CA731D6-23DF-D845-974D-DA605E081C16}"/>
              </a:ext>
            </a:extLst>
          </p:cNvPr>
          <p:cNvSpPr/>
          <p:nvPr/>
        </p:nvSpPr>
        <p:spPr>
          <a:xfrm>
            <a:off x="7737999" y="61260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4" name="TextBox 3">
            <a:extLst>
              <a:ext uri="{FF2B5EF4-FFF2-40B4-BE49-F238E27FC236}">
                <a16:creationId xmlns:a16="http://schemas.microsoft.com/office/drawing/2014/main" id="{D91680A7-E187-E23D-C1D1-76151C66F857}"/>
              </a:ext>
            </a:extLst>
          </p:cNvPr>
          <p:cNvSpPr txBox="1"/>
          <p:nvPr/>
        </p:nvSpPr>
        <p:spPr>
          <a:xfrm rot="16200000">
            <a:off x="3133449" y="1730808"/>
            <a:ext cx="1771490" cy="369332"/>
          </a:xfrm>
          <a:prstGeom prst="rect">
            <a:avLst/>
          </a:prstGeom>
          <a:solidFill>
            <a:schemeClr val="bg1">
              <a:lumMod val="85000"/>
            </a:schemeClr>
          </a:solidFill>
        </p:spPr>
        <p:txBody>
          <a:bodyPr wrap="square" rtlCol="0">
            <a:spAutoFit/>
          </a:bodyPr>
          <a:lstStyle/>
          <a:p>
            <a:r>
              <a:rPr lang="en-US" dirty="0"/>
              <a:t>Individual Add</a:t>
            </a:r>
          </a:p>
        </p:txBody>
      </p:sp>
      <p:sp>
        <p:nvSpPr>
          <p:cNvPr id="5" name="Text 1">
            <a:extLst>
              <a:ext uri="{FF2B5EF4-FFF2-40B4-BE49-F238E27FC236}">
                <a16:creationId xmlns:a16="http://schemas.microsoft.com/office/drawing/2014/main" id="{24B7AE2B-FA6A-09B5-DCC0-A2DB908B30BF}"/>
              </a:ext>
            </a:extLst>
          </p:cNvPr>
          <p:cNvSpPr/>
          <p:nvPr/>
        </p:nvSpPr>
        <p:spPr>
          <a:xfrm>
            <a:off x="302311" y="749808"/>
            <a:ext cx="3291840" cy="868680"/>
          </a:xfrm>
          <a:prstGeom prst="rect">
            <a:avLst/>
          </a:prstGeom>
          <a:noFill/>
          <a:ln/>
        </p:spPr>
        <p:txBody>
          <a:bodyPr wrap="square" lIns="0" tIns="0" rIns="0" bIns="0" rtlCol="0" anchor="t"/>
          <a:lstStyle/>
          <a:p>
            <a:pPr marL="0" indent="0" algn="l">
              <a:lnSpc>
                <a:spcPct val="100000"/>
              </a:lnSpc>
              <a:buNone/>
            </a:pPr>
            <a:r>
              <a:rPr lang="en-US" sz="2500" b="1" dirty="0">
                <a:solidFill>
                  <a:srgbClr val="23262B"/>
                </a:solidFill>
                <a:latin typeface="Trebuchet MS" pitchFamily="34" charset="0"/>
                <a:ea typeface="Trebuchet MS" pitchFamily="34" charset="-122"/>
                <a:cs typeface="Trebuchet MS" pitchFamily="34" charset="-120"/>
              </a:rPr>
              <a:t>Members</a:t>
            </a:r>
            <a:endParaRPr lang="en-US" sz="2500" dirty="0"/>
          </a:p>
        </p:txBody>
      </p:sp>
      <p:sp>
        <p:nvSpPr>
          <p:cNvPr id="6" name="Text 2">
            <a:extLst>
              <a:ext uri="{FF2B5EF4-FFF2-40B4-BE49-F238E27FC236}">
                <a16:creationId xmlns:a16="http://schemas.microsoft.com/office/drawing/2014/main" id="{84BABF80-244E-9F91-3113-0642F72DAF81}"/>
              </a:ext>
            </a:extLst>
          </p:cNvPr>
          <p:cNvSpPr/>
          <p:nvPr/>
        </p:nvSpPr>
        <p:spPr>
          <a:xfrm>
            <a:off x="302311" y="1691640"/>
            <a:ext cx="3291840" cy="685800"/>
          </a:xfrm>
          <a:prstGeom prst="rect">
            <a:avLst/>
          </a:prstGeom>
          <a:noFill/>
          <a:ln/>
        </p:spPr>
        <p:txBody>
          <a:bodyPr wrap="square" lIns="0" tIns="0" rIns="0" bIns="0" rtlCol="0" anchor="t"/>
          <a:lstStyle/>
          <a:p>
            <a:pPr marL="0" indent="0" algn="l">
              <a:lnSpc>
                <a:spcPct val="112000"/>
              </a:lnSpc>
              <a:buNone/>
            </a:pPr>
            <a:r>
              <a:rPr lang="en-US" sz="1300" dirty="0">
                <a:solidFill>
                  <a:srgbClr val="555E6B"/>
                </a:solidFill>
                <a:latin typeface="Calibri" pitchFamily="34" charset="0"/>
                <a:ea typeface="Calibri" pitchFamily="34" charset="-122"/>
                <a:cs typeface="Calibri" pitchFamily="34" charset="-120"/>
              </a:rPr>
              <a:t>Members can be added individually or using a CSV template when setting up a station.</a:t>
            </a:r>
            <a:endParaRPr lang="en-US" sz="1300" dirty="0"/>
          </a:p>
        </p:txBody>
      </p:sp>
      <p:sp>
        <p:nvSpPr>
          <p:cNvPr id="8" name="Text 3">
            <a:extLst>
              <a:ext uri="{FF2B5EF4-FFF2-40B4-BE49-F238E27FC236}">
                <a16:creationId xmlns:a16="http://schemas.microsoft.com/office/drawing/2014/main" id="{74E9EA96-FA60-6087-3DB9-20827A3CEE5D}"/>
              </a:ext>
            </a:extLst>
          </p:cNvPr>
          <p:cNvSpPr/>
          <p:nvPr/>
        </p:nvSpPr>
        <p:spPr>
          <a:xfrm>
            <a:off x="302311" y="2468880"/>
            <a:ext cx="3291840" cy="2011680"/>
          </a:xfrm>
          <a:prstGeom prst="rect">
            <a:avLst/>
          </a:prstGeom>
          <a:noFill/>
          <a:ln/>
        </p:spPr>
        <p:txBody>
          <a:bodyPr wrap="square" lIns="0" tIns="0" rIns="0" bIns="0" rtlCol="0" anchor="t"/>
          <a:lstStyle/>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Central dashboard for member management</a:t>
            </a:r>
            <a:endParaRPr lang="en-US" sz="1250" dirty="0"/>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Can assign multiple roles per user</a:t>
            </a:r>
          </a:p>
          <a:p>
            <a:pPr marL="177800" indent="-177800" algn="l">
              <a:spcAft>
                <a:spcPts val="800"/>
              </a:spcAft>
              <a:buSzPct val="100000"/>
              <a:buChar char="–"/>
            </a:pPr>
            <a:r>
              <a:rPr lang="en-US" sz="1250" dirty="0">
                <a:solidFill>
                  <a:srgbClr val="23262B"/>
                </a:solidFill>
                <a:latin typeface="Calibri" pitchFamily="34" charset="0"/>
                <a:ea typeface="Calibri" pitchFamily="34" charset="-122"/>
                <a:cs typeface="Calibri" pitchFamily="34" charset="-120"/>
              </a:rPr>
              <a:t>Emails must be unique per user. </a:t>
            </a:r>
          </a:p>
          <a:p>
            <a:pPr algn="l">
              <a:spcAft>
                <a:spcPts val="800"/>
              </a:spcAft>
              <a:buSzPct val="100000"/>
            </a:pPr>
            <a:endParaRPr lang="en-US" sz="1250" dirty="0"/>
          </a:p>
        </p:txBody>
      </p:sp>
    </p:spTree>
    <p:extLst>
      <p:ext uri="{BB962C8B-B14F-4D97-AF65-F5344CB8AC3E}">
        <p14:creationId xmlns:p14="http://schemas.microsoft.com/office/powerpoint/2010/main" val="2651951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6C1CD8BE-B463-B680-58C4-227CA706341D}"/>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B6A02FD4-A8D8-C3DC-639B-1F2546F2094C}"/>
              </a:ext>
            </a:extLst>
          </p:cNvPr>
          <p:cNvSpPr txBox="1"/>
          <p:nvPr/>
        </p:nvSpPr>
        <p:spPr>
          <a:xfrm rot="16200000">
            <a:off x="4258699" y="2742787"/>
            <a:ext cx="3081572" cy="369332"/>
          </a:xfrm>
          <a:prstGeom prst="rect">
            <a:avLst/>
          </a:prstGeom>
          <a:solidFill>
            <a:schemeClr val="bg1">
              <a:lumMod val="85000"/>
            </a:schemeClr>
          </a:solidFill>
        </p:spPr>
        <p:txBody>
          <a:bodyPr wrap="square" rtlCol="0">
            <a:spAutoFit/>
          </a:bodyPr>
          <a:lstStyle/>
          <a:p>
            <a:r>
              <a:rPr lang="en-US" dirty="0"/>
              <a:t>Location assignment</a:t>
            </a:r>
          </a:p>
        </p:txBody>
      </p:sp>
      <p:sp>
        <p:nvSpPr>
          <p:cNvPr id="14" name="TextBox 13">
            <a:extLst>
              <a:ext uri="{FF2B5EF4-FFF2-40B4-BE49-F238E27FC236}">
                <a16:creationId xmlns:a16="http://schemas.microsoft.com/office/drawing/2014/main" id="{19295E02-1763-C202-4D07-AE44E412FF0B}"/>
              </a:ext>
            </a:extLst>
          </p:cNvPr>
          <p:cNvSpPr txBox="1"/>
          <p:nvPr/>
        </p:nvSpPr>
        <p:spPr>
          <a:xfrm rot="16200000">
            <a:off x="2332708" y="3762848"/>
            <a:ext cx="1184987" cy="369332"/>
          </a:xfrm>
          <a:prstGeom prst="rect">
            <a:avLst/>
          </a:prstGeom>
          <a:solidFill>
            <a:schemeClr val="bg1">
              <a:lumMod val="85000"/>
            </a:schemeClr>
          </a:solidFill>
        </p:spPr>
        <p:txBody>
          <a:bodyPr wrap="square" rtlCol="0">
            <a:spAutoFit/>
          </a:bodyPr>
          <a:lstStyle/>
          <a:p>
            <a:r>
              <a:rPr lang="en-US" dirty="0"/>
              <a:t>Location</a:t>
            </a:r>
          </a:p>
        </p:txBody>
      </p:sp>
      <p:sp>
        <p:nvSpPr>
          <p:cNvPr id="3" name="Text 1">
            <a:extLst>
              <a:ext uri="{FF2B5EF4-FFF2-40B4-BE49-F238E27FC236}">
                <a16:creationId xmlns:a16="http://schemas.microsoft.com/office/drawing/2014/main" id="{DC4F2D73-2E3A-849C-27E8-F9BA59567FAF}"/>
              </a:ext>
            </a:extLst>
          </p:cNvPr>
          <p:cNvSpPr/>
          <p:nvPr/>
        </p:nvSpPr>
        <p:spPr>
          <a:xfrm>
            <a:off x="2723323" y="183874"/>
            <a:ext cx="6152322" cy="413070"/>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Station Administration – Item Catalog</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07A28D8F-7264-FB75-97C6-2B82AE4413A8}"/>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78E01F08-5952-FC83-93BB-6991200F1712}"/>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D6B8FF99-654B-0991-5FBA-1B3F422584DC}"/>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C778FF07-4968-2E53-B182-55124F751109}"/>
              </a:ext>
            </a:extLst>
          </p:cNvPr>
          <p:cNvSpPr/>
          <p:nvPr/>
        </p:nvSpPr>
        <p:spPr>
          <a:xfrm>
            <a:off x="1443127" y="595622"/>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11" name="Rectangle: Rounded Corners 10">
            <a:extLst>
              <a:ext uri="{FF2B5EF4-FFF2-40B4-BE49-F238E27FC236}">
                <a16:creationId xmlns:a16="http://schemas.microsoft.com/office/drawing/2014/main" id="{76C6C178-770D-721B-B9FB-98339D2BF11B}"/>
              </a:ext>
            </a:extLst>
          </p:cNvPr>
          <p:cNvSpPr/>
          <p:nvPr/>
        </p:nvSpPr>
        <p:spPr>
          <a:xfrm>
            <a:off x="4217389" y="600211"/>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pic>
        <p:nvPicPr>
          <p:cNvPr id="4" name="Picture 3">
            <a:extLst>
              <a:ext uri="{FF2B5EF4-FFF2-40B4-BE49-F238E27FC236}">
                <a16:creationId xmlns:a16="http://schemas.microsoft.com/office/drawing/2014/main" id="{78BF5E13-2427-78BA-E7B5-D3B653051E82}"/>
              </a:ext>
            </a:extLst>
          </p:cNvPr>
          <p:cNvPicPr>
            <a:picLocks noChangeAspect="1"/>
          </p:cNvPicPr>
          <p:nvPr/>
        </p:nvPicPr>
        <p:blipFill>
          <a:blip r:embed="rId3"/>
          <a:stretch>
            <a:fillRect/>
          </a:stretch>
        </p:blipFill>
        <p:spPr>
          <a:xfrm>
            <a:off x="354268" y="819472"/>
            <a:ext cx="1950250" cy="3835180"/>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9BBD90FB-0966-B03E-0EC6-9073A90246B4}"/>
              </a:ext>
            </a:extLst>
          </p:cNvPr>
          <p:cNvPicPr>
            <a:picLocks noChangeAspect="1"/>
          </p:cNvPicPr>
          <p:nvPr/>
        </p:nvPicPr>
        <p:blipFill>
          <a:blip r:embed="rId4"/>
          <a:stretch>
            <a:fillRect/>
          </a:stretch>
        </p:blipFill>
        <p:spPr>
          <a:xfrm>
            <a:off x="3109868" y="819472"/>
            <a:ext cx="1968912" cy="3835180"/>
          </a:xfrm>
          <a:prstGeom prst="rect">
            <a:avLst/>
          </a:prstGeom>
          <a:ln>
            <a:noFill/>
          </a:ln>
          <a:effectLst>
            <a:outerShdw blurRad="292100" dist="139700" dir="2700000" algn="tl" rotWithShape="0">
              <a:srgbClr val="333333">
                <a:alpha val="65000"/>
              </a:srgbClr>
            </a:outerShdw>
          </a:effectLst>
        </p:spPr>
      </p:pic>
      <p:grpSp>
        <p:nvGrpSpPr>
          <p:cNvPr id="6" name="Group 5">
            <a:extLst>
              <a:ext uri="{FF2B5EF4-FFF2-40B4-BE49-F238E27FC236}">
                <a16:creationId xmlns:a16="http://schemas.microsoft.com/office/drawing/2014/main" id="{E5A75756-A247-3433-02B3-B94FE3E16C73}"/>
              </a:ext>
            </a:extLst>
          </p:cNvPr>
          <p:cNvGrpSpPr/>
          <p:nvPr/>
        </p:nvGrpSpPr>
        <p:grpSpPr>
          <a:xfrm>
            <a:off x="3788728" y="1254211"/>
            <a:ext cx="305596" cy="539287"/>
            <a:chOff x="1205000" y="3935000"/>
            <a:chExt cx="323000" cy="570000"/>
          </a:xfrm>
        </p:grpSpPr>
        <p:sp>
          <p:nvSpPr>
            <p:cNvPr id="7" name="Click Line 1">
              <a:extLst>
                <a:ext uri="{FF2B5EF4-FFF2-40B4-BE49-F238E27FC236}">
                  <a16:creationId xmlns:a16="http://schemas.microsoft.com/office/drawing/2014/main" id="{9F4F9236-0C05-1409-8E56-4B6CE655C15B}"/>
                </a:ext>
              </a:extLst>
            </p:cNvPr>
            <p:cNvSpPr/>
            <p:nvPr/>
          </p:nvSpPr>
          <p:spPr>
            <a:xfrm>
              <a:off x="1300000" y="3935000"/>
              <a:ext cx="1" cy="70000"/>
            </a:xfrm>
            <a:prstGeom prst="line">
              <a:avLst/>
            </a:prstGeom>
            <a:ln w="22000" cap="rnd">
              <a:solidFill>
                <a:schemeClr val="tx1"/>
              </a:solidFill>
            </a:ln>
          </p:spPr>
          <p:txBody>
            <a:bodyPr/>
            <a:lstStyle/>
            <a:p>
              <a:endParaRPr lang="en-US"/>
            </a:p>
          </p:txBody>
        </p:sp>
        <p:sp>
          <p:nvSpPr>
            <p:cNvPr id="8" name="Click Line 2">
              <a:extLst>
                <a:ext uri="{FF2B5EF4-FFF2-40B4-BE49-F238E27FC236}">
                  <a16:creationId xmlns:a16="http://schemas.microsoft.com/office/drawing/2014/main" id="{3B373988-7E6C-FEBB-5E79-F5E0D9E14B92}"/>
                </a:ext>
              </a:extLst>
            </p:cNvPr>
            <p:cNvSpPr/>
            <p:nvPr/>
          </p:nvSpPr>
          <p:spPr>
            <a:xfrm flipH="1">
              <a:off x="1205000" y="3960000"/>
              <a:ext cx="55000" cy="55000"/>
            </a:xfrm>
            <a:prstGeom prst="line">
              <a:avLst/>
            </a:prstGeom>
            <a:ln w="22000" cap="rnd">
              <a:solidFill>
                <a:schemeClr val="tx1"/>
              </a:solidFill>
            </a:ln>
          </p:spPr>
          <p:txBody>
            <a:bodyPr/>
            <a:lstStyle/>
            <a:p>
              <a:endParaRPr lang="en-US"/>
            </a:p>
          </p:txBody>
        </p:sp>
        <p:sp>
          <p:nvSpPr>
            <p:cNvPr id="12" name="Click Line 3">
              <a:extLst>
                <a:ext uri="{FF2B5EF4-FFF2-40B4-BE49-F238E27FC236}">
                  <a16:creationId xmlns:a16="http://schemas.microsoft.com/office/drawing/2014/main" id="{8705E890-53CB-2B2F-1DDF-6D60C21C6563}"/>
                </a:ext>
              </a:extLst>
            </p:cNvPr>
            <p:cNvSpPr/>
            <p:nvPr/>
          </p:nvSpPr>
          <p:spPr>
            <a:xfrm>
              <a:off x="1345000" y="3960000"/>
              <a:ext cx="55000" cy="55000"/>
            </a:xfrm>
            <a:prstGeom prst="line">
              <a:avLst/>
            </a:prstGeom>
            <a:ln w="22000" cap="rnd">
              <a:solidFill>
                <a:schemeClr val="tx1"/>
              </a:solidFill>
            </a:ln>
          </p:spPr>
          <p:txBody>
            <a:bodyPr/>
            <a:lstStyle/>
            <a:p>
              <a:endParaRPr lang="en-US"/>
            </a:p>
          </p:txBody>
        </p:sp>
        <p:sp>
          <p:nvSpPr>
            <p:cNvPr id="13" name="Click Cursor">
              <a:extLst>
                <a:ext uri="{FF2B5EF4-FFF2-40B4-BE49-F238E27FC236}">
                  <a16:creationId xmlns:a16="http://schemas.microsoft.com/office/drawing/2014/main" id="{26678928-F626-503D-8FF9-FB3604D2765C}"/>
                </a:ext>
              </a:extLst>
            </p:cNvPr>
            <p:cNvSpPr/>
            <p:nvPr/>
          </p:nvSpPr>
          <p:spPr>
            <a:xfrm>
              <a:off x="1300000" y="4075000"/>
              <a:ext cx="228000" cy="430000"/>
            </a:xfrm>
            <a:custGeom>
              <a:avLst/>
              <a:gdLst/>
              <a:ahLst/>
              <a:cxnLst/>
              <a:rect l="0" t="0" r="0" b="0"/>
              <a:pathLst>
                <a:path w="980" h="1850">
                  <a:moveTo>
                    <a:pt x="0" y="0"/>
                  </a:moveTo>
                  <a:lnTo>
                    <a:pt x="0" y="1600"/>
                  </a:lnTo>
                  <a:lnTo>
                    <a:pt x="370" y="1230"/>
                  </a:lnTo>
                  <a:lnTo>
                    <a:pt x="590" y="1850"/>
                  </a:lnTo>
                  <a:lnTo>
                    <a:pt x="790" y="1770"/>
                  </a:lnTo>
                  <a:lnTo>
                    <a:pt x="570" y="1150"/>
                  </a:lnTo>
                  <a:lnTo>
                    <a:pt x="980" y="1150"/>
                  </a:lnTo>
                  <a:close/>
                </a:path>
              </a:pathLst>
            </a:custGeom>
            <a:solidFill>
              <a:srgbClr val="23262B"/>
            </a:solidFill>
            <a:ln w="19050">
              <a:solidFill>
                <a:schemeClr val="bg1"/>
              </a:solidFill>
            </a:ln>
          </p:spPr>
          <p:txBody>
            <a:bodyPr/>
            <a:lstStyle/>
            <a:p>
              <a:endParaRPr lang="en-US"/>
            </a:p>
          </p:txBody>
        </p:sp>
      </p:grpSp>
      <p:sp>
        <p:nvSpPr>
          <p:cNvPr id="18" name="TextBox 17">
            <a:extLst>
              <a:ext uri="{FF2B5EF4-FFF2-40B4-BE49-F238E27FC236}">
                <a16:creationId xmlns:a16="http://schemas.microsoft.com/office/drawing/2014/main" id="{F2465337-3FB3-37EB-DAAC-45B478610AA9}"/>
              </a:ext>
            </a:extLst>
          </p:cNvPr>
          <p:cNvSpPr txBox="1"/>
          <p:nvPr/>
        </p:nvSpPr>
        <p:spPr>
          <a:xfrm rot="16200000">
            <a:off x="2564234" y="2754831"/>
            <a:ext cx="687510" cy="369332"/>
          </a:xfrm>
          <a:prstGeom prst="rect">
            <a:avLst/>
          </a:prstGeom>
          <a:solidFill>
            <a:schemeClr val="bg1">
              <a:lumMod val="85000"/>
            </a:schemeClr>
          </a:solidFill>
        </p:spPr>
        <p:txBody>
          <a:bodyPr wrap="square" rtlCol="0">
            <a:spAutoFit/>
          </a:bodyPr>
          <a:lstStyle/>
          <a:p>
            <a:r>
              <a:rPr lang="en-US" dirty="0"/>
              <a:t>Item</a:t>
            </a:r>
          </a:p>
        </p:txBody>
      </p:sp>
      <p:sp>
        <p:nvSpPr>
          <p:cNvPr id="19" name="TextBox 18">
            <a:extLst>
              <a:ext uri="{FF2B5EF4-FFF2-40B4-BE49-F238E27FC236}">
                <a16:creationId xmlns:a16="http://schemas.microsoft.com/office/drawing/2014/main" id="{5D413143-8670-5950-99D0-A5D83DE7A34B}"/>
              </a:ext>
            </a:extLst>
          </p:cNvPr>
          <p:cNvSpPr txBox="1"/>
          <p:nvPr/>
        </p:nvSpPr>
        <p:spPr>
          <a:xfrm rot="16200000">
            <a:off x="2237095" y="1629893"/>
            <a:ext cx="1341788" cy="369332"/>
          </a:xfrm>
          <a:prstGeom prst="rect">
            <a:avLst/>
          </a:prstGeom>
          <a:solidFill>
            <a:schemeClr val="bg1">
              <a:lumMod val="85000"/>
            </a:schemeClr>
          </a:solidFill>
        </p:spPr>
        <p:txBody>
          <a:bodyPr wrap="square" rtlCol="0">
            <a:spAutoFit/>
          </a:bodyPr>
          <a:lstStyle/>
          <a:p>
            <a:r>
              <a:rPr lang="en-US" dirty="0"/>
              <a:t>Filter</a:t>
            </a:r>
          </a:p>
        </p:txBody>
      </p:sp>
      <p:pic>
        <p:nvPicPr>
          <p:cNvPr id="21" name="Picture 20">
            <a:extLst>
              <a:ext uri="{FF2B5EF4-FFF2-40B4-BE49-F238E27FC236}">
                <a16:creationId xmlns:a16="http://schemas.microsoft.com/office/drawing/2014/main" id="{F0F4AC81-1BE8-CC41-B3A2-2BFD6B571272}"/>
              </a:ext>
            </a:extLst>
          </p:cNvPr>
          <p:cNvPicPr>
            <a:picLocks noChangeAspect="1"/>
          </p:cNvPicPr>
          <p:nvPr/>
        </p:nvPicPr>
        <p:blipFill>
          <a:blip r:embed="rId5"/>
          <a:stretch>
            <a:fillRect/>
          </a:stretch>
        </p:blipFill>
        <p:spPr>
          <a:xfrm>
            <a:off x="5958775" y="819472"/>
            <a:ext cx="1973943" cy="38541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830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16F005E5-8E95-9C5C-B34B-E4EDC2F0D1AE}"/>
            </a:ext>
          </a:extLst>
        </p:cNvPr>
        <p:cNvGrpSpPr/>
        <p:nvPr/>
      </p:nvGrpSpPr>
      <p:grpSpPr>
        <a:xfrm>
          <a:off x="0" y="0"/>
          <a:ext cx="0" cy="0"/>
          <a:chOff x="0" y="0"/>
          <a:chExt cx="0" cy="0"/>
        </a:xfrm>
      </p:grpSpPr>
      <p:sp>
        <p:nvSpPr>
          <p:cNvPr id="15" name="Shape 13">
            <a:extLst>
              <a:ext uri="{FF2B5EF4-FFF2-40B4-BE49-F238E27FC236}">
                <a16:creationId xmlns:a16="http://schemas.microsoft.com/office/drawing/2014/main" id="{5E0191EE-BB96-0332-99FD-759AD0B251AA}"/>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2AD30AE3-3076-1D8A-1847-6C570FF25061}"/>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32904B11-BF85-647D-1838-5C4326884AE3}"/>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D595F7B0-64F0-AA31-7274-9981001CAB4E}"/>
              </a:ext>
            </a:extLst>
          </p:cNvPr>
          <p:cNvSpPr/>
          <p:nvPr/>
        </p:nvSpPr>
        <p:spPr>
          <a:xfrm>
            <a:off x="5299225" y="590007"/>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11" name="Rectangle: Rounded Corners 10">
            <a:extLst>
              <a:ext uri="{FF2B5EF4-FFF2-40B4-BE49-F238E27FC236}">
                <a16:creationId xmlns:a16="http://schemas.microsoft.com/office/drawing/2014/main" id="{0B436066-32FF-B6B8-0BD4-B19EB766D5A2}"/>
              </a:ext>
            </a:extLst>
          </p:cNvPr>
          <p:cNvSpPr/>
          <p:nvPr/>
        </p:nvSpPr>
        <p:spPr>
          <a:xfrm>
            <a:off x="7737999" y="61260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5" name="Text 1">
            <a:extLst>
              <a:ext uri="{FF2B5EF4-FFF2-40B4-BE49-F238E27FC236}">
                <a16:creationId xmlns:a16="http://schemas.microsoft.com/office/drawing/2014/main" id="{CE3F8C60-D34F-0847-7634-C2C853B1D55F}"/>
              </a:ext>
            </a:extLst>
          </p:cNvPr>
          <p:cNvSpPr/>
          <p:nvPr/>
        </p:nvSpPr>
        <p:spPr>
          <a:xfrm>
            <a:off x="302311" y="749808"/>
            <a:ext cx="329184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Vehicles</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a:extLst>
              <a:ext uri="{FF2B5EF4-FFF2-40B4-BE49-F238E27FC236}">
                <a16:creationId xmlns:a16="http://schemas.microsoft.com/office/drawing/2014/main" id="{AE584E8F-7B88-B3AE-C809-E191878B93B3}"/>
              </a:ext>
            </a:extLst>
          </p:cNvPr>
          <p:cNvSpPr/>
          <p:nvPr/>
        </p:nvSpPr>
        <p:spPr>
          <a:xfrm>
            <a:off x="302311" y="1691640"/>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55E6B"/>
                </a:solidFill>
                <a:effectLst/>
                <a:uLnTx/>
                <a:uFillTx/>
                <a:latin typeface="Calibri" pitchFamily="34" charset="0"/>
                <a:ea typeface="Calibri" pitchFamily="34" charset="-122"/>
                <a:cs typeface="Calibri" pitchFamily="34" charset="-120"/>
              </a:rPr>
              <a:t>Supervisors can add vehicles and update the items stored in them from a central interface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3">
            <a:extLst>
              <a:ext uri="{FF2B5EF4-FFF2-40B4-BE49-F238E27FC236}">
                <a16:creationId xmlns:a16="http://schemas.microsoft.com/office/drawing/2014/main" id="{5F9010FD-412F-D0DC-C080-2E9247DE1B72}"/>
              </a:ext>
            </a:extLst>
          </p:cNvPr>
          <p:cNvSpPr/>
          <p:nvPr/>
        </p:nvSpPr>
        <p:spPr>
          <a:xfrm>
            <a:off x="302311" y="2468880"/>
            <a:ext cx="3291840" cy="201168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Vehicles details can be added or edited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Basic colors assigned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Custom compartments created and edited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lang="en-US" sz="1250" dirty="0">
                <a:solidFill>
                  <a:srgbClr val="23262B"/>
                </a:solidFill>
                <a:latin typeface="Calibri" pitchFamily="34" charset="0"/>
                <a:ea typeface="Calibri" pitchFamily="34" charset="-122"/>
                <a:cs typeface="Calibri" pitchFamily="34" charset="-120"/>
              </a:rPr>
              <a:t>Items added to compartments with custom par levels</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Marked out of service and </a:t>
            </a:r>
            <a:r>
              <a:rPr lang="en-US" sz="1250" dirty="0">
                <a:solidFill>
                  <a:srgbClr val="23262B"/>
                </a:solidFill>
                <a:latin typeface="Calibri" pitchFamily="34" charset="0"/>
                <a:ea typeface="Calibri" pitchFamily="34" charset="-122"/>
                <a:cs typeface="Calibri" pitchFamily="34" charset="-120"/>
              </a:rPr>
              <a:t>returned to service</a:t>
            </a:r>
            <a:endPar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800"/>
              </a:spcAft>
              <a:buClrTx/>
              <a:buSzPct val="100000"/>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D6132071-AF26-B2A5-E45E-A4C310C5550E}"/>
              </a:ext>
            </a:extLst>
          </p:cNvPr>
          <p:cNvPicPr>
            <a:picLocks noChangeAspect="1"/>
          </p:cNvPicPr>
          <p:nvPr/>
        </p:nvPicPr>
        <p:blipFill>
          <a:blip r:embed="rId3"/>
          <a:stretch>
            <a:fillRect/>
          </a:stretch>
        </p:blipFill>
        <p:spPr>
          <a:xfrm>
            <a:off x="4184777" y="819471"/>
            <a:ext cx="1975839" cy="385781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92740ED0-EB61-BBA2-54DF-27B4789F8043}"/>
              </a:ext>
            </a:extLst>
          </p:cNvPr>
          <p:cNvPicPr>
            <a:picLocks noChangeAspect="1"/>
          </p:cNvPicPr>
          <p:nvPr/>
        </p:nvPicPr>
        <p:blipFill>
          <a:blip r:embed="rId4"/>
          <a:stretch>
            <a:fillRect/>
          </a:stretch>
        </p:blipFill>
        <p:spPr>
          <a:xfrm>
            <a:off x="6619521" y="819470"/>
            <a:ext cx="1975839" cy="38578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20503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EFB75567-15C1-C33C-06C7-A633FEC54A4C}"/>
            </a:ext>
          </a:extLst>
        </p:cNvPr>
        <p:cNvGrpSpPr/>
        <p:nvPr/>
      </p:nvGrpSpPr>
      <p:grpSpPr>
        <a:xfrm>
          <a:off x="0" y="0"/>
          <a:ext cx="0" cy="0"/>
          <a:chOff x="0" y="0"/>
          <a:chExt cx="0" cy="0"/>
        </a:xfrm>
      </p:grpSpPr>
      <p:sp>
        <p:nvSpPr>
          <p:cNvPr id="15" name="Shape 13">
            <a:extLst>
              <a:ext uri="{FF2B5EF4-FFF2-40B4-BE49-F238E27FC236}">
                <a16:creationId xmlns:a16="http://schemas.microsoft.com/office/drawing/2014/main" id="{5957A27E-E8B3-A5E5-DEF2-99CA440F7D71}"/>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25FDEED7-76E7-2CF5-B82A-C2B2231163BA}"/>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0C2C1F25-800E-4BAA-9C41-553C090D564A}"/>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B3F7F140-95D2-A059-E04C-73106B152F55}"/>
              </a:ext>
            </a:extLst>
          </p:cNvPr>
          <p:cNvSpPr/>
          <p:nvPr/>
        </p:nvSpPr>
        <p:spPr>
          <a:xfrm>
            <a:off x="1408363" y="590007"/>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11" name="Rectangle: Rounded Corners 10">
            <a:extLst>
              <a:ext uri="{FF2B5EF4-FFF2-40B4-BE49-F238E27FC236}">
                <a16:creationId xmlns:a16="http://schemas.microsoft.com/office/drawing/2014/main" id="{AA93DBF3-577E-92B5-F5CC-AE784FA2C709}"/>
              </a:ext>
            </a:extLst>
          </p:cNvPr>
          <p:cNvSpPr/>
          <p:nvPr/>
        </p:nvSpPr>
        <p:spPr>
          <a:xfrm>
            <a:off x="3847137" y="61260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5" name="Text 1">
            <a:extLst>
              <a:ext uri="{FF2B5EF4-FFF2-40B4-BE49-F238E27FC236}">
                <a16:creationId xmlns:a16="http://schemas.microsoft.com/office/drawing/2014/main" id="{3C854258-965E-298A-2421-5CEB4965B9A4}"/>
              </a:ext>
            </a:extLst>
          </p:cNvPr>
          <p:cNvSpPr/>
          <p:nvPr/>
        </p:nvSpPr>
        <p:spPr>
          <a:xfrm>
            <a:off x="5266201" y="749808"/>
            <a:ext cx="329184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Portable Locations</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a:extLst>
              <a:ext uri="{FF2B5EF4-FFF2-40B4-BE49-F238E27FC236}">
                <a16:creationId xmlns:a16="http://schemas.microsoft.com/office/drawing/2014/main" id="{E2206871-C3FE-81B7-8F70-A3A125ABE0DE}"/>
              </a:ext>
            </a:extLst>
          </p:cNvPr>
          <p:cNvSpPr/>
          <p:nvPr/>
        </p:nvSpPr>
        <p:spPr>
          <a:xfrm>
            <a:off x="5266201" y="1691640"/>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55E6B"/>
                </a:solidFill>
                <a:effectLst/>
                <a:uLnTx/>
                <a:uFillTx/>
                <a:latin typeface="Calibri" pitchFamily="34" charset="0"/>
                <a:ea typeface="Calibri" pitchFamily="34" charset="-122"/>
                <a:cs typeface="Calibri" pitchFamily="34" charset="-120"/>
              </a:rPr>
              <a:t>Supervisors can add portable locations, such as jump bags from this view.</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3">
            <a:extLst>
              <a:ext uri="{FF2B5EF4-FFF2-40B4-BE49-F238E27FC236}">
                <a16:creationId xmlns:a16="http://schemas.microsoft.com/office/drawing/2014/main" id="{D4F88C5C-32D1-29D5-96F9-85BFBF884C40}"/>
              </a:ext>
            </a:extLst>
          </p:cNvPr>
          <p:cNvSpPr/>
          <p:nvPr/>
        </p:nvSpPr>
        <p:spPr>
          <a:xfrm>
            <a:off x="5266201" y="2468880"/>
            <a:ext cx="3291840" cy="201168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Bag details can be added or edited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Basic colors assigned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Custom compartments created and edited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Items added to compartments with custom par levels</a:t>
            </a:r>
          </a:p>
          <a:p>
            <a:pPr marL="0" marR="0" lvl="0" indent="0" algn="l" defTabSz="914400" rtl="0" eaLnBrk="1" fontAlgn="auto" latinLnBrk="0" hangingPunct="1">
              <a:lnSpc>
                <a:spcPct val="100000"/>
              </a:lnSpc>
              <a:spcBef>
                <a:spcPts val="0"/>
              </a:spcBef>
              <a:spcAft>
                <a:spcPts val="800"/>
              </a:spcAft>
              <a:buClrTx/>
              <a:buSzPct val="100000"/>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B887BDB-9042-51E3-7135-47EA05C259E6}"/>
              </a:ext>
            </a:extLst>
          </p:cNvPr>
          <p:cNvPicPr>
            <a:picLocks noChangeAspect="1"/>
          </p:cNvPicPr>
          <p:nvPr/>
        </p:nvPicPr>
        <p:blipFill>
          <a:blip r:embed="rId3"/>
          <a:stretch>
            <a:fillRect/>
          </a:stretch>
        </p:blipFill>
        <p:spPr>
          <a:xfrm>
            <a:off x="279687" y="819471"/>
            <a:ext cx="1990067" cy="3857814"/>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5FE6B744-9199-0D8E-1877-83B8B9C3A598}"/>
              </a:ext>
            </a:extLst>
          </p:cNvPr>
          <p:cNvPicPr>
            <a:picLocks noChangeAspect="1"/>
          </p:cNvPicPr>
          <p:nvPr/>
        </p:nvPicPr>
        <p:blipFill>
          <a:blip r:embed="rId4"/>
          <a:stretch>
            <a:fillRect/>
          </a:stretch>
        </p:blipFill>
        <p:spPr>
          <a:xfrm>
            <a:off x="2731387" y="837129"/>
            <a:ext cx="1985363" cy="38578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68201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FECE545D-73F3-A400-9BA8-8D234CF1AF5E}"/>
            </a:ext>
          </a:extLst>
        </p:cNvPr>
        <p:cNvGrpSpPr/>
        <p:nvPr/>
      </p:nvGrpSpPr>
      <p:grpSpPr>
        <a:xfrm>
          <a:off x="0" y="0"/>
          <a:ext cx="0" cy="0"/>
          <a:chOff x="0" y="0"/>
          <a:chExt cx="0" cy="0"/>
        </a:xfrm>
      </p:grpSpPr>
      <p:sp>
        <p:nvSpPr>
          <p:cNvPr id="15" name="Shape 13">
            <a:extLst>
              <a:ext uri="{FF2B5EF4-FFF2-40B4-BE49-F238E27FC236}">
                <a16:creationId xmlns:a16="http://schemas.microsoft.com/office/drawing/2014/main" id="{D7D19D09-DD0F-93E0-1A52-46CFCCFB52BE}"/>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565A729F-CF86-C796-74C5-3B2906F70150}"/>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62C31EAE-2815-76E7-9A66-123D90B94BA4}"/>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Rounded Corners 9">
            <a:extLst>
              <a:ext uri="{FF2B5EF4-FFF2-40B4-BE49-F238E27FC236}">
                <a16:creationId xmlns:a16="http://schemas.microsoft.com/office/drawing/2014/main" id="{FA5F88AC-B069-0377-EF34-8068C7B8C469}"/>
              </a:ext>
            </a:extLst>
          </p:cNvPr>
          <p:cNvSpPr/>
          <p:nvPr/>
        </p:nvSpPr>
        <p:spPr>
          <a:xfrm>
            <a:off x="5299225" y="590007"/>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11" name="Rectangle: Rounded Corners 10">
            <a:extLst>
              <a:ext uri="{FF2B5EF4-FFF2-40B4-BE49-F238E27FC236}">
                <a16:creationId xmlns:a16="http://schemas.microsoft.com/office/drawing/2014/main" id="{D900500D-4CB9-0D16-240A-249A3F07CE3C}"/>
              </a:ext>
            </a:extLst>
          </p:cNvPr>
          <p:cNvSpPr/>
          <p:nvPr/>
        </p:nvSpPr>
        <p:spPr>
          <a:xfrm>
            <a:off x="7737999" y="612600"/>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5" name="Text 1">
            <a:extLst>
              <a:ext uri="{FF2B5EF4-FFF2-40B4-BE49-F238E27FC236}">
                <a16:creationId xmlns:a16="http://schemas.microsoft.com/office/drawing/2014/main" id="{0CE39CFC-1A6F-D151-D906-375837E64DF6}"/>
              </a:ext>
            </a:extLst>
          </p:cNvPr>
          <p:cNvSpPr/>
          <p:nvPr/>
        </p:nvSpPr>
        <p:spPr>
          <a:xfrm>
            <a:off x="302311" y="749808"/>
            <a:ext cx="329184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Station Supplies</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a:extLst>
              <a:ext uri="{FF2B5EF4-FFF2-40B4-BE49-F238E27FC236}">
                <a16:creationId xmlns:a16="http://schemas.microsoft.com/office/drawing/2014/main" id="{EEBE0659-6901-3F1E-E619-D281A16D0603}"/>
              </a:ext>
            </a:extLst>
          </p:cNvPr>
          <p:cNvSpPr/>
          <p:nvPr/>
        </p:nvSpPr>
        <p:spPr>
          <a:xfrm>
            <a:off x="302311" y="1691640"/>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55E6B"/>
                </a:solidFill>
                <a:effectLst/>
                <a:uLnTx/>
                <a:uFillTx/>
                <a:latin typeface="Calibri" pitchFamily="34" charset="0"/>
                <a:ea typeface="Calibri" pitchFamily="34" charset="-122"/>
                <a:cs typeface="Calibri" pitchFamily="34" charset="-120"/>
              </a:rPr>
              <a:t>Supervisors can setup the station supply room from here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3">
            <a:extLst>
              <a:ext uri="{FF2B5EF4-FFF2-40B4-BE49-F238E27FC236}">
                <a16:creationId xmlns:a16="http://schemas.microsoft.com/office/drawing/2014/main" id="{CF19F8A4-6AC4-DDA5-21E6-E7EBADD57B2C}"/>
              </a:ext>
            </a:extLst>
          </p:cNvPr>
          <p:cNvSpPr/>
          <p:nvPr/>
        </p:nvSpPr>
        <p:spPr>
          <a:xfrm>
            <a:off x="302311" y="2468880"/>
            <a:ext cx="3291840" cy="201168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Custom shelves can be added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lang="en-US" sz="1250" dirty="0">
                <a:solidFill>
                  <a:srgbClr val="23262B"/>
                </a:solidFill>
                <a:latin typeface="Calibri" pitchFamily="34" charset="0"/>
                <a:ea typeface="Calibri" pitchFamily="34" charset="-122"/>
                <a:cs typeface="Calibri" pitchFamily="34" charset="-120"/>
              </a:rPr>
              <a:t>Items can be assigned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Custom pa</a:t>
            </a:r>
            <a:r>
              <a:rPr lang="en-US" sz="1250" dirty="0">
                <a:solidFill>
                  <a:srgbClr val="23262B"/>
                </a:solidFill>
                <a:latin typeface="Calibri" pitchFamily="34" charset="0"/>
                <a:ea typeface="Calibri" pitchFamily="34" charset="-122"/>
                <a:cs typeface="Calibri" pitchFamily="34" charset="-120"/>
              </a:rPr>
              <a:t>r levels can be assigned.</a:t>
            </a: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This data feed the Station Supply interface that is on the homepage</a:t>
            </a:r>
          </a:p>
          <a:p>
            <a:pPr marL="0" marR="0" lvl="0" indent="0" algn="l" defTabSz="914400" rtl="0" eaLnBrk="1" fontAlgn="auto" latinLnBrk="0" hangingPunct="1">
              <a:lnSpc>
                <a:spcPct val="100000"/>
              </a:lnSpc>
              <a:spcBef>
                <a:spcPts val="0"/>
              </a:spcBef>
              <a:spcAft>
                <a:spcPts val="800"/>
              </a:spcAft>
              <a:buClrTx/>
              <a:buSzPct val="100000"/>
              <a:buFontTx/>
              <a:buNone/>
              <a:tabLst/>
              <a:defRPr/>
            </a:pP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C0A6AAAC-651E-61D6-1062-78C39628CF68}"/>
              </a:ext>
            </a:extLst>
          </p:cNvPr>
          <p:cNvPicPr>
            <a:picLocks noChangeAspect="1"/>
          </p:cNvPicPr>
          <p:nvPr/>
        </p:nvPicPr>
        <p:blipFill>
          <a:blip r:embed="rId3"/>
          <a:stretch>
            <a:fillRect/>
          </a:stretch>
        </p:blipFill>
        <p:spPr>
          <a:xfrm>
            <a:off x="4181205" y="819469"/>
            <a:ext cx="1980658" cy="3857815"/>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94E64FDC-92D5-8FB4-29BD-5D970F632652}"/>
              </a:ext>
            </a:extLst>
          </p:cNvPr>
          <p:cNvPicPr>
            <a:picLocks noChangeAspect="1"/>
          </p:cNvPicPr>
          <p:nvPr/>
        </p:nvPicPr>
        <p:blipFill>
          <a:blip r:embed="rId4"/>
          <a:stretch>
            <a:fillRect/>
          </a:stretch>
        </p:blipFill>
        <p:spPr>
          <a:xfrm>
            <a:off x="6624214" y="837128"/>
            <a:ext cx="1971146" cy="38578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10357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6F5F2"/>
        </a:solidFill>
        <a:effectLst/>
      </p:bgPr>
    </p:bg>
    <p:spTree>
      <p:nvGrpSpPr>
        <p:cNvPr id="1" name="">
          <a:extLst>
            <a:ext uri="{FF2B5EF4-FFF2-40B4-BE49-F238E27FC236}">
              <a16:creationId xmlns:a16="http://schemas.microsoft.com/office/drawing/2014/main" id="{705C7F1F-F129-7892-3261-C5395E37D17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1D847F-ECD5-BEE7-8B1B-47F94AC17110}"/>
              </a:ext>
            </a:extLst>
          </p:cNvPr>
          <p:cNvSpPr/>
          <p:nvPr/>
        </p:nvSpPr>
        <p:spPr>
          <a:xfrm>
            <a:off x="5303520" y="457200"/>
            <a:ext cx="3566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D81E2C"/>
                </a:solidFill>
                <a:effectLst/>
                <a:uLnTx/>
                <a:uFillTx/>
                <a:latin typeface="Consolas" pitchFamily="34" charset="0"/>
                <a:ea typeface="Consolas" pitchFamily="34" charset="-122"/>
                <a:cs typeface="Consolas" pitchFamily="34" charset="-120"/>
              </a:rPr>
              <a:t>FEATURE 07</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81D5EB50-E3BD-D641-4D74-708CF33EAA19}"/>
              </a:ext>
            </a:extLst>
          </p:cNvPr>
          <p:cNvSpPr/>
          <p:nvPr/>
        </p:nvSpPr>
        <p:spPr>
          <a:xfrm>
            <a:off x="5303520" y="749808"/>
            <a:ext cx="3291840" cy="868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a:ln>
                  <a:noFill/>
                </a:ln>
                <a:solidFill>
                  <a:srgbClr val="23262B"/>
                </a:solidFill>
                <a:effectLst/>
                <a:uLnTx/>
                <a:uFillTx/>
                <a:latin typeface="Trebuchet MS" pitchFamily="34" charset="0"/>
                <a:ea typeface="Trebuchet MS" pitchFamily="34" charset="-122"/>
                <a:cs typeface="Trebuchet MS" pitchFamily="34" charset="-120"/>
              </a:rPr>
              <a:t>Help &amp; Tutorial</a:t>
            </a:r>
            <a:endParaRPr kumimoji="0" lang="en-US" sz="2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455DEBAA-4F3B-3ABC-9FDB-AD936C7C71DD}"/>
              </a:ext>
            </a:extLst>
          </p:cNvPr>
          <p:cNvSpPr/>
          <p:nvPr/>
        </p:nvSpPr>
        <p:spPr>
          <a:xfrm>
            <a:off x="5303520" y="1691640"/>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555E6B"/>
                </a:solidFill>
                <a:effectLst/>
                <a:uLnTx/>
                <a:uFillTx/>
                <a:latin typeface="Calibri" pitchFamily="34" charset="0"/>
                <a:ea typeface="Calibri" pitchFamily="34" charset="-122"/>
                <a:cs typeface="Calibri" pitchFamily="34" charset="-120"/>
              </a:rPr>
              <a:t>Quick and easy help file for the most common questions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F4E87ED7-D981-2897-FC0E-A0003C447533}"/>
              </a:ext>
            </a:extLst>
          </p:cNvPr>
          <p:cNvSpPr/>
          <p:nvPr/>
        </p:nvSpPr>
        <p:spPr>
          <a:xfrm>
            <a:off x="5303520" y="2468880"/>
            <a:ext cx="3291840" cy="2011680"/>
          </a:xfrm>
          <a:prstGeom prst="rect">
            <a:avLst/>
          </a:prstGeom>
          <a:noFill/>
          <a:ln/>
        </p:spPr>
        <p:txBody>
          <a:bodyPr wrap="square" lIns="0" tIns="0" rIns="0" bIns="0" rtlCol="0" anchor="t"/>
          <a:lstStyle/>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Help focused by role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77800" marR="0" lvl="0" indent="-177800" algn="l" defTabSz="914400" rtl="0" eaLnBrk="1" fontAlgn="auto" latinLnBrk="0" hangingPunct="1">
              <a:lnSpc>
                <a:spcPct val="100000"/>
              </a:lnSpc>
              <a:spcBef>
                <a:spcPts val="0"/>
              </a:spcBef>
              <a:spcAft>
                <a:spcPts val="800"/>
              </a:spcAft>
              <a:buClrTx/>
              <a:buSzPct val="100000"/>
              <a:buFontTx/>
              <a:buChar char="–"/>
              <a:tabLst/>
              <a:defRPr/>
            </a:pPr>
            <a:r>
              <a:rPr kumimoji="0" lang="en-US" sz="1250" b="0" i="0" u="none" strike="noStrike" kern="1200" cap="none" spc="0" normalizeH="0" baseline="0" noProof="0" dirty="0">
                <a:ln>
                  <a:noFill/>
                </a:ln>
                <a:solidFill>
                  <a:srgbClr val="23262B"/>
                </a:solidFill>
                <a:effectLst/>
                <a:uLnTx/>
                <a:uFillTx/>
                <a:latin typeface="Calibri" pitchFamily="34" charset="0"/>
                <a:ea typeface="Calibri" pitchFamily="34" charset="-122"/>
                <a:cs typeface="Calibri" pitchFamily="34" charset="-120"/>
              </a:rPr>
              <a:t>Quick reference for buttons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B5463CD3-07C4-90DE-D0FC-5C77B555FB6A}"/>
              </a:ext>
            </a:extLst>
          </p:cNvPr>
          <p:cNvSpPr/>
          <p:nvPr/>
        </p:nvSpPr>
        <p:spPr>
          <a:xfrm>
            <a:off x="548640" y="4855464"/>
            <a:ext cx="73152" cy="73152"/>
          </a:xfrm>
          <a:prstGeom prst="ellipse">
            <a:avLst/>
          </a:prstGeom>
          <a:solidFill>
            <a:srgbClr val="D81E2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6B5D0F8A-0897-71D8-F06B-E837A084D2CA}"/>
              </a:ext>
            </a:extLst>
          </p:cNvPr>
          <p:cNvSpPr/>
          <p:nvPr/>
        </p:nvSpPr>
        <p:spPr>
          <a:xfrm>
            <a:off x="676656" y="4736592"/>
            <a:ext cx="36576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alibri" pitchFamily="34" charset="0"/>
                <a:ea typeface="Calibri" pitchFamily="34" charset="-122"/>
                <a:cs typeface="Calibri" pitchFamily="34" charset="-120"/>
              </a:rPr>
              <a:t>EMS ReadyKit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a:extLst>
              <a:ext uri="{FF2B5EF4-FFF2-40B4-BE49-F238E27FC236}">
                <a16:creationId xmlns:a16="http://schemas.microsoft.com/office/drawing/2014/main" id="{0C6EC75D-5D8A-498C-E3B8-4053B3C6D299}"/>
              </a:ext>
            </a:extLst>
          </p:cNvPr>
          <p:cNvSpPr/>
          <p:nvPr/>
        </p:nvSpPr>
        <p:spPr>
          <a:xfrm>
            <a:off x="8138160" y="4736592"/>
            <a:ext cx="45720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8A929C"/>
                </a:solidFill>
                <a:effectLst/>
                <a:uLnTx/>
                <a:uFillTx/>
                <a:latin typeface="Consolas" pitchFamily="34" charset="0"/>
                <a:ea typeface="Consolas" pitchFamily="34" charset="-122"/>
                <a:cs typeface="Consolas" pitchFamily="34" charset="-120"/>
              </a:rPr>
              <a:t>10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58DCFBF2-650B-A568-6C09-A8615EDC5F76}"/>
              </a:ext>
            </a:extLst>
          </p:cNvPr>
          <p:cNvSpPr/>
          <p:nvPr/>
        </p:nvSpPr>
        <p:spPr>
          <a:xfrm>
            <a:off x="1507383" y="52279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sp>
        <p:nvSpPr>
          <p:cNvPr id="23" name="Rectangle: Rounded Corners 22">
            <a:extLst>
              <a:ext uri="{FF2B5EF4-FFF2-40B4-BE49-F238E27FC236}">
                <a16:creationId xmlns:a16="http://schemas.microsoft.com/office/drawing/2014/main" id="{0270248C-E1B8-5BA7-87ED-C65D83964628}"/>
              </a:ext>
            </a:extLst>
          </p:cNvPr>
          <p:cNvSpPr/>
          <p:nvPr/>
        </p:nvSpPr>
        <p:spPr>
          <a:xfrm>
            <a:off x="3987034" y="522798"/>
            <a:ext cx="861391" cy="182880"/>
          </a:xfrm>
          <a:prstGeom prst="roundRect">
            <a:avLst/>
          </a:prstGeom>
          <a:solidFill>
            <a:srgbClr val="D81E2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Supervisor</a:t>
            </a:r>
          </a:p>
        </p:txBody>
      </p:sp>
      <p:pic>
        <p:nvPicPr>
          <p:cNvPr id="7" name="Picture 6">
            <a:extLst>
              <a:ext uri="{FF2B5EF4-FFF2-40B4-BE49-F238E27FC236}">
                <a16:creationId xmlns:a16="http://schemas.microsoft.com/office/drawing/2014/main" id="{07DE7202-D479-8125-3CC2-FDE1F54A86CE}"/>
              </a:ext>
            </a:extLst>
          </p:cNvPr>
          <p:cNvPicPr>
            <a:picLocks noChangeAspect="1"/>
          </p:cNvPicPr>
          <p:nvPr/>
        </p:nvPicPr>
        <p:blipFill>
          <a:blip r:embed="rId3"/>
          <a:stretch>
            <a:fillRect/>
          </a:stretch>
        </p:blipFill>
        <p:spPr>
          <a:xfrm>
            <a:off x="387954" y="749807"/>
            <a:ext cx="1989488" cy="3893713"/>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05C84724-A4E7-258A-B83A-AF25238B8D55}"/>
              </a:ext>
            </a:extLst>
          </p:cNvPr>
          <p:cNvPicPr>
            <a:picLocks noChangeAspect="1"/>
          </p:cNvPicPr>
          <p:nvPr/>
        </p:nvPicPr>
        <p:blipFill>
          <a:blip r:embed="rId4"/>
          <a:stretch>
            <a:fillRect/>
          </a:stretch>
        </p:blipFill>
        <p:spPr>
          <a:xfrm>
            <a:off x="2849336" y="749807"/>
            <a:ext cx="1999089" cy="38937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2364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23262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81E2C"/>
          </a:solidFill>
          <a:ln/>
        </p:spPr>
        <p:txBody>
          <a:bodyPr/>
          <a:lstStyle/>
          <a:p>
            <a:endParaRPr lang="en-US"/>
          </a:p>
        </p:txBody>
      </p:sp>
      <p:sp>
        <p:nvSpPr>
          <p:cNvPr id="3" name="Text 1"/>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FF8A91"/>
                </a:solidFill>
                <a:latin typeface="Consolas" pitchFamily="34" charset="0"/>
                <a:ea typeface="Consolas" pitchFamily="34" charset="-122"/>
                <a:cs typeface="Consolas" pitchFamily="34" charset="-120"/>
              </a:rPr>
              <a:t>UNDER THE HOOD</a:t>
            </a:r>
            <a:endParaRPr lang="en-US" sz="1100" dirty="0"/>
          </a:p>
        </p:txBody>
      </p:sp>
      <p:sp>
        <p:nvSpPr>
          <p:cNvPr id="4" name="Text 2"/>
          <p:cNvSpPr/>
          <p:nvPr/>
        </p:nvSpPr>
        <p:spPr>
          <a:xfrm>
            <a:off x="548640" y="749808"/>
            <a:ext cx="822960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Cloud architecture</a:t>
            </a:r>
            <a:endParaRPr lang="en-US" sz="2800" dirty="0"/>
          </a:p>
        </p:txBody>
      </p:sp>
      <p:sp>
        <p:nvSpPr>
          <p:cNvPr id="5" name="Text 3"/>
          <p:cNvSpPr/>
          <p:nvPr/>
        </p:nvSpPr>
        <p:spPr>
          <a:xfrm>
            <a:off x="548640" y="1298448"/>
            <a:ext cx="8229600" cy="320040"/>
          </a:xfrm>
          <a:prstGeom prst="rect">
            <a:avLst/>
          </a:prstGeom>
          <a:noFill/>
          <a:ln/>
        </p:spPr>
        <p:txBody>
          <a:bodyPr wrap="square" lIns="0" tIns="0" rIns="0" bIns="0" rtlCol="0" anchor="ctr"/>
          <a:lstStyle/>
          <a:p>
            <a:pPr marL="0" indent="0" algn="l">
              <a:buNone/>
            </a:pPr>
            <a:r>
              <a:rPr lang="en-US" sz="1250" i="1" dirty="0">
                <a:solidFill>
                  <a:srgbClr val="AEB4BC"/>
                </a:solidFill>
                <a:latin typeface="Calibri" pitchFamily="34" charset="0"/>
                <a:ea typeface="Calibri" pitchFamily="34" charset="-122"/>
                <a:cs typeface="Calibri" pitchFamily="34" charset="-120"/>
              </a:rPr>
              <a:t>Representative architecture for a secure, multi-user web app.</a:t>
            </a:r>
            <a:endParaRPr lang="en-US" sz="1250" dirty="0"/>
          </a:p>
        </p:txBody>
      </p:sp>
      <p:sp>
        <p:nvSpPr>
          <p:cNvPr id="6" name="Shape 4"/>
          <p:cNvSpPr/>
          <p:nvPr/>
        </p:nvSpPr>
        <p:spPr>
          <a:xfrm>
            <a:off x="548640" y="1920240"/>
            <a:ext cx="1828800" cy="1051560"/>
          </a:xfrm>
          <a:prstGeom prst="rect">
            <a:avLst/>
          </a:prstGeom>
          <a:solidFill>
            <a:srgbClr val="2E333B"/>
          </a:solidFill>
          <a:ln w="12700">
            <a:solidFill>
              <a:srgbClr val="3D434C"/>
            </a:solidFill>
            <a:prstDash val="solid"/>
          </a:ln>
        </p:spPr>
        <p:txBody>
          <a:bodyPr/>
          <a:lstStyle/>
          <a:p>
            <a:endParaRPr lang="en-US"/>
          </a:p>
        </p:txBody>
      </p:sp>
      <p:sp>
        <p:nvSpPr>
          <p:cNvPr id="7" name="Shape 5"/>
          <p:cNvSpPr/>
          <p:nvPr/>
        </p:nvSpPr>
        <p:spPr>
          <a:xfrm>
            <a:off x="548640" y="1920240"/>
            <a:ext cx="64008" cy="1051560"/>
          </a:xfrm>
          <a:prstGeom prst="rect">
            <a:avLst/>
          </a:prstGeom>
          <a:solidFill>
            <a:srgbClr val="D81E2C"/>
          </a:solidFill>
          <a:ln/>
        </p:spPr>
        <p:txBody>
          <a:bodyPr/>
          <a:lstStyle/>
          <a:p>
            <a:endParaRPr lang="en-US"/>
          </a:p>
        </p:txBody>
      </p:sp>
      <p:sp>
        <p:nvSpPr>
          <p:cNvPr id="8" name="Text 6"/>
          <p:cNvSpPr/>
          <p:nvPr/>
        </p:nvSpPr>
        <p:spPr>
          <a:xfrm>
            <a:off x="713232" y="2066544"/>
            <a:ext cx="1554480" cy="365760"/>
          </a:xfrm>
          <a:prstGeom prst="rect">
            <a:avLst/>
          </a:prstGeom>
          <a:noFill/>
          <a:ln/>
        </p:spPr>
        <p:txBody>
          <a:bodyPr wrap="square" lIns="0" tIns="0" rIns="0" bIns="0" rtlCol="0" anchor="ctr"/>
          <a:lstStyle/>
          <a:p>
            <a:pPr marL="0" indent="0" algn="l">
              <a:lnSpc>
                <a:spcPct val="95000"/>
              </a:lnSpc>
              <a:buNone/>
            </a:pPr>
            <a:r>
              <a:rPr lang="en-US" sz="1300" b="1" dirty="0">
                <a:solidFill>
                  <a:srgbClr val="FFFFFF"/>
                </a:solidFill>
                <a:latin typeface="Trebuchet MS" pitchFamily="34" charset="0"/>
                <a:ea typeface="Trebuchet MS" pitchFamily="34" charset="-122"/>
                <a:cs typeface="Trebuchet MS" pitchFamily="34" charset="-120"/>
              </a:rPr>
              <a:t>Crews &amp; supervisors</a:t>
            </a:r>
            <a:endParaRPr lang="en-US" sz="1300" dirty="0"/>
          </a:p>
        </p:txBody>
      </p:sp>
      <p:sp>
        <p:nvSpPr>
          <p:cNvPr id="9" name="Text 7"/>
          <p:cNvSpPr/>
          <p:nvPr/>
        </p:nvSpPr>
        <p:spPr>
          <a:xfrm>
            <a:off x="713232" y="2468880"/>
            <a:ext cx="1554480" cy="411480"/>
          </a:xfrm>
          <a:prstGeom prst="rect">
            <a:avLst/>
          </a:prstGeom>
          <a:noFill/>
          <a:ln/>
        </p:spPr>
        <p:txBody>
          <a:bodyPr wrap="square" lIns="0" tIns="0" rIns="0" bIns="0" rtlCol="0" anchor="t"/>
          <a:lstStyle/>
          <a:p>
            <a:pPr marL="0" indent="0" algn="l">
              <a:lnSpc>
                <a:spcPct val="100000"/>
              </a:lnSpc>
              <a:buNone/>
            </a:pPr>
            <a:r>
              <a:rPr lang="en-US" sz="1000" dirty="0">
                <a:solidFill>
                  <a:srgbClr val="AEB4BC"/>
                </a:solidFill>
                <a:latin typeface="Calibri" pitchFamily="34" charset="0"/>
                <a:ea typeface="Calibri" pitchFamily="34" charset="-122"/>
                <a:cs typeface="Calibri" pitchFamily="34" charset="-120"/>
              </a:rPr>
              <a:t>Browser / mobile web</a:t>
            </a:r>
            <a:endParaRPr lang="en-US" sz="1000" dirty="0"/>
          </a:p>
        </p:txBody>
      </p:sp>
      <p:sp>
        <p:nvSpPr>
          <p:cNvPr id="10" name="Text 8"/>
          <p:cNvSpPr/>
          <p:nvPr/>
        </p:nvSpPr>
        <p:spPr>
          <a:xfrm>
            <a:off x="2359152" y="1920240"/>
            <a:ext cx="338328" cy="1051560"/>
          </a:xfrm>
          <a:prstGeom prst="rect">
            <a:avLst/>
          </a:prstGeom>
          <a:noFill/>
          <a:ln/>
        </p:spPr>
        <p:txBody>
          <a:bodyPr wrap="square" lIns="0" tIns="0" rIns="0" bIns="0" rtlCol="0" anchor="ctr"/>
          <a:lstStyle/>
          <a:p>
            <a:pPr marL="0" indent="0" algn="ctr">
              <a:buNone/>
            </a:pPr>
            <a:r>
              <a:rPr lang="en-US" sz="2000" b="1" dirty="0">
                <a:solidFill>
                  <a:srgbClr val="D81E2C"/>
                </a:solidFill>
                <a:latin typeface="Trebuchet MS" pitchFamily="34" charset="0"/>
                <a:ea typeface="Trebuchet MS" pitchFamily="34" charset="-122"/>
                <a:cs typeface="Trebuchet MS" pitchFamily="34" charset="-120"/>
              </a:rPr>
              <a:t>→</a:t>
            </a:r>
            <a:endParaRPr lang="en-US" sz="2000" dirty="0"/>
          </a:p>
        </p:txBody>
      </p:sp>
      <p:sp>
        <p:nvSpPr>
          <p:cNvPr id="11" name="Shape 9"/>
          <p:cNvSpPr/>
          <p:nvPr/>
        </p:nvSpPr>
        <p:spPr>
          <a:xfrm>
            <a:off x="2679192" y="1920240"/>
            <a:ext cx="1828800" cy="1051560"/>
          </a:xfrm>
          <a:prstGeom prst="rect">
            <a:avLst/>
          </a:prstGeom>
          <a:solidFill>
            <a:srgbClr val="2E333B"/>
          </a:solidFill>
          <a:ln w="12700">
            <a:solidFill>
              <a:srgbClr val="3D434C"/>
            </a:solidFill>
            <a:prstDash val="solid"/>
          </a:ln>
        </p:spPr>
        <p:txBody>
          <a:bodyPr/>
          <a:lstStyle/>
          <a:p>
            <a:endParaRPr lang="en-US"/>
          </a:p>
        </p:txBody>
      </p:sp>
      <p:sp>
        <p:nvSpPr>
          <p:cNvPr id="12" name="Shape 10"/>
          <p:cNvSpPr/>
          <p:nvPr/>
        </p:nvSpPr>
        <p:spPr>
          <a:xfrm>
            <a:off x="2679192" y="1920240"/>
            <a:ext cx="64008" cy="1051560"/>
          </a:xfrm>
          <a:prstGeom prst="rect">
            <a:avLst/>
          </a:prstGeom>
          <a:solidFill>
            <a:srgbClr val="D81E2C"/>
          </a:solidFill>
          <a:ln/>
        </p:spPr>
        <p:txBody>
          <a:bodyPr/>
          <a:lstStyle/>
          <a:p>
            <a:endParaRPr lang="en-US"/>
          </a:p>
        </p:txBody>
      </p:sp>
      <p:sp>
        <p:nvSpPr>
          <p:cNvPr id="13" name="Text 11"/>
          <p:cNvSpPr/>
          <p:nvPr/>
        </p:nvSpPr>
        <p:spPr>
          <a:xfrm>
            <a:off x="2843784" y="2066544"/>
            <a:ext cx="1554480" cy="365760"/>
          </a:xfrm>
          <a:prstGeom prst="rect">
            <a:avLst/>
          </a:prstGeom>
          <a:noFill/>
          <a:ln/>
        </p:spPr>
        <p:txBody>
          <a:bodyPr wrap="square" lIns="0" tIns="0" rIns="0" bIns="0" rtlCol="0" anchor="ctr"/>
          <a:lstStyle/>
          <a:p>
            <a:pPr marL="0" indent="0" algn="l">
              <a:lnSpc>
                <a:spcPct val="95000"/>
              </a:lnSpc>
              <a:buNone/>
            </a:pPr>
            <a:r>
              <a:rPr lang="en-US" sz="1300" b="1" dirty="0">
                <a:solidFill>
                  <a:srgbClr val="FFFFFF"/>
                </a:solidFill>
                <a:latin typeface="Trebuchet MS" pitchFamily="34" charset="0"/>
                <a:ea typeface="Trebuchet MS" pitchFamily="34" charset="-122"/>
                <a:cs typeface="Trebuchet MS" pitchFamily="34" charset="-120"/>
              </a:rPr>
              <a:t>Frontend</a:t>
            </a:r>
            <a:endParaRPr lang="en-US" sz="1300" dirty="0"/>
          </a:p>
        </p:txBody>
      </p:sp>
      <p:sp>
        <p:nvSpPr>
          <p:cNvPr id="14" name="Text 12"/>
          <p:cNvSpPr/>
          <p:nvPr/>
        </p:nvSpPr>
        <p:spPr>
          <a:xfrm>
            <a:off x="2843784" y="2468880"/>
            <a:ext cx="1554480" cy="411480"/>
          </a:xfrm>
          <a:prstGeom prst="rect">
            <a:avLst/>
          </a:prstGeom>
          <a:noFill/>
          <a:ln/>
        </p:spPr>
        <p:txBody>
          <a:bodyPr wrap="square" lIns="0" tIns="0" rIns="0" bIns="0" rtlCol="0" anchor="t"/>
          <a:lstStyle/>
          <a:p>
            <a:pPr marL="0" indent="0" algn="l">
              <a:lnSpc>
                <a:spcPct val="100000"/>
              </a:lnSpc>
              <a:buNone/>
            </a:pPr>
            <a:r>
              <a:rPr lang="en-US" sz="1000" dirty="0">
                <a:solidFill>
                  <a:srgbClr val="AEB4BC"/>
                </a:solidFill>
                <a:latin typeface="Calibri" pitchFamily="34" charset="0"/>
                <a:ea typeface="Calibri" pitchFamily="34" charset="-122"/>
                <a:cs typeface="Calibri" pitchFamily="34" charset="-120"/>
              </a:rPr>
              <a:t>Single-page web app</a:t>
            </a:r>
            <a:endParaRPr lang="en-US" sz="1000" dirty="0"/>
          </a:p>
        </p:txBody>
      </p:sp>
      <p:sp>
        <p:nvSpPr>
          <p:cNvPr id="15" name="Text 13"/>
          <p:cNvSpPr/>
          <p:nvPr/>
        </p:nvSpPr>
        <p:spPr>
          <a:xfrm>
            <a:off x="4489704" y="1920240"/>
            <a:ext cx="338328" cy="1051560"/>
          </a:xfrm>
          <a:prstGeom prst="rect">
            <a:avLst/>
          </a:prstGeom>
          <a:noFill/>
          <a:ln/>
        </p:spPr>
        <p:txBody>
          <a:bodyPr wrap="square" lIns="0" tIns="0" rIns="0" bIns="0" rtlCol="0" anchor="ctr"/>
          <a:lstStyle/>
          <a:p>
            <a:pPr marL="0" indent="0" algn="ctr">
              <a:buNone/>
            </a:pPr>
            <a:r>
              <a:rPr lang="en-US" sz="2000" b="1" dirty="0">
                <a:solidFill>
                  <a:srgbClr val="D81E2C"/>
                </a:solidFill>
                <a:latin typeface="Trebuchet MS" pitchFamily="34" charset="0"/>
                <a:ea typeface="Trebuchet MS" pitchFamily="34" charset="-122"/>
                <a:cs typeface="Trebuchet MS" pitchFamily="34" charset="-120"/>
              </a:rPr>
              <a:t>→</a:t>
            </a:r>
            <a:endParaRPr lang="en-US" sz="2000" dirty="0"/>
          </a:p>
        </p:txBody>
      </p:sp>
      <p:sp>
        <p:nvSpPr>
          <p:cNvPr id="16" name="Shape 14"/>
          <p:cNvSpPr/>
          <p:nvPr/>
        </p:nvSpPr>
        <p:spPr>
          <a:xfrm>
            <a:off x="4809744" y="1920240"/>
            <a:ext cx="1828800" cy="1051560"/>
          </a:xfrm>
          <a:prstGeom prst="rect">
            <a:avLst/>
          </a:prstGeom>
          <a:solidFill>
            <a:srgbClr val="2E333B"/>
          </a:solidFill>
          <a:ln w="12700">
            <a:solidFill>
              <a:srgbClr val="3D434C"/>
            </a:solidFill>
            <a:prstDash val="solid"/>
          </a:ln>
        </p:spPr>
        <p:txBody>
          <a:bodyPr/>
          <a:lstStyle/>
          <a:p>
            <a:endParaRPr lang="en-US"/>
          </a:p>
        </p:txBody>
      </p:sp>
      <p:sp>
        <p:nvSpPr>
          <p:cNvPr id="17" name="Shape 15"/>
          <p:cNvSpPr/>
          <p:nvPr/>
        </p:nvSpPr>
        <p:spPr>
          <a:xfrm>
            <a:off x="4809744" y="1920240"/>
            <a:ext cx="64008" cy="1051560"/>
          </a:xfrm>
          <a:prstGeom prst="rect">
            <a:avLst/>
          </a:prstGeom>
          <a:solidFill>
            <a:srgbClr val="D81E2C"/>
          </a:solidFill>
          <a:ln/>
        </p:spPr>
        <p:txBody>
          <a:bodyPr/>
          <a:lstStyle/>
          <a:p>
            <a:endParaRPr lang="en-US"/>
          </a:p>
        </p:txBody>
      </p:sp>
      <p:sp>
        <p:nvSpPr>
          <p:cNvPr id="18" name="Text 16"/>
          <p:cNvSpPr/>
          <p:nvPr/>
        </p:nvSpPr>
        <p:spPr>
          <a:xfrm>
            <a:off x="4974336" y="2066544"/>
            <a:ext cx="1554480" cy="365760"/>
          </a:xfrm>
          <a:prstGeom prst="rect">
            <a:avLst/>
          </a:prstGeom>
          <a:noFill/>
          <a:ln/>
        </p:spPr>
        <p:txBody>
          <a:bodyPr wrap="square" lIns="0" tIns="0" rIns="0" bIns="0" rtlCol="0" anchor="ctr"/>
          <a:lstStyle/>
          <a:p>
            <a:pPr marL="0" indent="0" algn="l">
              <a:lnSpc>
                <a:spcPct val="95000"/>
              </a:lnSpc>
              <a:buNone/>
            </a:pPr>
            <a:r>
              <a:rPr lang="en-US" sz="1300" b="1" dirty="0">
                <a:solidFill>
                  <a:srgbClr val="FFFFFF"/>
                </a:solidFill>
                <a:latin typeface="Trebuchet MS" pitchFamily="34" charset="0"/>
                <a:ea typeface="Trebuchet MS" pitchFamily="34" charset="-122"/>
                <a:cs typeface="Trebuchet MS" pitchFamily="34" charset="-120"/>
              </a:rPr>
              <a:t>API service</a:t>
            </a:r>
            <a:endParaRPr lang="en-US" sz="1300" dirty="0"/>
          </a:p>
        </p:txBody>
      </p:sp>
      <p:sp>
        <p:nvSpPr>
          <p:cNvPr id="19" name="Text 17"/>
          <p:cNvSpPr/>
          <p:nvPr/>
        </p:nvSpPr>
        <p:spPr>
          <a:xfrm>
            <a:off x="4974336" y="2468880"/>
            <a:ext cx="1554480" cy="411480"/>
          </a:xfrm>
          <a:prstGeom prst="rect">
            <a:avLst/>
          </a:prstGeom>
          <a:noFill/>
          <a:ln/>
        </p:spPr>
        <p:txBody>
          <a:bodyPr wrap="square" lIns="0" tIns="0" rIns="0" bIns="0" rtlCol="0" anchor="t"/>
          <a:lstStyle/>
          <a:p>
            <a:pPr marL="0" indent="0" algn="l">
              <a:lnSpc>
                <a:spcPct val="100000"/>
              </a:lnSpc>
              <a:buNone/>
            </a:pPr>
            <a:r>
              <a:rPr lang="en-US" sz="1000" dirty="0">
                <a:solidFill>
                  <a:srgbClr val="AEB4BC"/>
                </a:solidFill>
                <a:latin typeface="Calibri" pitchFamily="34" charset="0"/>
                <a:ea typeface="Calibri" pitchFamily="34" charset="-122"/>
                <a:cs typeface="Calibri" pitchFamily="34" charset="-120"/>
              </a:rPr>
              <a:t>Application &amp; business logic</a:t>
            </a:r>
            <a:endParaRPr lang="en-US" sz="1000" dirty="0"/>
          </a:p>
        </p:txBody>
      </p:sp>
      <p:sp>
        <p:nvSpPr>
          <p:cNvPr id="20" name="Text 18"/>
          <p:cNvSpPr/>
          <p:nvPr/>
        </p:nvSpPr>
        <p:spPr>
          <a:xfrm>
            <a:off x="6620256" y="1920240"/>
            <a:ext cx="338328" cy="1051560"/>
          </a:xfrm>
          <a:prstGeom prst="rect">
            <a:avLst/>
          </a:prstGeom>
          <a:noFill/>
          <a:ln/>
        </p:spPr>
        <p:txBody>
          <a:bodyPr wrap="square" lIns="0" tIns="0" rIns="0" bIns="0" rtlCol="0" anchor="ctr"/>
          <a:lstStyle/>
          <a:p>
            <a:pPr marL="0" indent="0" algn="ctr">
              <a:buNone/>
            </a:pPr>
            <a:r>
              <a:rPr lang="en-US" sz="2000" b="1" dirty="0">
                <a:solidFill>
                  <a:srgbClr val="D81E2C"/>
                </a:solidFill>
                <a:latin typeface="Trebuchet MS" pitchFamily="34" charset="0"/>
                <a:ea typeface="Trebuchet MS" pitchFamily="34" charset="-122"/>
                <a:cs typeface="Trebuchet MS" pitchFamily="34" charset="-120"/>
              </a:rPr>
              <a:t>→</a:t>
            </a:r>
            <a:endParaRPr lang="en-US" sz="2000" dirty="0"/>
          </a:p>
        </p:txBody>
      </p:sp>
      <p:sp>
        <p:nvSpPr>
          <p:cNvPr id="21" name="Shape 19"/>
          <p:cNvSpPr/>
          <p:nvPr/>
        </p:nvSpPr>
        <p:spPr>
          <a:xfrm>
            <a:off x="6940296" y="1920240"/>
            <a:ext cx="1828800" cy="1051560"/>
          </a:xfrm>
          <a:prstGeom prst="rect">
            <a:avLst/>
          </a:prstGeom>
          <a:solidFill>
            <a:srgbClr val="2E333B"/>
          </a:solidFill>
          <a:ln w="12700">
            <a:solidFill>
              <a:srgbClr val="3D434C"/>
            </a:solidFill>
            <a:prstDash val="solid"/>
          </a:ln>
        </p:spPr>
        <p:txBody>
          <a:bodyPr/>
          <a:lstStyle/>
          <a:p>
            <a:endParaRPr lang="en-US"/>
          </a:p>
        </p:txBody>
      </p:sp>
      <p:sp>
        <p:nvSpPr>
          <p:cNvPr id="22" name="Shape 20"/>
          <p:cNvSpPr/>
          <p:nvPr/>
        </p:nvSpPr>
        <p:spPr>
          <a:xfrm>
            <a:off x="6940296" y="1920240"/>
            <a:ext cx="64008" cy="1051560"/>
          </a:xfrm>
          <a:prstGeom prst="rect">
            <a:avLst/>
          </a:prstGeom>
          <a:solidFill>
            <a:srgbClr val="D81E2C"/>
          </a:solidFill>
          <a:ln/>
        </p:spPr>
        <p:txBody>
          <a:bodyPr/>
          <a:lstStyle/>
          <a:p>
            <a:endParaRPr lang="en-US"/>
          </a:p>
        </p:txBody>
      </p:sp>
      <p:sp>
        <p:nvSpPr>
          <p:cNvPr id="23" name="Text 21"/>
          <p:cNvSpPr/>
          <p:nvPr/>
        </p:nvSpPr>
        <p:spPr>
          <a:xfrm>
            <a:off x="7104888" y="2066544"/>
            <a:ext cx="1554480" cy="365760"/>
          </a:xfrm>
          <a:prstGeom prst="rect">
            <a:avLst/>
          </a:prstGeom>
          <a:noFill/>
          <a:ln/>
        </p:spPr>
        <p:txBody>
          <a:bodyPr wrap="square" lIns="0" tIns="0" rIns="0" bIns="0" rtlCol="0" anchor="ctr"/>
          <a:lstStyle/>
          <a:p>
            <a:pPr marL="0" indent="0" algn="l">
              <a:lnSpc>
                <a:spcPct val="95000"/>
              </a:lnSpc>
              <a:buNone/>
            </a:pPr>
            <a:r>
              <a:rPr lang="en-US" sz="1300" b="1" dirty="0">
                <a:solidFill>
                  <a:srgbClr val="FFFFFF"/>
                </a:solidFill>
                <a:latin typeface="Trebuchet MS" pitchFamily="34" charset="0"/>
                <a:ea typeface="Trebuchet MS" pitchFamily="34" charset="-122"/>
                <a:cs typeface="Trebuchet MS" pitchFamily="34" charset="-120"/>
              </a:rPr>
              <a:t>Database</a:t>
            </a:r>
            <a:endParaRPr lang="en-US" sz="1300" dirty="0"/>
          </a:p>
        </p:txBody>
      </p:sp>
      <p:sp>
        <p:nvSpPr>
          <p:cNvPr id="24" name="Text 22"/>
          <p:cNvSpPr/>
          <p:nvPr/>
        </p:nvSpPr>
        <p:spPr>
          <a:xfrm>
            <a:off x="7104888" y="2468880"/>
            <a:ext cx="1554480" cy="411480"/>
          </a:xfrm>
          <a:prstGeom prst="rect">
            <a:avLst/>
          </a:prstGeom>
          <a:noFill/>
          <a:ln/>
        </p:spPr>
        <p:txBody>
          <a:bodyPr wrap="square" lIns="0" tIns="0" rIns="0" bIns="0" rtlCol="0" anchor="t"/>
          <a:lstStyle/>
          <a:p>
            <a:pPr marL="0" indent="0" algn="l">
              <a:lnSpc>
                <a:spcPct val="100000"/>
              </a:lnSpc>
              <a:buNone/>
            </a:pPr>
            <a:r>
              <a:rPr lang="en-US" sz="1000" dirty="0">
                <a:solidFill>
                  <a:srgbClr val="AEB4BC"/>
                </a:solidFill>
                <a:latin typeface="Calibri" pitchFamily="34" charset="0"/>
                <a:ea typeface="Calibri" pitchFamily="34" charset="-122"/>
                <a:cs typeface="Calibri" pitchFamily="34" charset="-120"/>
              </a:rPr>
              <a:t>Managed relational store</a:t>
            </a:r>
            <a:endParaRPr lang="en-US" sz="1000" dirty="0"/>
          </a:p>
        </p:txBody>
      </p:sp>
      <p:sp>
        <p:nvSpPr>
          <p:cNvPr id="25" name="Shape 23"/>
          <p:cNvSpPr/>
          <p:nvPr/>
        </p:nvSpPr>
        <p:spPr>
          <a:xfrm>
            <a:off x="548640" y="3337560"/>
            <a:ext cx="2587752" cy="1097280"/>
          </a:xfrm>
          <a:prstGeom prst="rect">
            <a:avLst/>
          </a:prstGeom>
          <a:solidFill>
            <a:srgbClr val="1B1E23"/>
          </a:solidFill>
          <a:ln w="12700">
            <a:solidFill>
              <a:srgbClr val="3D434C"/>
            </a:solidFill>
            <a:prstDash val="solid"/>
          </a:ln>
        </p:spPr>
        <p:txBody>
          <a:bodyPr/>
          <a:lstStyle/>
          <a:p>
            <a:endParaRPr lang="en-US"/>
          </a:p>
        </p:txBody>
      </p:sp>
      <p:sp>
        <p:nvSpPr>
          <p:cNvPr id="26" name="Text 24"/>
          <p:cNvSpPr/>
          <p:nvPr/>
        </p:nvSpPr>
        <p:spPr>
          <a:xfrm>
            <a:off x="731520" y="3502152"/>
            <a:ext cx="2221992" cy="320040"/>
          </a:xfrm>
          <a:prstGeom prst="rect">
            <a:avLst/>
          </a:prstGeom>
          <a:noFill/>
          <a:ln/>
        </p:spPr>
        <p:txBody>
          <a:bodyPr wrap="square" lIns="0" tIns="0" rIns="0" bIns="0" rtlCol="0" anchor="ctr"/>
          <a:lstStyle/>
          <a:p>
            <a:pPr marL="0" indent="0" algn="l">
              <a:buNone/>
            </a:pPr>
            <a:r>
              <a:rPr lang="en-US" sz="1350" b="1" dirty="0">
                <a:solidFill>
                  <a:srgbClr val="FF8A91"/>
                </a:solidFill>
                <a:latin typeface="Trebuchet MS" pitchFamily="34" charset="0"/>
                <a:ea typeface="Trebuchet MS" pitchFamily="34" charset="-122"/>
                <a:cs typeface="Trebuchet MS" pitchFamily="34" charset="-120"/>
              </a:rPr>
              <a:t>Authentication</a:t>
            </a:r>
            <a:endParaRPr lang="en-US" sz="1350" dirty="0"/>
          </a:p>
        </p:txBody>
      </p:sp>
      <p:sp>
        <p:nvSpPr>
          <p:cNvPr id="27" name="Text 25"/>
          <p:cNvSpPr/>
          <p:nvPr/>
        </p:nvSpPr>
        <p:spPr>
          <a:xfrm>
            <a:off x="731520" y="3849624"/>
            <a:ext cx="2221992" cy="457200"/>
          </a:xfrm>
          <a:prstGeom prst="rect">
            <a:avLst/>
          </a:prstGeom>
          <a:noFill/>
          <a:ln/>
        </p:spPr>
        <p:txBody>
          <a:bodyPr wrap="square" lIns="0" tIns="0" rIns="0" bIns="0" rtlCol="0" anchor="t"/>
          <a:lstStyle/>
          <a:p>
            <a:pPr marL="0" indent="0" algn="l">
              <a:lnSpc>
                <a:spcPct val="105000"/>
              </a:lnSpc>
              <a:buNone/>
            </a:pPr>
            <a:r>
              <a:rPr lang="en-US" sz="1100" dirty="0">
                <a:solidFill>
                  <a:srgbClr val="C9CDD3"/>
                </a:solidFill>
                <a:latin typeface="Calibri" pitchFamily="34" charset="0"/>
                <a:ea typeface="Calibri" pitchFamily="34" charset="-122"/>
                <a:cs typeface="Calibri" pitchFamily="34" charset="-120"/>
              </a:rPr>
              <a:t>User identity &amp; role-based access</a:t>
            </a:r>
            <a:endParaRPr lang="en-US" sz="1100" dirty="0"/>
          </a:p>
        </p:txBody>
      </p:sp>
      <p:sp>
        <p:nvSpPr>
          <p:cNvPr id="28" name="Shape 26"/>
          <p:cNvSpPr/>
          <p:nvPr/>
        </p:nvSpPr>
        <p:spPr>
          <a:xfrm>
            <a:off x="3410712" y="3337560"/>
            <a:ext cx="2587752" cy="1097280"/>
          </a:xfrm>
          <a:prstGeom prst="rect">
            <a:avLst/>
          </a:prstGeom>
          <a:solidFill>
            <a:srgbClr val="1B1E23"/>
          </a:solidFill>
          <a:ln w="12700">
            <a:solidFill>
              <a:srgbClr val="3D434C"/>
            </a:solidFill>
            <a:prstDash val="solid"/>
          </a:ln>
        </p:spPr>
        <p:txBody>
          <a:bodyPr/>
          <a:lstStyle/>
          <a:p>
            <a:endParaRPr lang="en-US"/>
          </a:p>
        </p:txBody>
      </p:sp>
      <p:sp>
        <p:nvSpPr>
          <p:cNvPr id="29" name="Text 27"/>
          <p:cNvSpPr/>
          <p:nvPr/>
        </p:nvSpPr>
        <p:spPr>
          <a:xfrm>
            <a:off x="3593592" y="3502152"/>
            <a:ext cx="2221992" cy="320040"/>
          </a:xfrm>
          <a:prstGeom prst="rect">
            <a:avLst/>
          </a:prstGeom>
          <a:noFill/>
          <a:ln/>
        </p:spPr>
        <p:txBody>
          <a:bodyPr wrap="square" lIns="0" tIns="0" rIns="0" bIns="0" rtlCol="0" anchor="ctr"/>
          <a:lstStyle/>
          <a:p>
            <a:pPr marL="0" indent="0" algn="l">
              <a:buNone/>
            </a:pPr>
            <a:r>
              <a:rPr lang="en-US" sz="1350" b="1" dirty="0">
                <a:solidFill>
                  <a:srgbClr val="FF8A91"/>
                </a:solidFill>
                <a:latin typeface="Trebuchet MS" pitchFamily="34" charset="0"/>
                <a:ea typeface="Trebuchet MS" pitchFamily="34" charset="-122"/>
                <a:cs typeface="Trebuchet MS" pitchFamily="34" charset="-120"/>
              </a:rPr>
              <a:t>Storage</a:t>
            </a:r>
            <a:endParaRPr lang="en-US" sz="1350" dirty="0"/>
          </a:p>
        </p:txBody>
      </p:sp>
      <p:sp>
        <p:nvSpPr>
          <p:cNvPr id="30" name="Text 28"/>
          <p:cNvSpPr/>
          <p:nvPr/>
        </p:nvSpPr>
        <p:spPr>
          <a:xfrm>
            <a:off x="3593592" y="3849624"/>
            <a:ext cx="2221992" cy="457200"/>
          </a:xfrm>
          <a:prstGeom prst="rect">
            <a:avLst/>
          </a:prstGeom>
          <a:noFill/>
          <a:ln/>
        </p:spPr>
        <p:txBody>
          <a:bodyPr wrap="square" lIns="0" tIns="0" rIns="0" bIns="0" rtlCol="0" anchor="t"/>
          <a:lstStyle/>
          <a:p>
            <a:pPr marL="0" indent="0" algn="l">
              <a:lnSpc>
                <a:spcPct val="105000"/>
              </a:lnSpc>
              <a:buNone/>
            </a:pPr>
            <a:r>
              <a:rPr lang="en-US" sz="1100" dirty="0">
                <a:solidFill>
                  <a:srgbClr val="C9CDD3"/>
                </a:solidFill>
                <a:latin typeface="Calibri" pitchFamily="34" charset="0"/>
                <a:ea typeface="Calibri" pitchFamily="34" charset="-122"/>
                <a:cs typeface="Calibri" pitchFamily="34" charset="-120"/>
              </a:rPr>
              <a:t>Daily check, items and relationships</a:t>
            </a:r>
            <a:endParaRPr lang="en-US" sz="1100" dirty="0"/>
          </a:p>
        </p:txBody>
      </p:sp>
      <p:sp>
        <p:nvSpPr>
          <p:cNvPr id="31" name="Shape 29"/>
          <p:cNvSpPr/>
          <p:nvPr/>
        </p:nvSpPr>
        <p:spPr>
          <a:xfrm>
            <a:off x="6272784" y="3337560"/>
            <a:ext cx="2587752" cy="1097280"/>
          </a:xfrm>
          <a:prstGeom prst="rect">
            <a:avLst/>
          </a:prstGeom>
          <a:solidFill>
            <a:srgbClr val="1B1E23"/>
          </a:solidFill>
          <a:ln w="12700">
            <a:solidFill>
              <a:srgbClr val="3D434C"/>
            </a:solidFill>
            <a:prstDash val="solid"/>
          </a:ln>
        </p:spPr>
        <p:txBody>
          <a:bodyPr/>
          <a:lstStyle/>
          <a:p>
            <a:endParaRPr lang="en-US"/>
          </a:p>
        </p:txBody>
      </p:sp>
      <p:sp>
        <p:nvSpPr>
          <p:cNvPr id="32" name="Text 30"/>
          <p:cNvSpPr/>
          <p:nvPr/>
        </p:nvSpPr>
        <p:spPr>
          <a:xfrm>
            <a:off x="6455664" y="3502152"/>
            <a:ext cx="2221992" cy="320040"/>
          </a:xfrm>
          <a:prstGeom prst="rect">
            <a:avLst/>
          </a:prstGeom>
          <a:noFill/>
          <a:ln/>
        </p:spPr>
        <p:txBody>
          <a:bodyPr wrap="square" lIns="0" tIns="0" rIns="0" bIns="0" rtlCol="0" anchor="ctr"/>
          <a:lstStyle/>
          <a:p>
            <a:pPr marL="0" indent="0" algn="l">
              <a:buNone/>
            </a:pPr>
            <a:r>
              <a:rPr lang="en-US" sz="1350" b="1" dirty="0">
                <a:solidFill>
                  <a:srgbClr val="FF8A91"/>
                </a:solidFill>
                <a:latin typeface="Trebuchet MS" pitchFamily="34" charset="0"/>
                <a:ea typeface="Trebuchet MS" pitchFamily="34" charset="-122"/>
                <a:cs typeface="Trebuchet MS" pitchFamily="34" charset="-120"/>
              </a:rPr>
              <a:t>CI/CD pipeline</a:t>
            </a:r>
            <a:endParaRPr lang="en-US" sz="1350" dirty="0"/>
          </a:p>
        </p:txBody>
      </p:sp>
      <p:sp>
        <p:nvSpPr>
          <p:cNvPr id="33" name="Text 31"/>
          <p:cNvSpPr/>
          <p:nvPr/>
        </p:nvSpPr>
        <p:spPr>
          <a:xfrm>
            <a:off x="6455664" y="3849624"/>
            <a:ext cx="2221992" cy="457200"/>
          </a:xfrm>
          <a:prstGeom prst="rect">
            <a:avLst/>
          </a:prstGeom>
          <a:noFill/>
          <a:ln/>
        </p:spPr>
        <p:txBody>
          <a:bodyPr wrap="square" lIns="0" tIns="0" rIns="0" bIns="0" rtlCol="0" anchor="t"/>
          <a:lstStyle/>
          <a:p>
            <a:pPr marL="0" indent="0" algn="l">
              <a:lnSpc>
                <a:spcPct val="105000"/>
              </a:lnSpc>
              <a:buNone/>
            </a:pPr>
            <a:r>
              <a:rPr lang="en-US" sz="1100" dirty="0">
                <a:solidFill>
                  <a:srgbClr val="C9CDD3"/>
                </a:solidFill>
                <a:latin typeface="Calibri" pitchFamily="34" charset="0"/>
                <a:ea typeface="Calibri" pitchFamily="34" charset="-122"/>
                <a:cs typeface="Calibri" pitchFamily="34" charset="-120"/>
              </a:rPr>
              <a:t>Automated build, test &amp; deploy</a:t>
            </a:r>
            <a:endParaRPr lang="en-US" sz="1100" dirty="0"/>
          </a:p>
        </p:txBody>
      </p:sp>
      <p:sp>
        <p:nvSpPr>
          <p:cNvPr id="34" name="Shape 32"/>
          <p:cNvSpPr/>
          <p:nvPr/>
        </p:nvSpPr>
        <p:spPr>
          <a:xfrm>
            <a:off x="548640" y="4855464"/>
            <a:ext cx="73152" cy="73152"/>
          </a:xfrm>
          <a:prstGeom prst="ellipse">
            <a:avLst/>
          </a:prstGeom>
          <a:solidFill>
            <a:srgbClr val="D81E2C"/>
          </a:solidFill>
          <a:ln/>
        </p:spPr>
        <p:txBody>
          <a:bodyPr/>
          <a:lstStyle/>
          <a:p>
            <a:endParaRPr lang="en-US"/>
          </a:p>
        </p:txBody>
      </p:sp>
      <p:sp>
        <p:nvSpPr>
          <p:cNvPr id="35" name="Text 33"/>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36" name="Text 34"/>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11</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a:effectLst/>
      </p:bgPr>
    </p:bg>
    <p:spTree>
      <p:nvGrpSpPr>
        <p:cNvPr id="1" name=""/>
        <p:cNvGrpSpPr/>
        <p:nvPr/>
      </p:nvGrpSpPr>
      <p:grpSpPr>
        <a:xfrm>
          <a:off x="0" y="0"/>
          <a:ext cx="0" cy="0"/>
          <a:chOff x="0" y="0"/>
          <a:chExt cx="0" cy="0"/>
        </a:xfrm>
      </p:grpSpPr>
      <p:sp>
        <p:nvSpPr>
          <p:cNvPr id="2" name="Text 0"/>
          <p:cNvSpPr/>
          <p:nvPr/>
        </p:nvSpPr>
        <p:spPr>
          <a:xfrm>
            <a:off x="548640" y="457200"/>
            <a:ext cx="4572000" cy="274320"/>
          </a:xfrm>
          <a:prstGeom prst="rect">
            <a:avLst/>
          </a:prstGeom>
          <a:noFill/>
          <a:ln/>
        </p:spPr>
        <p:txBody>
          <a:bodyPr wrap="square" lIns="0" tIns="0" rIns="0" bIns="0" rtlCol="0" anchor="ctr"/>
          <a:lstStyle/>
          <a:p>
            <a:pPr marL="0" indent="0" algn="l">
              <a:buNone/>
            </a:pPr>
            <a:r>
              <a:rPr lang="en-US" sz="1100" b="1" kern="0" spc="300" dirty="0">
                <a:solidFill>
                  <a:srgbClr val="D81E2C"/>
                </a:solidFill>
                <a:latin typeface="Consolas" pitchFamily="34" charset="0"/>
                <a:ea typeface="Consolas" pitchFamily="34" charset="-122"/>
                <a:cs typeface="Consolas" pitchFamily="34" charset="-120"/>
              </a:rPr>
              <a:t>WHAT IT DEMONSTRATES</a:t>
            </a:r>
            <a:endParaRPr lang="en-US" sz="1100" dirty="0"/>
          </a:p>
        </p:txBody>
      </p:sp>
      <p:sp>
        <p:nvSpPr>
          <p:cNvPr id="3" name="Text 1"/>
          <p:cNvSpPr/>
          <p:nvPr/>
        </p:nvSpPr>
        <p:spPr>
          <a:xfrm>
            <a:off x="548640" y="749808"/>
            <a:ext cx="8229600" cy="548640"/>
          </a:xfrm>
          <a:prstGeom prst="rect">
            <a:avLst/>
          </a:prstGeom>
          <a:noFill/>
          <a:ln/>
        </p:spPr>
        <p:txBody>
          <a:bodyPr wrap="square" lIns="0" tIns="0" rIns="0" bIns="0" rtlCol="0" anchor="ctr"/>
          <a:lstStyle/>
          <a:p>
            <a:pPr marL="0" indent="0" algn="l">
              <a:buNone/>
            </a:pPr>
            <a:r>
              <a:rPr lang="en-US" sz="2800" b="1" dirty="0">
                <a:solidFill>
                  <a:srgbClr val="23262B"/>
                </a:solidFill>
                <a:latin typeface="Trebuchet MS" pitchFamily="34" charset="0"/>
                <a:ea typeface="Trebuchet MS" pitchFamily="34" charset="-122"/>
                <a:cs typeface="Trebuchet MS" pitchFamily="34" charset="-120"/>
              </a:rPr>
              <a:t>Engineering highlights</a:t>
            </a:r>
            <a:endParaRPr lang="en-US" sz="2800" dirty="0"/>
          </a:p>
        </p:txBody>
      </p:sp>
      <p:sp>
        <p:nvSpPr>
          <p:cNvPr id="4" name="Text 2"/>
          <p:cNvSpPr/>
          <p:nvPr/>
        </p:nvSpPr>
        <p:spPr>
          <a:xfrm>
            <a:off x="548640" y="1280160"/>
            <a:ext cx="8229600" cy="274320"/>
          </a:xfrm>
          <a:prstGeom prst="rect">
            <a:avLst/>
          </a:prstGeom>
          <a:noFill/>
          <a:ln/>
        </p:spPr>
        <p:txBody>
          <a:bodyPr wrap="square" lIns="0" tIns="0" rIns="0" bIns="0" rtlCol="0" anchor="ctr"/>
          <a:lstStyle/>
          <a:p>
            <a:pPr marL="0" indent="0" algn="l">
              <a:buNone/>
            </a:pPr>
            <a:r>
              <a:rPr lang="en-US" sz="1200" i="1" dirty="0">
                <a:solidFill>
                  <a:srgbClr val="8A929C"/>
                </a:solidFill>
                <a:latin typeface="Calibri" pitchFamily="34" charset="0"/>
                <a:ea typeface="Calibri" pitchFamily="34" charset="-122"/>
                <a:cs typeface="Calibri" pitchFamily="34" charset="-120"/>
              </a:rPr>
              <a:t>Representative stack and practices behind the build.</a:t>
            </a:r>
            <a:endParaRPr lang="en-US" sz="1200" dirty="0"/>
          </a:p>
        </p:txBody>
      </p:sp>
      <p:sp>
        <p:nvSpPr>
          <p:cNvPr id="5" name="Shape 3"/>
          <p:cNvSpPr/>
          <p:nvPr/>
        </p:nvSpPr>
        <p:spPr>
          <a:xfrm>
            <a:off x="548640" y="1691640"/>
            <a:ext cx="2587752" cy="13716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6" name="Shape 4"/>
          <p:cNvSpPr/>
          <p:nvPr/>
        </p:nvSpPr>
        <p:spPr>
          <a:xfrm>
            <a:off x="548640" y="1691640"/>
            <a:ext cx="64008" cy="1371600"/>
          </a:xfrm>
          <a:prstGeom prst="rect">
            <a:avLst/>
          </a:prstGeom>
          <a:solidFill>
            <a:srgbClr val="D81E2C"/>
          </a:solidFill>
          <a:ln/>
        </p:spPr>
        <p:txBody>
          <a:bodyPr/>
          <a:lstStyle/>
          <a:p>
            <a:endParaRPr lang="en-US"/>
          </a:p>
        </p:txBody>
      </p:sp>
      <p:sp>
        <p:nvSpPr>
          <p:cNvPr id="7" name="Text 5"/>
          <p:cNvSpPr/>
          <p:nvPr/>
        </p:nvSpPr>
        <p:spPr>
          <a:xfrm>
            <a:off x="749808" y="1837944"/>
            <a:ext cx="2221992" cy="320040"/>
          </a:xfrm>
          <a:prstGeom prst="rect">
            <a:avLst/>
          </a:prstGeom>
          <a:noFill/>
          <a:ln/>
        </p:spPr>
        <p:txBody>
          <a:bodyPr wrap="square" lIns="0" tIns="0" rIns="0" bIns="0" rtlCol="0" anchor="ctr"/>
          <a:lstStyle/>
          <a:p>
            <a:pPr marL="0" indent="0" algn="l">
              <a:buNone/>
            </a:pPr>
            <a:r>
              <a:rPr lang="en-US" sz="1500" b="1" dirty="0">
                <a:solidFill>
                  <a:srgbClr val="23262B"/>
                </a:solidFill>
                <a:latin typeface="Trebuchet MS" pitchFamily="34" charset="0"/>
                <a:ea typeface="Trebuchet MS" pitchFamily="34" charset="-122"/>
                <a:cs typeface="Trebuchet MS" pitchFamily="34" charset="-120"/>
              </a:rPr>
              <a:t>Frontend</a:t>
            </a:r>
            <a:endParaRPr lang="en-US" sz="1500" dirty="0"/>
          </a:p>
        </p:txBody>
      </p:sp>
      <p:sp>
        <p:nvSpPr>
          <p:cNvPr id="8" name="Text 6"/>
          <p:cNvSpPr/>
          <p:nvPr/>
        </p:nvSpPr>
        <p:spPr>
          <a:xfrm>
            <a:off x="749808" y="2194560"/>
            <a:ext cx="2203704" cy="777240"/>
          </a:xfrm>
          <a:prstGeom prst="rect">
            <a:avLst/>
          </a:prstGeom>
          <a:noFill/>
          <a:ln/>
        </p:spPr>
        <p:txBody>
          <a:bodyPr wrap="square" lIns="0" tIns="0" rIns="0" bIns="0" rtlCol="0" anchor="t"/>
          <a:lstStyle/>
          <a:p>
            <a:pPr marL="0" indent="0" algn="l">
              <a:lnSpc>
                <a:spcPct val="108000"/>
              </a:lnSpc>
              <a:buNone/>
            </a:pPr>
            <a:r>
              <a:rPr lang="en-US" sz="1100" dirty="0">
                <a:solidFill>
                  <a:srgbClr val="555E6B"/>
                </a:solidFill>
                <a:latin typeface="Calibri" pitchFamily="34" charset="0"/>
                <a:ea typeface="Calibri" pitchFamily="34" charset="-122"/>
                <a:cs typeface="Calibri" pitchFamily="34" charset="-120"/>
              </a:rPr>
              <a:t>Responsive single-page web app built for crews on tablets and phones.</a:t>
            </a:r>
            <a:endParaRPr lang="en-US" sz="1100" dirty="0"/>
          </a:p>
        </p:txBody>
      </p:sp>
      <p:sp>
        <p:nvSpPr>
          <p:cNvPr id="9" name="Shape 7"/>
          <p:cNvSpPr/>
          <p:nvPr/>
        </p:nvSpPr>
        <p:spPr>
          <a:xfrm>
            <a:off x="3410712" y="1691640"/>
            <a:ext cx="2587752" cy="13716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10" name="Shape 8"/>
          <p:cNvSpPr/>
          <p:nvPr/>
        </p:nvSpPr>
        <p:spPr>
          <a:xfrm>
            <a:off x="3410712" y="1691640"/>
            <a:ext cx="64008" cy="1371600"/>
          </a:xfrm>
          <a:prstGeom prst="rect">
            <a:avLst/>
          </a:prstGeom>
          <a:solidFill>
            <a:srgbClr val="D81E2C"/>
          </a:solidFill>
          <a:ln/>
        </p:spPr>
        <p:txBody>
          <a:bodyPr/>
          <a:lstStyle/>
          <a:p>
            <a:endParaRPr lang="en-US"/>
          </a:p>
        </p:txBody>
      </p:sp>
      <p:sp>
        <p:nvSpPr>
          <p:cNvPr id="11" name="Text 9"/>
          <p:cNvSpPr/>
          <p:nvPr/>
        </p:nvSpPr>
        <p:spPr>
          <a:xfrm>
            <a:off x="3611880" y="1837944"/>
            <a:ext cx="2221992" cy="320040"/>
          </a:xfrm>
          <a:prstGeom prst="rect">
            <a:avLst/>
          </a:prstGeom>
          <a:noFill/>
          <a:ln/>
        </p:spPr>
        <p:txBody>
          <a:bodyPr wrap="square" lIns="0" tIns="0" rIns="0" bIns="0" rtlCol="0" anchor="ctr"/>
          <a:lstStyle/>
          <a:p>
            <a:pPr marL="0" indent="0" algn="l">
              <a:buNone/>
            </a:pPr>
            <a:r>
              <a:rPr lang="en-US" sz="1500" b="1" dirty="0">
                <a:solidFill>
                  <a:srgbClr val="23262B"/>
                </a:solidFill>
                <a:latin typeface="Trebuchet MS" pitchFamily="34" charset="0"/>
                <a:ea typeface="Trebuchet MS" pitchFamily="34" charset="-122"/>
                <a:cs typeface="Trebuchet MS" pitchFamily="34" charset="-120"/>
              </a:rPr>
              <a:t>Backend &amp; API</a:t>
            </a:r>
            <a:endParaRPr lang="en-US" sz="1500" dirty="0"/>
          </a:p>
        </p:txBody>
      </p:sp>
      <p:sp>
        <p:nvSpPr>
          <p:cNvPr id="12" name="Text 10"/>
          <p:cNvSpPr/>
          <p:nvPr/>
        </p:nvSpPr>
        <p:spPr>
          <a:xfrm>
            <a:off x="3611880" y="2194560"/>
            <a:ext cx="2203704" cy="777240"/>
          </a:xfrm>
          <a:prstGeom prst="rect">
            <a:avLst/>
          </a:prstGeom>
          <a:noFill/>
          <a:ln/>
        </p:spPr>
        <p:txBody>
          <a:bodyPr wrap="square" lIns="0" tIns="0" rIns="0" bIns="0" rtlCol="0" anchor="t"/>
          <a:lstStyle/>
          <a:p>
            <a:pPr marL="0" indent="0" algn="l">
              <a:lnSpc>
                <a:spcPct val="108000"/>
              </a:lnSpc>
              <a:buNone/>
            </a:pPr>
            <a:r>
              <a:rPr lang="en-US" sz="1100" dirty="0">
                <a:solidFill>
                  <a:srgbClr val="555E6B"/>
                </a:solidFill>
                <a:latin typeface="Calibri" pitchFamily="34" charset="0"/>
                <a:ea typeface="Calibri" pitchFamily="34" charset="-122"/>
                <a:cs typeface="Calibri" pitchFamily="34" charset="-120"/>
              </a:rPr>
              <a:t>Service exposing a clean REST API for checklists, units, and sign-offs.</a:t>
            </a:r>
            <a:endParaRPr lang="en-US" sz="1100" dirty="0"/>
          </a:p>
        </p:txBody>
      </p:sp>
      <p:sp>
        <p:nvSpPr>
          <p:cNvPr id="13" name="Shape 11"/>
          <p:cNvSpPr/>
          <p:nvPr/>
        </p:nvSpPr>
        <p:spPr>
          <a:xfrm>
            <a:off x="6272784" y="1691640"/>
            <a:ext cx="2587752" cy="13716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14" name="Shape 12"/>
          <p:cNvSpPr/>
          <p:nvPr/>
        </p:nvSpPr>
        <p:spPr>
          <a:xfrm>
            <a:off x="6272784" y="1691640"/>
            <a:ext cx="64008" cy="1371600"/>
          </a:xfrm>
          <a:prstGeom prst="rect">
            <a:avLst/>
          </a:prstGeom>
          <a:solidFill>
            <a:srgbClr val="D81E2C"/>
          </a:solidFill>
          <a:ln/>
        </p:spPr>
        <p:txBody>
          <a:bodyPr/>
          <a:lstStyle/>
          <a:p>
            <a:endParaRPr lang="en-US"/>
          </a:p>
        </p:txBody>
      </p:sp>
      <p:sp>
        <p:nvSpPr>
          <p:cNvPr id="15" name="Text 13"/>
          <p:cNvSpPr/>
          <p:nvPr/>
        </p:nvSpPr>
        <p:spPr>
          <a:xfrm>
            <a:off x="6473952" y="1837944"/>
            <a:ext cx="2221992" cy="320040"/>
          </a:xfrm>
          <a:prstGeom prst="rect">
            <a:avLst/>
          </a:prstGeom>
          <a:noFill/>
          <a:ln/>
        </p:spPr>
        <p:txBody>
          <a:bodyPr wrap="square" lIns="0" tIns="0" rIns="0" bIns="0" rtlCol="0" anchor="ctr"/>
          <a:lstStyle/>
          <a:p>
            <a:pPr marL="0" indent="0" algn="l">
              <a:buNone/>
            </a:pPr>
            <a:r>
              <a:rPr lang="en-US" sz="1500" b="1" dirty="0">
                <a:solidFill>
                  <a:srgbClr val="23262B"/>
                </a:solidFill>
                <a:latin typeface="Trebuchet MS" pitchFamily="34" charset="0"/>
                <a:ea typeface="Trebuchet MS" pitchFamily="34" charset="-122"/>
                <a:cs typeface="Trebuchet MS" pitchFamily="34" charset="-120"/>
              </a:rPr>
              <a:t>Data layer</a:t>
            </a:r>
            <a:endParaRPr lang="en-US" sz="1500" dirty="0"/>
          </a:p>
        </p:txBody>
      </p:sp>
      <p:sp>
        <p:nvSpPr>
          <p:cNvPr id="16" name="Text 14"/>
          <p:cNvSpPr/>
          <p:nvPr/>
        </p:nvSpPr>
        <p:spPr>
          <a:xfrm>
            <a:off x="6473952" y="2194560"/>
            <a:ext cx="2203704" cy="777240"/>
          </a:xfrm>
          <a:prstGeom prst="rect">
            <a:avLst/>
          </a:prstGeom>
          <a:noFill/>
          <a:ln/>
        </p:spPr>
        <p:txBody>
          <a:bodyPr wrap="square" lIns="0" tIns="0" rIns="0" bIns="0" rtlCol="0" anchor="t"/>
          <a:lstStyle/>
          <a:p>
            <a:pPr marL="0" indent="0" algn="l">
              <a:lnSpc>
                <a:spcPct val="108000"/>
              </a:lnSpc>
              <a:buNone/>
            </a:pPr>
            <a:r>
              <a:rPr lang="en-US" sz="1100" dirty="0">
                <a:solidFill>
                  <a:srgbClr val="555E6B"/>
                </a:solidFill>
                <a:latin typeface="Calibri" pitchFamily="34" charset="0"/>
                <a:ea typeface="Calibri" pitchFamily="34" charset="-122"/>
                <a:cs typeface="Calibri" pitchFamily="34" charset="-120"/>
              </a:rPr>
              <a:t>Relational schema modeling units, items, expirations, and audit records.</a:t>
            </a:r>
            <a:endParaRPr lang="en-US" sz="1100" dirty="0"/>
          </a:p>
        </p:txBody>
      </p:sp>
      <p:sp>
        <p:nvSpPr>
          <p:cNvPr id="17" name="Shape 15"/>
          <p:cNvSpPr/>
          <p:nvPr/>
        </p:nvSpPr>
        <p:spPr>
          <a:xfrm>
            <a:off x="548640" y="3319272"/>
            <a:ext cx="2587752" cy="13716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18" name="Shape 16"/>
          <p:cNvSpPr/>
          <p:nvPr/>
        </p:nvSpPr>
        <p:spPr>
          <a:xfrm>
            <a:off x="548640" y="3319272"/>
            <a:ext cx="64008" cy="1371600"/>
          </a:xfrm>
          <a:prstGeom prst="rect">
            <a:avLst/>
          </a:prstGeom>
          <a:solidFill>
            <a:srgbClr val="D81E2C"/>
          </a:solidFill>
          <a:ln/>
        </p:spPr>
        <p:txBody>
          <a:bodyPr/>
          <a:lstStyle/>
          <a:p>
            <a:endParaRPr lang="en-US"/>
          </a:p>
        </p:txBody>
      </p:sp>
      <p:sp>
        <p:nvSpPr>
          <p:cNvPr id="19" name="Text 17"/>
          <p:cNvSpPr/>
          <p:nvPr/>
        </p:nvSpPr>
        <p:spPr>
          <a:xfrm>
            <a:off x="749808" y="3465576"/>
            <a:ext cx="2221992" cy="320040"/>
          </a:xfrm>
          <a:prstGeom prst="rect">
            <a:avLst/>
          </a:prstGeom>
          <a:noFill/>
          <a:ln/>
        </p:spPr>
        <p:txBody>
          <a:bodyPr wrap="square" lIns="0" tIns="0" rIns="0" bIns="0" rtlCol="0" anchor="ctr"/>
          <a:lstStyle/>
          <a:p>
            <a:pPr marL="0" indent="0" algn="l">
              <a:buNone/>
            </a:pPr>
            <a:r>
              <a:rPr lang="en-US" sz="1500" b="1" dirty="0">
                <a:solidFill>
                  <a:srgbClr val="23262B"/>
                </a:solidFill>
                <a:latin typeface="Trebuchet MS" pitchFamily="34" charset="0"/>
                <a:ea typeface="Trebuchet MS" pitchFamily="34" charset="-122"/>
                <a:cs typeface="Trebuchet MS" pitchFamily="34" charset="-120"/>
              </a:rPr>
              <a:t>Cloud &amp; infra</a:t>
            </a:r>
            <a:endParaRPr lang="en-US" sz="1500" dirty="0"/>
          </a:p>
        </p:txBody>
      </p:sp>
      <p:sp>
        <p:nvSpPr>
          <p:cNvPr id="20" name="Text 18"/>
          <p:cNvSpPr/>
          <p:nvPr/>
        </p:nvSpPr>
        <p:spPr>
          <a:xfrm>
            <a:off x="749808" y="3822192"/>
            <a:ext cx="2203704" cy="777240"/>
          </a:xfrm>
          <a:prstGeom prst="rect">
            <a:avLst/>
          </a:prstGeom>
          <a:noFill/>
          <a:ln/>
        </p:spPr>
        <p:txBody>
          <a:bodyPr wrap="square" lIns="0" tIns="0" rIns="0" bIns="0" rtlCol="0" anchor="t"/>
          <a:lstStyle/>
          <a:p>
            <a:pPr marL="0" indent="0" algn="l">
              <a:lnSpc>
                <a:spcPct val="108000"/>
              </a:lnSpc>
              <a:buNone/>
            </a:pPr>
            <a:r>
              <a:rPr lang="en-US" sz="1100" dirty="0">
                <a:solidFill>
                  <a:srgbClr val="555E6B"/>
                </a:solidFill>
                <a:latin typeface="Calibri" pitchFamily="34" charset="0"/>
                <a:ea typeface="Calibri" pitchFamily="34" charset="-122"/>
                <a:cs typeface="Calibri" pitchFamily="34" charset="-120"/>
              </a:rPr>
              <a:t>Containerized services deployed to managed cloud compute.</a:t>
            </a:r>
            <a:endParaRPr lang="en-US" sz="1100" dirty="0"/>
          </a:p>
        </p:txBody>
      </p:sp>
      <p:sp>
        <p:nvSpPr>
          <p:cNvPr id="21" name="Shape 19"/>
          <p:cNvSpPr/>
          <p:nvPr/>
        </p:nvSpPr>
        <p:spPr>
          <a:xfrm>
            <a:off x="3410712" y="3319272"/>
            <a:ext cx="2587752" cy="13716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22" name="Shape 20"/>
          <p:cNvSpPr/>
          <p:nvPr/>
        </p:nvSpPr>
        <p:spPr>
          <a:xfrm>
            <a:off x="3410712" y="3319272"/>
            <a:ext cx="64008" cy="1371600"/>
          </a:xfrm>
          <a:prstGeom prst="rect">
            <a:avLst/>
          </a:prstGeom>
          <a:solidFill>
            <a:srgbClr val="D81E2C"/>
          </a:solidFill>
          <a:ln/>
        </p:spPr>
        <p:txBody>
          <a:bodyPr/>
          <a:lstStyle/>
          <a:p>
            <a:endParaRPr lang="en-US"/>
          </a:p>
        </p:txBody>
      </p:sp>
      <p:sp>
        <p:nvSpPr>
          <p:cNvPr id="23" name="Text 21"/>
          <p:cNvSpPr/>
          <p:nvPr/>
        </p:nvSpPr>
        <p:spPr>
          <a:xfrm>
            <a:off x="3611880" y="3465576"/>
            <a:ext cx="2221992" cy="320040"/>
          </a:xfrm>
          <a:prstGeom prst="rect">
            <a:avLst/>
          </a:prstGeom>
          <a:noFill/>
          <a:ln/>
        </p:spPr>
        <p:txBody>
          <a:bodyPr wrap="square" lIns="0" tIns="0" rIns="0" bIns="0" rtlCol="0" anchor="ctr"/>
          <a:lstStyle/>
          <a:p>
            <a:pPr marL="0" indent="0" algn="l">
              <a:buNone/>
            </a:pPr>
            <a:r>
              <a:rPr lang="en-US" sz="1500" b="1" dirty="0">
                <a:solidFill>
                  <a:srgbClr val="23262B"/>
                </a:solidFill>
                <a:latin typeface="Trebuchet MS" pitchFamily="34" charset="0"/>
                <a:ea typeface="Trebuchet MS" pitchFamily="34" charset="-122"/>
                <a:cs typeface="Trebuchet MS" pitchFamily="34" charset="-120"/>
              </a:rPr>
              <a:t>CI/CD &amp; automation</a:t>
            </a:r>
            <a:endParaRPr lang="en-US" sz="1500" dirty="0"/>
          </a:p>
        </p:txBody>
      </p:sp>
      <p:sp>
        <p:nvSpPr>
          <p:cNvPr id="24" name="Text 22"/>
          <p:cNvSpPr/>
          <p:nvPr/>
        </p:nvSpPr>
        <p:spPr>
          <a:xfrm>
            <a:off x="3611880" y="3822192"/>
            <a:ext cx="2203704" cy="777240"/>
          </a:xfrm>
          <a:prstGeom prst="rect">
            <a:avLst/>
          </a:prstGeom>
          <a:noFill/>
          <a:ln/>
        </p:spPr>
        <p:txBody>
          <a:bodyPr wrap="square" lIns="0" tIns="0" rIns="0" bIns="0" rtlCol="0" anchor="t"/>
          <a:lstStyle/>
          <a:p>
            <a:pPr marL="0" indent="0" algn="l">
              <a:lnSpc>
                <a:spcPct val="108000"/>
              </a:lnSpc>
              <a:buNone/>
            </a:pPr>
            <a:r>
              <a:rPr lang="en-US" sz="1100" dirty="0">
                <a:solidFill>
                  <a:srgbClr val="555E6B"/>
                </a:solidFill>
                <a:latin typeface="Calibri" pitchFamily="34" charset="0"/>
                <a:ea typeface="Calibri" pitchFamily="34" charset="-122"/>
                <a:cs typeface="Calibri" pitchFamily="34" charset="-120"/>
              </a:rPr>
              <a:t>Automated pipeline for build, test, and zero-touch deploys.</a:t>
            </a:r>
            <a:endParaRPr lang="en-US" sz="1100" dirty="0"/>
          </a:p>
        </p:txBody>
      </p:sp>
      <p:sp>
        <p:nvSpPr>
          <p:cNvPr id="25" name="Shape 23"/>
          <p:cNvSpPr/>
          <p:nvPr/>
        </p:nvSpPr>
        <p:spPr>
          <a:xfrm>
            <a:off x="6272784" y="3319272"/>
            <a:ext cx="2587752" cy="1371600"/>
          </a:xfrm>
          <a:prstGeom prst="rect">
            <a:avLst/>
          </a:prstGeom>
          <a:solidFill>
            <a:srgbClr val="FFFFFF"/>
          </a:solidFill>
          <a:ln w="12700">
            <a:solidFill>
              <a:srgbClr val="D8D4CC"/>
            </a:solidFill>
            <a:prstDash val="solid"/>
          </a:ln>
          <a:effectLst>
            <a:outerShdw blurRad="114300" dist="38100" dir="5400000" algn="bl" rotWithShape="0">
              <a:srgbClr val="000000">
                <a:alpha val="16000"/>
              </a:srgbClr>
            </a:outerShdw>
          </a:effectLst>
        </p:spPr>
        <p:txBody>
          <a:bodyPr/>
          <a:lstStyle/>
          <a:p>
            <a:endParaRPr lang="en-US"/>
          </a:p>
        </p:txBody>
      </p:sp>
      <p:sp>
        <p:nvSpPr>
          <p:cNvPr id="26" name="Shape 24"/>
          <p:cNvSpPr/>
          <p:nvPr/>
        </p:nvSpPr>
        <p:spPr>
          <a:xfrm>
            <a:off x="6272784" y="3319272"/>
            <a:ext cx="64008" cy="1371600"/>
          </a:xfrm>
          <a:prstGeom prst="rect">
            <a:avLst/>
          </a:prstGeom>
          <a:solidFill>
            <a:srgbClr val="D81E2C"/>
          </a:solidFill>
          <a:ln/>
        </p:spPr>
        <p:txBody>
          <a:bodyPr/>
          <a:lstStyle/>
          <a:p>
            <a:endParaRPr lang="en-US"/>
          </a:p>
        </p:txBody>
      </p:sp>
      <p:sp>
        <p:nvSpPr>
          <p:cNvPr id="27" name="Text 25"/>
          <p:cNvSpPr/>
          <p:nvPr/>
        </p:nvSpPr>
        <p:spPr>
          <a:xfrm>
            <a:off x="6473952" y="3465576"/>
            <a:ext cx="2221992" cy="320040"/>
          </a:xfrm>
          <a:prstGeom prst="rect">
            <a:avLst/>
          </a:prstGeom>
          <a:noFill/>
          <a:ln/>
        </p:spPr>
        <p:txBody>
          <a:bodyPr wrap="square" lIns="0" tIns="0" rIns="0" bIns="0" rtlCol="0" anchor="ctr"/>
          <a:lstStyle/>
          <a:p>
            <a:pPr marL="0" indent="0" algn="l">
              <a:buNone/>
            </a:pPr>
            <a:r>
              <a:rPr lang="en-US" sz="1500" b="1" dirty="0">
                <a:solidFill>
                  <a:srgbClr val="23262B"/>
                </a:solidFill>
                <a:latin typeface="Trebuchet MS" pitchFamily="34" charset="0"/>
                <a:ea typeface="Trebuchet MS" pitchFamily="34" charset="-122"/>
                <a:cs typeface="Trebuchet MS" pitchFamily="34" charset="-120"/>
              </a:rPr>
              <a:t>Security &amp; access</a:t>
            </a:r>
            <a:endParaRPr lang="en-US" sz="1500" dirty="0"/>
          </a:p>
        </p:txBody>
      </p:sp>
      <p:sp>
        <p:nvSpPr>
          <p:cNvPr id="28" name="Text 26"/>
          <p:cNvSpPr/>
          <p:nvPr/>
        </p:nvSpPr>
        <p:spPr>
          <a:xfrm>
            <a:off x="6473952" y="3822192"/>
            <a:ext cx="2203704" cy="777240"/>
          </a:xfrm>
          <a:prstGeom prst="rect">
            <a:avLst/>
          </a:prstGeom>
          <a:noFill/>
          <a:ln/>
        </p:spPr>
        <p:txBody>
          <a:bodyPr wrap="square" lIns="0" tIns="0" rIns="0" bIns="0" rtlCol="0" anchor="t"/>
          <a:lstStyle/>
          <a:p>
            <a:pPr marL="0" indent="0" algn="l">
              <a:lnSpc>
                <a:spcPct val="108000"/>
              </a:lnSpc>
              <a:buNone/>
            </a:pPr>
            <a:r>
              <a:rPr lang="en-US" sz="1100" dirty="0">
                <a:solidFill>
                  <a:srgbClr val="555E6B"/>
                </a:solidFill>
                <a:latin typeface="Calibri" pitchFamily="34" charset="0"/>
                <a:ea typeface="Calibri" pitchFamily="34" charset="-122"/>
                <a:cs typeface="Calibri" pitchFamily="34" charset="-120"/>
              </a:rPr>
              <a:t>Role-based auth separating crew, supervisor, and admin views.</a:t>
            </a:r>
            <a:endParaRPr lang="en-US" sz="1100" dirty="0"/>
          </a:p>
        </p:txBody>
      </p:sp>
      <p:sp>
        <p:nvSpPr>
          <p:cNvPr id="29" name="Shape 27"/>
          <p:cNvSpPr/>
          <p:nvPr/>
        </p:nvSpPr>
        <p:spPr>
          <a:xfrm>
            <a:off x="548640" y="4855464"/>
            <a:ext cx="73152" cy="73152"/>
          </a:xfrm>
          <a:prstGeom prst="ellipse">
            <a:avLst/>
          </a:prstGeom>
          <a:solidFill>
            <a:srgbClr val="D81E2C"/>
          </a:solidFill>
          <a:ln/>
        </p:spPr>
        <p:txBody>
          <a:bodyPr/>
          <a:lstStyle/>
          <a:p>
            <a:endParaRPr lang="en-US"/>
          </a:p>
        </p:txBody>
      </p:sp>
      <p:sp>
        <p:nvSpPr>
          <p:cNvPr id="30" name="Text 28"/>
          <p:cNvSpPr/>
          <p:nvPr/>
        </p:nvSpPr>
        <p:spPr>
          <a:xfrm>
            <a:off x="676656" y="4736592"/>
            <a:ext cx="3657600" cy="292608"/>
          </a:xfrm>
          <a:prstGeom prst="rect">
            <a:avLst/>
          </a:prstGeom>
          <a:noFill/>
          <a:ln/>
        </p:spPr>
        <p:txBody>
          <a:bodyPr wrap="square" lIns="0" tIns="0" rIns="0" bIns="0" rtlCol="0" anchor="ctr"/>
          <a:lstStyle/>
          <a:p>
            <a:pPr marL="0" indent="0" algn="l">
              <a:buNone/>
            </a:pPr>
            <a:r>
              <a:rPr lang="en-US" sz="950" dirty="0">
                <a:solidFill>
                  <a:srgbClr val="8A929C"/>
                </a:solidFill>
                <a:latin typeface="Calibri" pitchFamily="34" charset="0"/>
                <a:ea typeface="Calibri" pitchFamily="34" charset="-122"/>
                <a:cs typeface="Calibri" pitchFamily="34" charset="-120"/>
              </a:rPr>
              <a:t>EMS ReadyKit</a:t>
            </a:r>
            <a:endParaRPr lang="en-US" sz="950" dirty="0"/>
          </a:p>
        </p:txBody>
      </p:sp>
      <p:sp>
        <p:nvSpPr>
          <p:cNvPr id="31" name="Text 29"/>
          <p:cNvSpPr/>
          <p:nvPr/>
        </p:nvSpPr>
        <p:spPr>
          <a:xfrm>
            <a:off x="8138160" y="4736592"/>
            <a:ext cx="457200" cy="292608"/>
          </a:xfrm>
          <a:prstGeom prst="rect">
            <a:avLst/>
          </a:prstGeom>
          <a:noFill/>
          <a:ln/>
        </p:spPr>
        <p:txBody>
          <a:bodyPr wrap="square" lIns="0" tIns="0" rIns="0" bIns="0" rtlCol="0" anchor="ctr"/>
          <a:lstStyle/>
          <a:p>
            <a:pPr marL="0" indent="0" algn="r">
              <a:buNone/>
            </a:pPr>
            <a:r>
              <a:rPr lang="en-US" sz="950" dirty="0">
                <a:solidFill>
                  <a:srgbClr val="8A929C"/>
                </a:solidFill>
                <a:latin typeface="Consolas" pitchFamily="34" charset="0"/>
                <a:ea typeface="Consolas" pitchFamily="34" charset="-122"/>
                <a:cs typeface="Consolas" pitchFamily="34" charset="-120"/>
              </a:rPr>
              <a:t>12</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23262B"/>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81E2C"/>
          </a:solidFill>
          <a:ln/>
        </p:spPr>
        <p:txBody>
          <a:bodyPr/>
          <a:lstStyle/>
          <a:p>
            <a:endParaRPr lang="en-US"/>
          </a:p>
        </p:txBody>
      </p:sp>
      <p:sp>
        <p:nvSpPr>
          <p:cNvPr id="3" name="Shape 1"/>
          <p:cNvSpPr/>
          <p:nvPr/>
        </p:nvSpPr>
        <p:spPr>
          <a:xfrm>
            <a:off x="640080" y="777240"/>
            <a:ext cx="1755648" cy="274320"/>
          </a:xfrm>
          <a:prstGeom prst="rect">
            <a:avLst/>
          </a:prstGeom>
          <a:solidFill>
            <a:srgbClr val="D81E2C"/>
          </a:solidFill>
          <a:ln/>
        </p:spPr>
        <p:txBody>
          <a:bodyPr/>
          <a:lstStyle/>
          <a:p>
            <a:endParaRPr lang="en-US"/>
          </a:p>
        </p:txBody>
      </p:sp>
      <p:sp>
        <p:nvSpPr>
          <p:cNvPr id="4" name="Text 2"/>
          <p:cNvSpPr/>
          <p:nvPr/>
        </p:nvSpPr>
        <p:spPr>
          <a:xfrm>
            <a:off x="640080" y="777240"/>
            <a:ext cx="1755648" cy="274320"/>
          </a:xfrm>
          <a:prstGeom prst="rect">
            <a:avLst/>
          </a:prstGeom>
          <a:noFill/>
          <a:ln/>
        </p:spPr>
        <p:txBody>
          <a:bodyPr wrap="square" lIns="0" tIns="0" rIns="0" bIns="0" rtlCol="0" anchor="ctr"/>
          <a:lstStyle/>
          <a:p>
            <a:pPr marL="0" indent="0" algn="ctr">
              <a:buNone/>
            </a:pPr>
            <a:r>
              <a:rPr lang="en-US" sz="1050" b="1" kern="0" spc="200" dirty="0">
                <a:solidFill>
                  <a:srgbClr val="FFFFFF"/>
                </a:solidFill>
                <a:latin typeface="Consolas" pitchFamily="34" charset="0"/>
                <a:ea typeface="Consolas" pitchFamily="34" charset="-122"/>
                <a:cs typeface="Consolas" pitchFamily="34" charset="-120"/>
              </a:rPr>
              <a:t>EMS READYKIT</a:t>
            </a:r>
            <a:endParaRPr lang="en-US" sz="1050" dirty="0"/>
          </a:p>
        </p:txBody>
      </p:sp>
      <p:sp>
        <p:nvSpPr>
          <p:cNvPr id="5" name="Text 3"/>
          <p:cNvSpPr/>
          <p:nvPr/>
        </p:nvSpPr>
        <p:spPr>
          <a:xfrm>
            <a:off x="566928" y="1325880"/>
            <a:ext cx="8046720" cy="914400"/>
          </a:xfrm>
          <a:prstGeom prst="rect">
            <a:avLst/>
          </a:prstGeom>
          <a:noFill/>
          <a:ln/>
        </p:spPr>
        <p:txBody>
          <a:bodyPr wrap="square" lIns="0" tIns="0" rIns="0" bIns="0" rtlCol="0" anchor="ctr"/>
          <a:lstStyle/>
          <a:p>
            <a:pPr marL="0" indent="0" algn="l">
              <a:lnSpc>
                <a:spcPct val="100000"/>
              </a:lnSpc>
              <a:buNone/>
            </a:pPr>
            <a:r>
              <a:rPr lang="en-US" sz="4000" b="1" dirty="0">
                <a:solidFill>
                  <a:srgbClr val="FFFFFF"/>
                </a:solidFill>
                <a:latin typeface="Trebuchet MS" pitchFamily="34" charset="0"/>
                <a:ea typeface="Trebuchet MS" pitchFamily="34" charset="-122"/>
                <a:cs typeface="Trebuchet MS" pitchFamily="34" charset="-120"/>
              </a:rPr>
              <a:t>Crews ready before every call.</a:t>
            </a:r>
            <a:endParaRPr lang="en-US" sz="4000" dirty="0"/>
          </a:p>
        </p:txBody>
      </p:sp>
      <p:sp>
        <p:nvSpPr>
          <p:cNvPr id="6" name="Text 4"/>
          <p:cNvSpPr/>
          <p:nvPr/>
        </p:nvSpPr>
        <p:spPr>
          <a:xfrm>
            <a:off x="640080" y="2377440"/>
            <a:ext cx="7680960" cy="777240"/>
          </a:xfrm>
          <a:prstGeom prst="rect">
            <a:avLst/>
          </a:prstGeom>
          <a:noFill/>
          <a:ln/>
        </p:spPr>
        <p:txBody>
          <a:bodyPr wrap="square" lIns="0" tIns="0" rIns="0" bIns="0" rtlCol="0" anchor="t"/>
          <a:lstStyle/>
          <a:p>
            <a:pPr marL="0" indent="0" algn="l">
              <a:lnSpc>
                <a:spcPct val="120000"/>
              </a:lnSpc>
              <a:buNone/>
            </a:pPr>
            <a:r>
              <a:rPr lang="en-US" sz="1500" dirty="0">
                <a:solidFill>
                  <a:srgbClr val="C9CDD3"/>
                </a:solidFill>
                <a:latin typeface="Calibri" pitchFamily="34" charset="0"/>
                <a:ea typeface="Calibri" pitchFamily="34" charset="-122"/>
                <a:cs typeface="Calibri" pitchFamily="34" charset="-120"/>
              </a:rPr>
              <a:t>A structured, accountable readiness check — stocked, in-date, and equipment-tested — built and deployed as a cloud web application.</a:t>
            </a:r>
            <a:endParaRPr lang="en-US" sz="1500" dirty="0"/>
          </a:p>
        </p:txBody>
      </p:sp>
      <p:sp>
        <p:nvSpPr>
          <p:cNvPr id="7" name="Shape 5"/>
          <p:cNvSpPr/>
          <p:nvPr/>
        </p:nvSpPr>
        <p:spPr>
          <a:xfrm>
            <a:off x="658368" y="3291840"/>
            <a:ext cx="1005840" cy="32004"/>
          </a:xfrm>
          <a:prstGeom prst="rect">
            <a:avLst/>
          </a:prstGeom>
          <a:solidFill>
            <a:srgbClr val="D81E2C"/>
          </a:solidFill>
          <a:ln/>
        </p:spPr>
        <p:txBody>
          <a:bodyPr/>
          <a:lstStyle/>
          <a:p>
            <a:endParaRPr lang="en-US"/>
          </a:p>
        </p:txBody>
      </p:sp>
      <p:sp>
        <p:nvSpPr>
          <p:cNvPr id="10" name="Text 8"/>
          <p:cNvSpPr/>
          <p:nvPr/>
        </p:nvSpPr>
        <p:spPr>
          <a:xfrm>
            <a:off x="676656" y="3630168"/>
            <a:ext cx="2587752" cy="256032"/>
          </a:xfrm>
          <a:prstGeom prst="rect">
            <a:avLst/>
          </a:prstGeom>
          <a:noFill/>
          <a:ln/>
        </p:spPr>
        <p:txBody>
          <a:bodyPr wrap="square" lIns="0" tIns="0" rIns="0" bIns="0" rtlCol="0" anchor="ctr"/>
          <a:lstStyle/>
          <a:p>
            <a:pPr marL="0" indent="0" algn="l">
              <a:buNone/>
            </a:pPr>
            <a:r>
              <a:rPr lang="en-US" sz="1000" b="1" kern="0" spc="200" dirty="0">
                <a:solidFill>
                  <a:srgbClr val="FF8A91"/>
                </a:solidFill>
                <a:latin typeface="Consolas" pitchFamily="34" charset="0"/>
                <a:ea typeface="Consolas" pitchFamily="34" charset="-122"/>
                <a:cs typeface="Consolas" pitchFamily="34" charset="-120"/>
              </a:rPr>
              <a:t>EMAIL</a:t>
            </a:r>
            <a:endParaRPr lang="en-US" sz="1000" dirty="0"/>
          </a:p>
        </p:txBody>
      </p:sp>
      <p:sp>
        <p:nvSpPr>
          <p:cNvPr id="11" name="Text 9"/>
          <p:cNvSpPr/>
          <p:nvPr/>
        </p:nvSpPr>
        <p:spPr>
          <a:xfrm>
            <a:off x="676656" y="3904488"/>
            <a:ext cx="2587752" cy="320040"/>
          </a:xfrm>
          <a:prstGeom prst="rect">
            <a:avLst/>
          </a:prstGeom>
          <a:noFill/>
          <a:ln/>
        </p:spPr>
        <p:txBody>
          <a:bodyPr wrap="square" lIns="0" tIns="0" rIns="0" bIns="0" rtlCol="0" anchor="ctr"/>
          <a:lstStyle/>
          <a:p>
            <a:pPr marL="0" indent="0" algn="l">
              <a:buNone/>
            </a:pPr>
            <a:r>
              <a:rPr lang="en-US" sz="1350" dirty="0">
                <a:solidFill>
                  <a:srgbClr val="FFFFFF"/>
                </a:solidFill>
                <a:latin typeface="Calibri" pitchFamily="34" charset="0"/>
                <a:ea typeface="Calibri" pitchFamily="34" charset="-122"/>
                <a:cs typeface="Calibri" pitchFamily="34" charset="-120"/>
              </a:rPr>
              <a:t>jinniyah@gmail.com</a:t>
            </a:r>
            <a:endParaRPr lang="en-US" sz="1350" dirty="0"/>
          </a:p>
        </p:txBody>
      </p:sp>
      <p:sp>
        <p:nvSpPr>
          <p:cNvPr id="12" name="Text 10"/>
          <p:cNvSpPr/>
          <p:nvPr/>
        </p:nvSpPr>
        <p:spPr>
          <a:xfrm>
            <a:off x="3264408" y="3612067"/>
            <a:ext cx="2587752" cy="256032"/>
          </a:xfrm>
          <a:prstGeom prst="rect">
            <a:avLst/>
          </a:prstGeom>
          <a:noFill/>
          <a:ln/>
        </p:spPr>
        <p:txBody>
          <a:bodyPr wrap="square" lIns="0" tIns="0" rIns="0" bIns="0" rtlCol="0" anchor="ctr"/>
          <a:lstStyle/>
          <a:p>
            <a:pPr marL="0" indent="0" algn="l">
              <a:buNone/>
            </a:pPr>
            <a:r>
              <a:rPr lang="en-US" sz="1000" b="1" kern="0" spc="200" dirty="0">
                <a:solidFill>
                  <a:srgbClr val="FF8A91"/>
                </a:solidFill>
                <a:latin typeface="Consolas" pitchFamily="34" charset="0"/>
                <a:ea typeface="Consolas" pitchFamily="34" charset="-122"/>
                <a:cs typeface="Consolas" pitchFamily="34" charset="-120"/>
              </a:rPr>
              <a:t>GITHUB</a:t>
            </a:r>
            <a:endParaRPr lang="en-US" sz="1000" dirty="0"/>
          </a:p>
        </p:txBody>
      </p:sp>
      <p:sp>
        <p:nvSpPr>
          <p:cNvPr id="13" name="Text 11"/>
          <p:cNvSpPr/>
          <p:nvPr/>
        </p:nvSpPr>
        <p:spPr>
          <a:xfrm>
            <a:off x="3264408" y="3886387"/>
            <a:ext cx="3229698" cy="320040"/>
          </a:xfrm>
          <a:prstGeom prst="rect">
            <a:avLst/>
          </a:prstGeom>
          <a:noFill/>
          <a:ln/>
        </p:spPr>
        <p:txBody>
          <a:bodyPr wrap="square" lIns="0" tIns="0" rIns="0" bIns="0" rtlCol="0" anchor="ctr"/>
          <a:lstStyle/>
          <a:p>
            <a:r>
              <a:rPr lang="en-US" sz="1350" dirty="0">
                <a:solidFill>
                  <a:srgbClr val="FFFFFF"/>
                </a:solidFill>
                <a:latin typeface="Calibri" pitchFamily="34" charset="0"/>
                <a:ea typeface="Calibri" pitchFamily="34" charset="-122"/>
                <a:cs typeface="Calibri" pitchFamily="34" charset="-120"/>
              </a:rPr>
              <a:t>https://github.com/Jinniyah/EMS_ReadyKit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3585</TotalTime>
  <Words>2114</Words>
  <Application>Microsoft Office PowerPoint</Application>
  <PresentationFormat>On-screen Show (16:9)</PresentationFormat>
  <Paragraphs>377</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Jennifer Martin</dc:creator>
  <cp:lastModifiedBy>Jennifer Martin</cp:lastModifiedBy>
  <cp:revision>15</cp:revision>
  <dcterms:created xsi:type="dcterms:W3CDTF">2026-06-26T12:09:32Z</dcterms:created>
  <dcterms:modified xsi:type="dcterms:W3CDTF">2026-07-02T16:14:29Z</dcterms:modified>
</cp:coreProperties>
</file>